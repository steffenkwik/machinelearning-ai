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-1371600"/>
            <a:ext cx="4572000" cy="4572000"/>
          </a:xfrm>
          <a:prstGeom prst="rect">
            <a:avLst/>
          </a:prstGeom>
          <a:solidFill>
            <a:srgbClr val="02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640080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658368"/>
            <a:ext cx="374903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BINUS UNIVERSITY  ·  COMP6065016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91440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Aplikasi Deteksi Dini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9144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200" b="1" i="0">
                <a:solidFill>
                  <a:srgbClr val="28A745"/>
                </a:solidFill>
                <a:latin typeface="Calibri"/>
              </a:rPr>
              <a:t>Risiko Stunting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73152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pada Balita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9144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0">
                <a:solidFill>
                  <a:srgbClr val="B2DFBE"/>
                </a:solidFill>
                <a:latin typeface="Calibri"/>
              </a:rPr>
              <a:t>Menggunakan Machine Learning (Random Forest)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36592"/>
            <a:ext cx="502920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19472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CCE8D4"/>
                </a:solidFill>
                <a:latin typeface="Calibri"/>
              </a:rPr>
              <a:t>Daniel Steffen K   ·   NIM: 2602071171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99CCAA"/>
                </a:solidFill>
                <a:latin typeface="Calibri"/>
              </a:rPr>
              <a:t>AOL Group Project Proposal  ·  LA05-LEC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144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3200400" cy="1325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658368" cy="132588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810512"/>
            <a:ext cx="6400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72768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Latar Belakang &amp; Masalah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029968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Mengapa stunting penting untuk diatasi?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17520"/>
            <a:ext cx="3200400" cy="1325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3017520"/>
            <a:ext cx="658368" cy="132588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3364991"/>
            <a:ext cx="6400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127248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Tujuan &amp; Output Produk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584448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Apa yang akan dibuat dan dihasilkan?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572000"/>
            <a:ext cx="3200400" cy="1325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4572000"/>
            <a:ext cx="658368" cy="132588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4919472"/>
            <a:ext cx="6400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681728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Solusi &amp; Teknologi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5138928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Bagaimana machine learning menyelesaikan masalah?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463040"/>
            <a:ext cx="3200400" cy="1325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1463040"/>
            <a:ext cx="658368" cy="132588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1810512"/>
            <a:ext cx="6400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1572768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Penerima Manfaat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029968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Siapa yang akan merasakan dampaknya?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17520"/>
            <a:ext cx="3200400" cy="1325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017520"/>
            <a:ext cx="658368" cy="132588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6400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127248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Kaitan dengan Learning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3584448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Bagaimana project ini memenuhi LO1–LO6?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572000"/>
            <a:ext cx="3200400" cy="1325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4572000"/>
            <a:ext cx="658368" cy="132588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4919472"/>
            <a:ext cx="6400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681728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Rencana &amp; Status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5138928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Timeline, progress, dan langkah selanjutnya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Latar Belakang &amp; Masalah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566160" cy="182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3832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 i="0">
                <a:solidFill>
                  <a:srgbClr val="DC3545"/>
                </a:solidFill>
                <a:latin typeface="Calibri"/>
              </a:rPr>
              <a:t>19.8%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42032"/>
            <a:ext cx="33375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4A5A5A"/>
                </a:solidFill>
                <a:latin typeface="Calibri"/>
              </a:rPr>
              <a:t>Prevalensi stunting
balita di Indonesia
(SSGI 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66160" cy="182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566160" cy="27432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3832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 i="0">
                <a:solidFill>
                  <a:srgbClr val="FF8500"/>
                </a:solidFill>
                <a:latin typeface="Calibri"/>
              </a:rPr>
              <a:t>4.4 Juta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42032"/>
            <a:ext cx="33375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4A5A5A"/>
                </a:solidFill>
                <a:latin typeface="Calibri"/>
              </a:rPr>
              <a:t>Balita Indonesia
masih mengalami
stunting (2024)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566160" cy="182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566160" cy="27432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3832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 i="0">
                <a:solidFill>
                  <a:srgbClr val="028A4F"/>
                </a:solidFill>
                <a:latin typeface="Calibri"/>
              </a:rPr>
              <a:t>Target 14.2%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542032"/>
            <a:ext cx="33375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4A5A5A"/>
                </a:solidFill>
                <a:latin typeface="Calibri"/>
              </a:rPr>
              <a:t>RPJMN 2029 — masih
perlu turun 5.6%
dalam 5 tahun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11274552" cy="2560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91440" cy="2560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204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015C3A"/>
                </a:solidFill>
                <a:latin typeface="Calibri"/>
              </a:rPr>
              <a:t>Permasalahan Utama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41648"/>
            <a:ext cx="10789920" cy="53035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59936"/>
            <a:ext cx="105156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▸  Orang tua &amp; kader posyandu tidak dapat mendeteksi risiko stunting secara mandiri tanpa tenaga medis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81728"/>
            <a:ext cx="10789920" cy="53035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00016"/>
            <a:ext cx="105156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▸  Alat skrining yang ada membutuhkan kunjungan ke fasilitas kesehatan — tidak aksesibel di daerah terpencil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21808"/>
            <a:ext cx="10789920" cy="53035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40096"/>
            <a:ext cx="105156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▸  Tidak ada sistem digital yang mudah digunakan oleh masyarakat awam untuk deteksi dini berbasis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Tujuan &amp; Output Produk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5394960" cy="5120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394960" cy="384048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🎯  Tujuan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5029200" cy="91440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92807"/>
            <a:ext cx="1371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Membangun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86000"/>
            <a:ext cx="4754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Web application prediksi risiko stunting berbasis ML yang dapat digunakan langsung oleh masyarakat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98648"/>
            <a:ext cx="5029200" cy="91440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44368"/>
            <a:ext cx="1371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Mendeteksi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37560"/>
            <a:ext cx="4754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Risiko stunting lebih awal sebelum dampak permanen terjadi pada tumbuh kembang anak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50208"/>
            <a:ext cx="5029200" cy="91440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95927"/>
            <a:ext cx="1371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Menyediakan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89120"/>
            <a:ext cx="4754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Rekomendasi sederhana &amp; actionable bagi orang tua tanpa perlu tenaga medis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001768"/>
            <a:ext cx="5029200" cy="91440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047488"/>
            <a:ext cx="13716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Mendemokan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440679"/>
            <a:ext cx="4754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Implementasi AI (Random Forest) pada kasus nyata di bidang kesehatan anak Indonesia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325880"/>
            <a:ext cx="5605272" cy="5120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325880"/>
            <a:ext cx="5605272" cy="384048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371600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📦  Output / Produk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847088"/>
            <a:ext cx="5257800" cy="59436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901952"/>
            <a:ext cx="5029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🌐  Web Application (Streamlit)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578608"/>
            <a:ext cx="5257800" cy="65836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2578608"/>
            <a:ext cx="1051560" cy="658368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2615184"/>
            <a:ext cx="1033271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33472"/>
            <a:ext cx="3931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Usia, TB, BB, jenis kelamin, riwayat makan balita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291839"/>
            <a:ext cx="5257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3291839"/>
            <a:ext cx="1051560" cy="658368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3328415"/>
            <a:ext cx="1033271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346704"/>
            <a:ext cx="3931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Model Random Forest (scikit-learn, Python)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005072"/>
            <a:ext cx="5257800" cy="65836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4005072"/>
            <a:ext cx="1051560" cy="658368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4041648"/>
            <a:ext cx="1033271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059935"/>
            <a:ext cx="3931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Prediksi: Berisiko / Tidak Berisiko Stunting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718304"/>
            <a:ext cx="5257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4718304"/>
            <a:ext cx="1051560" cy="658368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4754879"/>
            <a:ext cx="1033271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FITUR 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773168"/>
            <a:ext cx="3931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Rekomendasi gizi &amp; saran tindak lanjut otomatis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5431536"/>
            <a:ext cx="5257800" cy="65836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55080" y="5431536"/>
            <a:ext cx="1051560" cy="658368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5468112"/>
            <a:ext cx="1033271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486400"/>
            <a:ext cx="3931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Gratis via streamlit.io — bisa diakses dari 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Solusi &amp; Teknologi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06040" cy="169164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514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514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Usia, Tinggi,
Jenis Kelamin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011680"/>
            <a:ext cx="320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015C3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606040" cy="1691640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00200"/>
            <a:ext cx="2514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40280"/>
            <a:ext cx="2514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Encoding &amp;
Feature Eng.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011680"/>
            <a:ext cx="320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015C3A"/>
                </a:solidFill>
                <a:latin typeface="Calibr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17320"/>
            <a:ext cx="2606040" cy="169164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2514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40280"/>
            <a:ext cx="2514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200 Decision
Trees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011680"/>
            <a:ext cx="320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015C3A"/>
                </a:solidFill>
                <a:latin typeface="Calibr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417320"/>
            <a:ext cx="2606040" cy="1691640"/>
          </a:xfrm>
          <a:prstGeom prst="roundRect">
            <a:avLst>
              <a:gd name="adj" fmla="val 20000"/>
            </a:avLst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00200"/>
            <a:ext cx="2514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40280"/>
            <a:ext cx="2514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Status +
Confidence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91840"/>
            <a:ext cx="11274552" cy="54864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46704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Mengapa Random Forest?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77639"/>
            <a:ext cx="2743200" cy="1737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77639"/>
            <a:ext cx="274320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114800"/>
            <a:ext cx="252374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Akurasi Tinggi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572000"/>
            <a:ext cx="2523744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98.88% accuracy
pada test 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977639"/>
            <a:ext cx="2743200" cy="1737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3977639"/>
            <a:ext cx="274320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4114800"/>
            <a:ext cx="252374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Anti-Overfitting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572000"/>
            <a:ext cx="2523744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Ensemble 150 trees
mengurangi bias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977639"/>
            <a:ext cx="2743200" cy="1737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977639"/>
            <a:ext cx="274320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114800"/>
            <a:ext cx="252374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Interpretable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572000"/>
            <a:ext cx="2523744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Feature importance
bisa dianalisis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3977639"/>
            <a:ext cx="2743200" cy="1737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3977639"/>
            <a:ext cx="274320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5168" y="4114800"/>
            <a:ext cx="252374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Proven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4572000"/>
            <a:ext cx="2523744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Banyak riset medis
pakai Random Forest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89320"/>
            <a:ext cx="1691640" cy="438912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016752"/>
            <a:ext cx="1600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Python 3.10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04288" y="5989320"/>
            <a:ext cx="1691640" cy="438912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50008" y="6016752"/>
            <a:ext cx="1600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51376" y="5989320"/>
            <a:ext cx="1691640" cy="438912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97096" y="6016752"/>
            <a:ext cx="1600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98464" y="5989320"/>
            <a:ext cx="1691640" cy="438912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44184" y="6016752"/>
            <a:ext cx="1600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45552" y="5989320"/>
            <a:ext cx="1691640" cy="438912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91272" y="6016752"/>
            <a:ext cx="1600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Google Colab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0" y="5989320"/>
            <a:ext cx="1691640" cy="438912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60" y="6016752"/>
            <a:ext cx="1600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Kaggle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Penerima Manfaat (Beneficiaries)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657600" cy="5029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3657600" cy="45720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17320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👨‍👩‍👧  Pengguna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920240"/>
            <a:ext cx="3429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015C3A"/>
                </a:solidFill>
                <a:latin typeface="Calibri"/>
              </a:rPr>
              <a:t>Orang Tua Balita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2487168"/>
            <a:ext cx="3429000" cy="36576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606040"/>
            <a:ext cx="34290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Dapat memantau risiko stunting anaknya secara mandiri kapanpun dan dimanapun melalui smartphone, tanpa harus antri di puskesmas.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" y="5532120"/>
            <a:ext cx="3429000" cy="59436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5577840"/>
            <a:ext cx="3246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15C3A"/>
                </a:solidFill>
                <a:latin typeface="Calibri"/>
              </a:rPr>
              <a:t>✓  Deteksi lebih awal → penanganan lebih cepat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371600"/>
            <a:ext cx="3657600" cy="5029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657600" cy="45720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417320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🏥  Pengguna Operasional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920240"/>
            <a:ext cx="3429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028A4F"/>
                </a:solidFill>
                <a:latin typeface="Calibri"/>
              </a:rPr>
              <a:t>Kader Posyandu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3128" y="2487168"/>
            <a:ext cx="3429000" cy="36576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606040"/>
            <a:ext cx="34290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Memiliki alat bantu digital untuk skrining massal anak-anak di wilayah posyandu, meningkatkan efisiensi dan jangkauan layanan.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5532120"/>
            <a:ext cx="3429000" cy="59436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5577840"/>
            <a:ext cx="3246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15C3A"/>
                </a:solidFill>
                <a:latin typeface="Calibri"/>
              </a:rPr>
              <a:t>✓  Skrining lebih banyak anak dalam waktu singkat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1371600"/>
            <a:ext cx="3657600" cy="5029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19" y="1371600"/>
            <a:ext cx="365760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7" y="1417320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🏛️  Pengguna Strategis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7" y="1920240"/>
            <a:ext cx="3429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28A745"/>
                </a:solidFill>
                <a:latin typeface="Calibri"/>
              </a:rPr>
              <a:t>Dinas Kesehatan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5047" y="2487168"/>
            <a:ext cx="342900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7" y="2606040"/>
            <a:ext cx="34290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Mendapatkan data agregat untuk pemetaan wilayah berisiko stunting, mendukung program nasional penurunan angka stunting Indonesia.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85047" y="5532120"/>
            <a:ext cx="3429000" cy="59436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5577840"/>
            <a:ext cx="3246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15C3A"/>
                </a:solidFill>
                <a:latin typeface="Calibri"/>
              </a:rPr>
              <a:t>✓  Data berbasis bukti untuk kebijakan kesehatan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Kaitan dengan Learning Outcomes (LO1–LO6)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553212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1051560" cy="160020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673352"/>
            <a:ext cx="10058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527048"/>
            <a:ext cx="42976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Comprehension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47672"/>
            <a:ext cx="4297679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Menjelaskan konsep Intelligent Agent dalam sistem prediksi stunting sebagai AI agent yang menerima input dan menghasilkan keputusan.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53212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1051560" cy="1600200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673352"/>
            <a:ext cx="10058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527048"/>
            <a:ext cx="42976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28A4F"/>
                </a:solidFill>
                <a:latin typeface="Calibri"/>
              </a:rPr>
              <a:t>Search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8" y="1947672"/>
            <a:ext cx="4297679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Proses pencarian pola optimal dalam decision tree menggunakan algoritma Gini Impurity / Information Gain untuk split terbaik.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00400"/>
            <a:ext cx="553212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3200400"/>
            <a:ext cx="1051560" cy="160020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456432"/>
            <a:ext cx="10058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3310128"/>
            <a:ext cx="42976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  <a:latin typeface="Calibri"/>
              </a:rPr>
              <a:t>Knowledge Repr.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730752"/>
            <a:ext cx="4297679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Data gizi anak direpresentasikan sebagai fitur terstruktur (tabel, vektor) sebagai basis reasoning dalam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200400"/>
            <a:ext cx="553212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200400"/>
            <a:ext cx="1051560" cy="1600200"/>
          </a:xfrm>
          <a:prstGeom prst="roundRect">
            <a:avLst>
              <a:gd name="adj" fmla="val 20000"/>
            </a:avLst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456432"/>
            <a:ext cx="10058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8" y="3310128"/>
            <a:ext cx="42976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8500"/>
                </a:solidFill>
                <a:latin typeface="Calibri"/>
              </a:rPr>
              <a:t>Uncertainty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3730752"/>
            <a:ext cx="4297679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Model probabilistik menghasilkan confidence score (0–100%) untuk menangani ketidakpastian dalam prediksi medis.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983480"/>
            <a:ext cx="553212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1480" y="4983480"/>
            <a:ext cx="1051560" cy="1600200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5239512"/>
            <a:ext cx="10058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5093208"/>
            <a:ext cx="42976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28A4F"/>
                </a:solidFill>
                <a:latin typeface="Calibri"/>
              </a:rPr>
              <a:t>Learning Algorithm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5513832"/>
            <a:ext cx="4297679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Inti project: implementasi Random Forest — algoritma ensemble supervised learning untuk klasifikasi stunting.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983480"/>
            <a:ext cx="553212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9360" y="4983480"/>
            <a:ext cx="1051560" cy="1600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5239512"/>
            <a:ext cx="10058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8" y="5093208"/>
            <a:ext cx="429767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DC3545"/>
                </a:solidFill>
                <a:latin typeface="Calibri"/>
              </a:rPr>
              <a:t>AI Ethics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8" y="5513832"/>
            <a:ext cx="4297679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Analisis dampak: privasi data anak, fairness model terhadap berbagai kelompok, dan safety penggunaan AI di bidang kesehatan.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Rencana &amp; Status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2176272" cy="4114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176272" cy="43891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4475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938528"/>
            <a:ext cx="2029968" cy="34747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56816"/>
            <a:ext cx="202996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015C3A"/>
                </a:solidFill>
                <a:latin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1993392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Topic Approval
&amp;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199339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Proposal, presentasi ke dosen,
persetujuan topik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00600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19933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8500"/>
                </a:solidFill>
                <a:latin typeface="Calibri"/>
              </a:rPr>
              <a:t>⏳ IN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337560"/>
            <a:ext cx="128016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06624" y="1417320"/>
            <a:ext cx="2176272" cy="4114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06624" y="1417320"/>
            <a:ext cx="2176272" cy="438912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9776" y="144475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9776" y="1938528"/>
            <a:ext cx="2029968" cy="34747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1956816"/>
            <a:ext cx="202996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015C3A"/>
                </a:solidFill>
                <a:latin typeface="Calibri"/>
              </a:rPr>
              <a:t>Week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064" y="2377440"/>
            <a:ext cx="1993392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Data Collection
&amp; Preprocessing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3090672"/>
            <a:ext cx="199339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Download dataset Kaggle,
cleaning, EDA, feature engineering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98064" y="4800600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98064" y="4818888"/>
            <a:ext cx="19933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4A5A5A"/>
                </a:solidFill>
                <a:latin typeface="Calibri"/>
              </a:rPr>
              <a:t>📋 PLANNED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1183" y="3337560"/>
            <a:ext cx="128016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47488" y="1417320"/>
            <a:ext cx="2176272" cy="4114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47488" y="1417320"/>
            <a:ext cx="2176272" cy="438912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144475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1938528"/>
            <a:ext cx="2029968" cy="34747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1956816"/>
            <a:ext cx="202996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015C3A"/>
                </a:solidFill>
                <a:latin typeface="Calibri"/>
              </a:rPr>
              <a:t>Week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2377440"/>
            <a:ext cx="1993392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Model Training
&amp;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3090672"/>
            <a:ext cx="199339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Train Random Forest, tuning
hyperparameter, evaluasi akurasi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38928" y="4800600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8928" y="4818888"/>
            <a:ext cx="19933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4A5A5A"/>
                </a:solidFill>
                <a:latin typeface="Calibri"/>
              </a:rPr>
              <a:t>📋 PLANNED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42048" y="3337560"/>
            <a:ext cx="128016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88352" y="1417320"/>
            <a:ext cx="2176272" cy="4114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88352" y="1417320"/>
            <a:ext cx="2176272" cy="438912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1504" y="144475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61504" y="1938528"/>
            <a:ext cx="2029968" cy="34747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61504" y="1956816"/>
            <a:ext cx="202996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015C3A"/>
                </a:solidFill>
                <a:latin typeface="Calibri"/>
              </a:rPr>
              <a:t>Week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2377440"/>
            <a:ext cx="1993392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App Development
&amp;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2" y="3090672"/>
            <a:ext cx="199339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Bangun UI Streamlit, deploy ke
streamlit.io, testing user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79792" y="4800600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4818888"/>
            <a:ext cx="19933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4A5A5A"/>
                </a:solidFill>
                <a:latin typeface="Calibri"/>
              </a:rPr>
              <a:t>📋 PLANNED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82912" y="3337560"/>
            <a:ext cx="128016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29216" y="1417320"/>
            <a:ext cx="2176272" cy="4114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9216" y="1417320"/>
            <a:ext cx="2176272" cy="438912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02368" y="144475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Fase 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2368" y="1938528"/>
            <a:ext cx="2029968" cy="34747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02368" y="1956816"/>
            <a:ext cx="202996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015C3A"/>
                </a:solidFill>
                <a:latin typeface="Calibri"/>
              </a:rPr>
              <a:t>Week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0656" y="2377440"/>
            <a:ext cx="1993392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Report &amp;
Presentation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0656" y="3090672"/>
            <a:ext cx="199339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Laporan akhir, demo aplikasi,
presentasi AOL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0656" y="4800600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0656" y="4818888"/>
            <a:ext cx="19933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4A5A5A"/>
                </a:solidFill>
                <a:latin typeface="Calibri"/>
              </a:rPr>
              <a:t>📋 PLANNED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5623560"/>
            <a:ext cx="11457432" cy="804672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5623560"/>
            <a:ext cx="201168" cy="8046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5687568"/>
            <a:ext cx="27432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📍 Status Saat Ini: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10128" y="5687568"/>
            <a:ext cx="8412480" cy="6217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Fase 1 sedang berlangsung — proposal ini dibuat untuk mendapatkan persetujuan topik dari dosen sebelum melanjutkan ke fase berikutnya.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-457200"/>
            <a:ext cx="3657600" cy="3657600"/>
          </a:xfrm>
          <a:prstGeom prst="roundRect">
            <a:avLst>
              <a:gd name="adj" fmla="val 20000"/>
            </a:avLst>
          </a:prstGeom>
          <a:solidFill>
            <a:srgbClr val="02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8686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0">
                <a:solidFill>
                  <a:srgbClr val="B2DFBE"/>
                </a:solidFill>
                <a:latin typeface="Calibri"/>
              </a:rPr>
              <a:t>Mohon persetujuan topik untuk dapat melanjutkan project ini.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46120"/>
            <a:ext cx="548640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CCE8D4"/>
                </a:solidFill>
                <a:latin typeface="Calibri"/>
              </a:rPr>
              <a:t>✅  Masalah jelas: Deteksi dini stunting yang belum accessible untuk masyarakat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CCE8D4"/>
                </a:solidFill>
                <a:latin typeface="Calibri"/>
              </a:rPr>
              <a:t>✅  Output konkret: Web Application berbasis Machine Learning (Random Forest)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62856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CCE8D4"/>
                </a:solidFill>
                <a:latin typeface="Calibri"/>
              </a:rPr>
              <a:t>✅  Manfaat teridentifikasi: Orang tua, kader posyandu, dinas kesehatan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9783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CCE8D4"/>
                </a:solidFill>
                <a:latin typeface="Calibri"/>
              </a:rPr>
              <a:t>✅  Semua LO terpenuhi: LO1–LO6 tercakup dalam implementasi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669280"/>
            <a:ext cx="548640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33872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88BB99"/>
                </a:solidFill>
                <a:latin typeface="Calibri"/>
              </a:rPr>
              <a:t>Daniel Steffen K  ·  NIM: 2602071171  ·  COMP6065016 LA05-LEC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