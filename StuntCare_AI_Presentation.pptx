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640080" cy="100584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CE9A6"/>
                </a:solidFill>
                <a:latin typeface="Calibri"/>
              </a:rPr>
              <a:t>SDG #3 · GOOD HEALTH AND WELL-BEING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StuntCare AI</a:t>
            </a:r>
          </a:p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EAF7F0"/>
                </a:solidFill>
                <a:latin typeface="Calibri"/>
              </a:rPr>
              <a:t>Deteksi Dini Risiko Stunting Balita Multi-Faktor</a:t>
            </a:r>
          </a:p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EAF7F0"/>
                </a:solidFill>
                <a:latin typeface="Calibri"/>
              </a:rPr>
              <a:t>berbasis Random Forest yang berjalan di peramban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Daniel Steffen K  ·  NIM 2602071171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CE9A6"/>
                </a:solidFill>
                <a:latin typeface="Calibri"/>
              </a:rPr>
              <a:t>Artificial Intelligence (COMP6065001) · LA05-LEC · BINUS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LATAR BELAKANG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Stunting: gagal tumbuh karena banyak faktor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6675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Prevalensi stunting Indonesia </a:t>
            </a:r>
            <a:r>
              <a:rPr sz="1700" b="1">
                <a:solidFill>
                  <a:srgbClr val="15241C"/>
                </a:solidFill>
                <a:latin typeface="Calibri"/>
              </a:rPr>
              <a:t>19,8%</a:t>
            </a:r>
            <a:r>
              <a:rPr sz="1700" b="0">
                <a:solidFill>
                  <a:srgbClr val="15241C"/>
                </a:solidFill>
                <a:latin typeface="Calibri"/>
              </a:rPr>
              <a:t> (SSGI 2024) — ±4,4 juta balita.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Stunting = anak </a:t>
            </a:r>
            <a:r>
              <a:rPr sz="1700" b="1">
                <a:solidFill>
                  <a:srgbClr val="15241C"/>
                </a:solidFill>
                <a:latin typeface="Calibri"/>
              </a:rPr>
              <a:t>lebih pendek</a:t>
            </a:r>
            <a:r>
              <a:rPr sz="1700" b="0">
                <a:solidFill>
                  <a:srgbClr val="15241C"/>
                </a:solidFill>
                <a:latin typeface="Calibri"/>
              </a:rPr>
              <a:t> dari standar usianya akibat kurang gizi kronis.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Dampak jangka panjang: kecerdasan, daya tahan tubuh, dan produktivitas.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Penyebabnya </a:t>
            </a:r>
            <a:r>
              <a:rPr sz="1700" b="1">
                <a:solidFill>
                  <a:srgbClr val="15241C"/>
                </a:solidFill>
                <a:latin typeface="Calibri"/>
              </a:rPr>
              <a:t>banyak faktor</a:t>
            </a:r>
            <a:r>
              <a:rPr sz="1700" b="0">
                <a:solidFill>
                  <a:srgbClr val="15241C"/>
                </a:solidFill>
                <a:latin typeface="Calibri"/>
              </a:rPr>
              <a:t> — bukan hanya tinggi badan anak.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800600"/>
            <a:ext cx="10881360" cy="141732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4800600"/>
            <a:ext cx="82296" cy="141732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910328"/>
            <a:ext cx="10515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Apa itu "KEK → BBLR"?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KEK = Kurang Energi Kronis: ibu kekurangan gizi dalam waktu lama saat hamil. Ini bisa menyebabkan BBLR = Berat Badan Lahir Rendah (bayi lahir &lt; 2,5 kg). Bayi BBLR lebih berisiko mengalami stunting. Karena itu gizi ibu saat hamil ikut dihitung.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783080"/>
            <a:ext cx="3886200" cy="14630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783080"/>
            <a:ext cx="388620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2020824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039855"/>
                </a:solidFill>
                <a:latin typeface="Calibri"/>
              </a:rPr>
              <a:t>19,8%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697480"/>
            <a:ext cx="3886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Prevalensi nasional (SSGI 2024)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3383280"/>
            <a:ext cx="3886200" cy="14630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3383280"/>
            <a:ext cx="388620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3621024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039855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297680"/>
            <a:ext cx="3886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Faktor penyebab dianalisis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GAGASAN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Solusi: prediksi 7 faktor, langsung di perangkat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Aplikasi web yang menggabungkan </a:t>
            </a:r>
            <a:r>
              <a:rPr sz="1700" b="1">
                <a:solidFill>
                  <a:srgbClr val="15241C"/>
                </a:solidFill>
                <a:latin typeface="Calibri"/>
              </a:rPr>
              <a:t>7 faktor</a:t>
            </a:r>
            <a:r>
              <a:rPr sz="1700" b="0">
                <a:solidFill>
                  <a:srgbClr val="15241C"/>
                </a:solidFill>
                <a:latin typeface="Calibri"/>
              </a:rPr>
              <a:t> menjadi satu prediksi.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Mesin prediksi: </a:t>
            </a:r>
            <a:r>
              <a:rPr sz="1700" b="1">
                <a:solidFill>
                  <a:srgbClr val="15241C"/>
                </a:solidFill>
                <a:latin typeface="Calibri"/>
              </a:rPr>
              <a:t>Random Forest</a:t>
            </a:r>
            <a:r>
              <a:rPr sz="1700" b="0">
                <a:solidFill>
                  <a:srgbClr val="15241C"/>
                </a:solidFill>
                <a:latin typeface="Calibri"/>
              </a:rPr>
              <a:t> (akurasi 88,40%).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Output: status gizi + tingkat keyakinan + rekomendasi tindak lanjut.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703320"/>
            <a:ext cx="5349240" cy="25146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3703320"/>
            <a:ext cx="82296" cy="25146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3813048"/>
            <a:ext cx="4983480" cy="2313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Apa itu "berjalan 100% di peramban"?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Peramban = aplikasi browser (Chrome, Safari, dll). Artinya semua perhitungan AI terjadi di HP/laptop pengguna sendiri — BUKAN di komputer server kami. Keuntungan: gratis, cepat, bisa tanpa internet, dan data anak tidak dikirim ke mana pun.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703320"/>
            <a:ext cx="5349240" cy="25146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3703320"/>
            <a:ext cx="82296" cy="25146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3813048"/>
            <a:ext cx="4983480" cy="2313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Apa itu "Z-Score WHO (HAZ)"?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Angka yang membandingkan tinggi anak dengan tinggi standar WHO untuk anak seumur &amp; sejenis kelamin. 0 = persis rata-rata; di bawah −2 SD = lebih pendek dari normal (indikasi stunting); di atas +2 = lebih tinggi dari rata-rata.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FITUR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Tujuh faktor masukan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Tinggi badan</a:t>
            </a:r>
            <a:r>
              <a:rPr sz="1600" b="0">
                <a:solidFill>
                  <a:srgbClr val="15241C"/>
                </a:solidFill>
                <a:latin typeface="Calibri"/>
              </a:rPr>
              <a:t> (cm) — indikator utama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Umur</a:t>
            </a:r>
            <a:r>
              <a:rPr sz="1600" b="0">
                <a:solidFill>
                  <a:srgbClr val="15241C"/>
                </a:solidFill>
                <a:latin typeface="Calibri"/>
              </a:rPr>
              <a:t> (bulan) — acuan standar WHO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Berat badan</a:t>
            </a:r>
            <a:r>
              <a:rPr sz="1600" b="0">
                <a:solidFill>
                  <a:srgbClr val="15241C"/>
                </a:solidFill>
                <a:latin typeface="Calibri"/>
              </a:rPr>
              <a:t> (kg)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Jenis kelamin</a:t>
            </a:r>
            <a:r>
              <a:rPr sz="1600" b="0">
                <a:solidFill>
                  <a:srgbClr val="15241C"/>
                </a:solidFill>
                <a:latin typeface="Calibri"/>
              </a:rPr>
              <a:t> — standar L/P beda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78308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Jarak kehamilan</a:t>
            </a:r>
            <a:r>
              <a:rPr sz="1600" b="0">
                <a:solidFill>
                  <a:srgbClr val="15241C"/>
                </a:solidFill>
                <a:latin typeface="Calibri"/>
              </a:rPr>
              <a:t> (bulan)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Usia ibu menikah</a:t>
            </a:r>
            <a:r>
              <a:rPr sz="1600" b="0">
                <a:solidFill>
                  <a:srgbClr val="15241C"/>
                </a:solidFill>
                <a:latin typeface="Calibri"/>
              </a:rPr>
              <a:t> (tahun)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Gizi ibu saat hamil</a:t>
            </a:r>
            <a:r>
              <a:rPr sz="1600" b="0">
                <a:solidFill>
                  <a:srgbClr val="15241C"/>
                </a:solidFill>
                <a:latin typeface="Calibri"/>
              </a:rPr>
              <a:t> (Baik/Sedang/Buruk)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4800600"/>
            <a:ext cx="10881360" cy="141732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4800600"/>
            <a:ext cx="82296" cy="141732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910328"/>
            <a:ext cx="10515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Apa itu "ideal &gt; 24 bulan (BKKBN 4T)"?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Program "4 Terlalu" BKKBN: Terlalu muda, Terlalu tua, Terlalu dekat, Terlalu banyak. Jarak kehamilan ideal &gt; 24 bulan agar tubuh ibu pulih dulu. Jarak terlalu dekat menaikkan risiko stunting pada anak berikutnya.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INTI ALGORITMA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Random Forest — bagaimana ia bekerja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6858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Ensemble</a:t>
            </a:r>
            <a:r>
              <a:rPr sz="1600" b="0">
                <a:solidFill>
                  <a:srgbClr val="15241C"/>
                </a:solidFill>
                <a:latin typeface="Calibri"/>
              </a:rPr>
              <a:t> = gabungan </a:t>
            </a:r>
            <a:r>
              <a:rPr sz="1600" b="1">
                <a:solidFill>
                  <a:srgbClr val="15241C"/>
                </a:solidFill>
                <a:latin typeface="Calibri"/>
              </a:rPr>
              <a:t>120 pohon keputusan</a:t>
            </a:r>
            <a:r>
              <a:rPr sz="1600" b="0">
                <a:solidFill>
                  <a:srgbClr val="15241C"/>
                </a:solidFill>
                <a:latin typeface="Calibri"/>
              </a:rPr>
              <a:t> (decision tree).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0">
                <a:solidFill>
                  <a:srgbClr val="15241C"/>
                </a:solidFill>
                <a:latin typeface="Calibri"/>
              </a:rPr>
              <a:t>Tiap pohon belajar dari </a:t>
            </a:r>
            <a:r>
              <a:rPr sz="1600" b="1">
                <a:solidFill>
                  <a:srgbClr val="15241C"/>
                </a:solidFill>
                <a:latin typeface="Calibri"/>
              </a:rPr>
              <a:t>sebagian data acak</a:t>
            </a:r>
            <a:r>
              <a:rPr sz="1600" b="0">
                <a:solidFill>
                  <a:srgbClr val="15241C"/>
                </a:solidFill>
                <a:latin typeface="Calibri"/>
              </a:rPr>
              <a:t> (teknik bagging).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0">
                <a:solidFill>
                  <a:srgbClr val="15241C"/>
                </a:solidFill>
                <a:latin typeface="Calibri"/>
              </a:rPr>
              <a:t>Tiap pohon memberi "suara" prediksi; hasil akhir = </a:t>
            </a:r>
            <a:r>
              <a:rPr sz="1600" b="1">
                <a:solidFill>
                  <a:srgbClr val="15241C"/>
                </a:solidFill>
                <a:latin typeface="Calibri"/>
              </a:rPr>
              <a:t>rata-rata</a:t>
            </a:r>
            <a:r>
              <a:rPr sz="1600" b="0">
                <a:solidFill>
                  <a:srgbClr val="15241C"/>
                </a:solidFill>
                <a:latin typeface="Calibri"/>
              </a:rPr>
              <a:t> semua pohon.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0">
                <a:solidFill>
                  <a:srgbClr val="15241C"/>
                </a:solidFill>
                <a:latin typeface="Calibri"/>
              </a:rPr>
              <a:t>Banyak pohon → hasil </a:t>
            </a:r>
            <a:r>
              <a:rPr sz="1600" b="1">
                <a:solidFill>
                  <a:srgbClr val="15241C"/>
                </a:solidFill>
                <a:latin typeface="Calibri"/>
              </a:rPr>
              <a:t>lebih akurat &amp; stabil</a:t>
            </a:r>
            <a:r>
              <a:rPr sz="1600" b="0">
                <a:solidFill>
                  <a:srgbClr val="15241C"/>
                </a:solidFill>
                <a:latin typeface="Calibri"/>
              </a:rPr>
              <a:t> (tidak mudah salah/overfit).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0">
                <a:solidFill>
                  <a:srgbClr val="15241C"/>
                </a:solidFill>
                <a:latin typeface="Calibri"/>
              </a:rPr>
              <a:t>Bonus: bisa menunjukkan </a:t>
            </a:r>
            <a:r>
              <a:rPr sz="1600" b="1">
                <a:solidFill>
                  <a:srgbClr val="15241C"/>
                </a:solidFill>
                <a:latin typeface="Calibri"/>
              </a:rPr>
              <a:t>faktor mana yang paling penting</a:t>
            </a:r>
            <a:r>
              <a:rPr sz="1600" b="0">
                <a:solidFill>
                  <a:srgbClr val="15241C"/>
                </a:solidFill>
                <a:latin typeface="Calibri"/>
              </a:rPr>
              <a:t> (transparan).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2286000"/>
            <a:ext cx="1005840" cy="22860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2286000"/>
            <a:ext cx="1005840" cy="7315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3063240"/>
            <a:ext cx="1005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39855"/>
                </a:solidFill>
                <a:latin typeface="Calibri"/>
              </a:rPr>
              <a:t>Pohon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2286000"/>
            <a:ext cx="1005840" cy="22860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35440" y="2286000"/>
            <a:ext cx="1005840" cy="7315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3063240"/>
            <a:ext cx="1005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39855"/>
                </a:solidFill>
                <a:latin typeface="Calibri"/>
              </a:rPr>
              <a:t>Pohon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2286000"/>
            <a:ext cx="1005840" cy="22860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15600" y="2286000"/>
            <a:ext cx="1005840" cy="7315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0" y="3063240"/>
            <a:ext cx="1005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39855"/>
                </a:solidFill>
                <a:latin typeface="Calibri"/>
              </a:rPr>
              <a:t>Pohon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5488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4B5563"/>
                </a:solidFill>
                <a:latin typeface="Calibri"/>
              </a:rPr>
              <a:t>120 pohon → voting → 1 prediksi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INTI ALGORITMA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Bagaimana model dilatih — langkah demi langkah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1. Kumpulkan data:</a:t>
            </a:r>
            <a:r>
              <a:rPr sz="1600" b="0">
                <a:solidFill>
                  <a:srgbClr val="15241C"/>
                </a:solidFill>
                <a:latin typeface="Calibri"/>
              </a:rPr>
              <a:t> 25.000 contoh (7 faktor + status gizinya).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2. Encoding:</a:t>
            </a:r>
            <a:r>
              <a:rPr sz="1600" b="0">
                <a:solidFill>
                  <a:srgbClr val="15241C"/>
                </a:solidFill>
                <a:latin typeface="Calibri"/>
              </a:rPr>
              <a:t> ubah teks menjadi angka agar bisa dihitung komputer.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3. Bagi data:</a:t>
            </a:r>
            <a:r>
              <a:rPr sz="1600" b="0">
                <a:solidFill>
                  <a:srgbClr val="15241C"/>
                </a:solidFill>
                <a:latin typeface="Calibri"/>
              </a:rPr>
              <a:t> 80% untuk belajar (latih), 20% untuk ujian (uji).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4. Latih:</a:t>
            </a:r>
            <a:r>
              <a:rPr sz="1600" b="0">
                <a:solidFill>
                  <a:srgbClr val="15241C"/>
                </a:solidFill>
                <a:latin typeface="Calibri"/>
              </a:rPr>
              <a:t> 120 pohon belajar pola dari data latih.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1">
                <a:solidFill>
                  <a:srgbClr val="15241C"/>
                </a:solidFill>
                <a:latin typeface="Calibri"/>
              </a:rPr>
              <a:t>5. Uji:</a:t>
            </a:r>
            <a:r>
              <a:rPr sz="1600" b="0">
                <a:solidFill>
                  <a:srgbClr val="15241C"/>
                </a:solidFill>
                <a:latin typeface="Calibri"/>
              </a:rPr>
              <a:t> model diuji pada 20% data yang belum pernah dilihat.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691640"/>
            <a:ext cx="4023360" cy="224028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691640"/>
            <a:ext cx="82296" cy="224028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7" y="1801368"/>
            <a:ext cx="3657600" cy="2039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Apa itu "Encoding"?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Komputer hanya mengerti angka, bukan teks. Encoding = mengubah teks jadi angka. Contoh: Laki-laki→0, Perempuan→1; gizi Baik→0, Buruk→1, Sedang→2. Ini disebut Label Encoding.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114800"/>
            <a:ext cx="4023360" cy="1828800"/>
          </a:xfrm>
          <a:prstGeom prst="rect">
            <a:avLst/>
          </a:prstGeom>
          <a:solidFill>
            <a:srgbClr val="05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261104"/>
            <a:ext cx="3703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CE9A6"/>
                </a:solidFill>
                <a:latin typeface="Calibri"/>
              </a:rPr>
              <a:t>rf = RandomForestClassifier(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n_estimators=120,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max_depth=14)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rf.fit(X_train, y_train)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598932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4B5563"/>
                </a:solidFill>
                <a:latin typeface="Calibri"/>
              </a:rPr>
              <a:t>Kode inti pelatihan (scikit-learn)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HASIL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Bagaimana kami menguji akurasinya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Model diuji pada </a:t>
            </a:r>
            <a:r>
              <a:rPr sz="1500" b="1">
                <a:solidFill>
                  <a:srgbClr val="15241C"/>
                </a:solidFill>
                <a:latin typeface="Calibri"/>
              </a:rPr>
              <a:t>5.000 data ujian</a:t>
            </a:r>
            <a:r>
              <a:rPr sz="1500" b="0">
                <a:solidFill>
                  <a:srgbClr val="15241C"/>
                </a:solidFill>
                <a:latin typeface="Calibri"/>
              </a:rPr>
              <a:t> yang TIDAK dipakai saat latihan — seperti soal ujian baru, supaya penilaian jujur.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1">
                <a:solidFill>
                  <a:srgbClr val="15241C"/>
                </a:solidFill>
                <a:latin typeface="Calibri"/>
              </a:rPr>
              <a:t>Akurasi 88,40%</a:t>
            </a:r>
            <a:r>
              <a:rPr sz="1500" b="0">
                <a:solidFill>
                  <a:srgbClr val="15241C"/>
                </a:solidFill>
                <a:latin typeface="Calibri"/>
              </a:rPr>
              <a:t> artinya: dari 100 anak, sekitar </a:t>
            </a:r>
            <a:r>
              <a:rPr sz="1500" b="1">
                <a:solidFill>
                  <a:srgbClr val="15241C"/>
                </a:solidFill>
                <a:latin typeface="Calibri"/>
              </a:rPr>
              <a:t>88 diprediksi benar</a:t>
            </a:r>
            <a:r>
              <a:rPr sz="1500" b="0">
                <a:solidFill>
                  <a:srgbClr val="15241C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1">
                <a:solidFill>
                  <a:srgbClr val="15241C"/>
                </a:solidFill>
                <a:latin typeface="Calibri"/>
              </a:rPr>
              <a:t>Cross-validation:</a:t>
            </a:r>
            <a:r>
              <a:rPr sz="1500" b="0">
                <a:solidFill>
                  <a:srgbClr val="15241C"/>
                </a:solidFill>
                <a:latin typeface="Calibri"/>
              </a:rPr>
              <a:t> uji berulang 5 kali dengan pembagian berbeda; hasil stabil (±0,42%) → model benar-benar belajar pola, bukan sekadar menghafal.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160520"/>
            <a:ext cx="3520440" cy="14630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4160520"/>
            <a:ext cx="35204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98264"/>
            <a:ext cx="3520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039855"/>
                </a:solidFill>
                <a:latin typeface="Calibri"/>
              </a:rPr>
              <a:t>88,40%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Akurasi (Excellent ≥85%)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4160520"/>
            <a:ext cx="3520440" cy="14630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4160520"/>
            <a:ext cx="35204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4398264"/>
            <a:ext cx="3520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039855"/>
                </a:solidFill>
                <a:latin typeface="Calibri"/>
              </a:rPr>
              <a:t>83,56%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F1-Score (lihat catatan)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4160520"/>
            <a:ext cx="3383280" cy="14630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4160520"/>
            <a:ext cx="338328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4398264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039855"/>
                </a:solidFill>
                <a:latin typeface="Calibri"/>
              </a:rPr>
              <a:t>87,31%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507492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Cross-Validation (5x)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B5563"/>
                </a:solidFill>
                <a:latin typeface="Calibri"/>
              </a:rPr>
              <a:t>F1-Score = ukuran yang adil saat jumlah tiap kelas tidak seimbang (kelas Normal jauh lebih banyak).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HASIL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Faktor paling berpengaruh — siapa yang menentukan?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Tinggi badan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819656"/>
            <a:ext cx="4754880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78308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50.6%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Umur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40" y="2322576"/>
            <a:ext cx="2696937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1617" y="228600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28.7%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8892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Berat badan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2825496"/>
            <a:ext cx="892714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47394" y="278892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9.5%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9184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Jarak kehamilan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40" y="3328416"/>
            <a:ext cx="404070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8750" y="329184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4.3%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9476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Usia ibu menikah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3831336"/>
            <a:ext cx="394673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9353" y="379476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4.2%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9768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Gizi ibu hamil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40" y="4334256"/>
            <a:ext cx="140954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5634" y="429768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800600"/>
            <a:ext cx="2377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5241C"/>
                </a:solidFill>
                <a:latin typeface="Calibri"/>
              </a:rPr>
              <a:t>Jenis kelamin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4837176"/>
            <a:ext cx="122160" cy="237744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76840" y="4800600"/>
            <a:ext cx="914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B5563"/>
                </a:solidFill>
                <a:latin typeface="Calibri"/>
              </a:rPr>
              <a:t>1.3%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1783080"/>
            <a:ext cx="3246120" cy="370332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1783080"/>
            <a:ext cx="82296" cy="370332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1892808"/>
            <a:ext cx="2880360" cy="3502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Siapa yang menentukan?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BUKAN kami. Random Forest MENGHITUNG SENDIRI dari data: seberapa sering &amp; seberapa besar tiap faktor membantu menebak status gizi dengan benar. Hasilnya disebut "feature importance". Tinggi &amp; umur paling besar karena definisi stunting memang soal tinggi-menurut-umur.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REKAYASA PERANGKAT LUNAK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Teknologi yang kami bangun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React + Vite + Tailwind</a:t>
            </a:r>
            <a:r>
              <a:rPr sz="1700" b="0">
                <a:solidFill>
                  <a:srgbClr val="15241C"/>
                </a:solidFill>
                <a:latin typeface="Calibri"/>
              </a:rPr>
              <a:t> — kerangka modern untuk membuat tampilan website yang cepat dan rapi.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ONNX Runtime Web</a:t>
            </a:r>
            <a:r>
              <a:rPr sz="1700" b="0">
                <a:solidFill>
                  <a:srgbClr val="15241C"/>
                </a:solidFill>
                <a:latin typeface="Calibri"/>
              </a:rPr>
              <a:t> — pustaka yang bisa menjalankan model machine learning langsung di dalam peramban (browser), tanpa server.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Web Worker</a:t>
            </a:r>
            <a:r>
              <a:rPr sz="1700" b="0">
                <a:solidFill>
                  <a:srgbClr val="15241C"/>
                </a:solidFill>
                <a:latin typeface="Calibri"/>
              </a:rPr>
              <a:t> — "pekerja latar belakang"; proses menebak dijalankan terpisah agar tampilan tidak macet/hang saat menghitung.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Hasil:</a:t>
            </a:r>
            <a:r>
              <a:rPr sz="1700" b="0">
                <a:solidFill>
                  <a:srgbClr val="15241C"/>
                </a:solidFill>
                <a:latin typeface="Calibri"/>
              </a:rPr>
              <a:t> aplikasi gratis, cepat, bisa offline, dan data anak tidak keluar dari perangkat.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ARSITEKTUR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Arsitektur: cara semua bekerja bersama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5312A"/>
                </a:solidFill>
                <a:latin typeface="Calibri"/>
              </a:rPr>
              <a:t>1. Isi 7 faktor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Pengguna mengisi data anak &amp; ibu di form.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5848" y="182880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5848" y="182880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205740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5312A"/>
                </a:solidFill>
                <a:latin typeface="Calibri"/>
              </a:rPr>
              <a:t>2. Web Worker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60604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Data diproses di pekerja latar, di perangkat.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82880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17336" y="182880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205740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5312A"/>
                </a:solidFill>
                <a:latin typeface="Calibri"/>
              </a:rPr>
              <a:t>3. Random Forest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60604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Model (format ONNX) menghitung dalam sekejap.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78824" y="182880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78824" y="182880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15984" y="2057400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5312A"/>
                </a:solidFill>
                <a:latin typeface="Calibri"/>
              </a:rPr>
              <a:t>4. Hasil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260604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B5563"/>
                </a:solidFill>
                <a:latin typeface="Calibri"/>
              </a:rPr>
              <a:t>Status gizi + keyakinan + rekomendasi tampil.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4069080"/>
            <a:ext cx="10881360" cy="13716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069080"/>
            <a:ext cx="82296" cy="13716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4178808"/>
            <a:ext cx="1051560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Istilah teknis (sederhana)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ONNX = format standar agar model AI bisa dipakai di mana saja. WASM (WebAssembly) = teknologi yang membuat kode berjalan cepat di dalam peramban. Gabungan keduanya membuat model berjalan instan, di perangkat, dan bisa offline.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623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B5563"/>
                </a:solidFill>
                <a:latin typeface="Calibri"/>
              </a:rPr>
              <a:t>Tanpa server, tanpa biaya, dan privasi terjaga (data tidak dikirim ke mana pun).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PENGAYAAN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Fitur opsional: Analisis Foto (eksperimental)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6766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Pengguna bisa </a:t>
            </a:r>
            <a:r>
              <a:rPr sz="1500" b="1">
                <a:solidFill>
                  <a:srgbClr val="15241C"/>
                </a:solidFill>
                <a:latin typeface="Calibri"/>
              </a:rPr>
              <a:t>unggah foto</a:t>
            </a:r>
            <a:r>
              <a:rPr sz="1500" b="0">
                <a:solidFill>
                  <a:srgbClr val="15241C"/>
                </a:solidFill>
                <a:latin typeface="Calibri"/>
              </a:rPr>
              <a:t> atau pakai </a:t>
            </a:r>
            <a:r>
              <a:rPr sz="1500" b="1">
                <a:solidFill>
                  <a:srgbClr val="15241C"/>
                </a:solidFill>
                <a:latin typeface="Calibri"/>
              </a:rPr>
              <a:t>kamera</a:t>
            </a:r>
            <a:r>
              <a:rPr sz="1500" b="0">
                <a:solidFill>
                  <a:srgbClr val="15241C"/>
                </a:solidFill>
                <a:latin typeface="Calibri"/>
              </a:rPr>
              <a:t> anak.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1">
                <a:solidFill>
                  <a:srgbClr val="15241C"/>
                </a:solidFill>
                <a:latin typeface="Calibri"/>
              </a:rPr>
              <a:t>MediaPipe</a:t>
            </a:r>
            <a:r>
              <a:rPr sz="1500" b="0">
                <a:solidFill>
                  <a:srgbClr val="15241C"/>
                </a:solidFill>
                <a:latin typeface="Calibri"/>
              </a:rPr>
              <a:t> (pustaka Google) mendeteksi 33 titik tubuh + siluet badan, langsung di perangkat (foto tidak diunggah ke server).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Dihitung </a:t>
            </a:r>
            <a:r>
              <a:rPr sz="1500" b="1">
                <a:solidFill>
                  <a:srgbClr val="15241C"/>
                </a:solidFill>
                <a:latin typeface="Calibri"/>
              </a:rPr>
              <a:t>proporsi tubuh</a:t>
            </a:r>
            <a:r>
              <a:rPr sz="1500" b="0">
                <a:solidFill>
                  <a:srgbClr val="15241C"/>
                </a:solidFill>
                <a:latin typeface="Calibri"/>
              </a:rPr>
              <a:t> (kurus/normal/gemuk) dengan mengukur ketebalan lengan/kaki dibanding panjangnya — bekerja saat berdiri, duduk, atau berbaring.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3886200" cy="41605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1737360"/>
            <a:ext cx="82296" cy="4160520"/>
          </a:xfrm>
          <a:prstGeom prst="rect">
            <a:avLst/>
          </a:prstGeom>
          <a:solidFill>
            <a:srgbClr val="B45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0688" y="1847088"/>
            <a:ext cx="352044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45409"/>
                </a:solidFill>
                <a:latin typeface="Calibri"/>
              </a:rPr>
              <a:t>Kenapa hanya "pendukung"?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6B4A07"/>
                </a:solidFill>
                <a:latin typeface="Calibri"/>
              </a:rPr>
              <a:t>JUJUR: foto 2D tidak bisa mengukur tinggi badan, jadi BUKAN penentu stunting. Hasil foto hanya menggeser sedikit probabilitas akhir (maksimum ±10 poin) dan ditampilkan transparan (sebelum → sesudah). Random Forest TIDAK dilatih ulang — jadi tidak ada klaim palsu. Berguna untuk mendeteksi kurus/gemuk.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INOVASI TAMBAHAN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Fitur baru: Asisten Edukasi Stunting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6766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Di </a:t>
            </a:r>
            <a:r>
              <a:rPr sz="1500" b="1">
                <a:solidFill>
                  <a:srgbClr val="15241C"/>
                </a:solidFill>
                <a:latin typeface="Calibri"/>
              </a:rPr>
              <a:t>atas form</a:t>
            </a:r>
            <a:r>
              <a:rPr sz="1500" b="0">
                <a:solidFill>
                  <a:srgbClr val="15241C"/>
                </a:solidFill>
                <a:latin typeface="Calibri"/>
              </a:rPr>
              <a:t>, pengguna bisa bertanya tips </a:t>
            </a:r>
            <a:r>
              <a:rPr sz="1500" b="1">
                <a:solidFill>
                  <a:srgbClr val="15241C"/>
                </a:solidFill>
                <a:latin typeface="Calibri"/>
              </a:rPr>
              <a:t>mencegah stunting &amp; gizi balita</a:t>
            </a:r>
            <a:r>
              <a:rPr sz="1500" b="0">
                <a:solidFill>
                  <a:srgbClr val="15241C"/>
                </a:solidFill>
                <a:latin typeface="Calibri"/>
              </a:rPr>
              <a:t> — agar dapat ilmu, bukan hanya hasil prediksi.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Berjalan </a:t>
            </a:r>
            <a:r>
              <a:rPr sz="1500" b="1">
                <a:solidFill>
                  <a:srgbClr val="15241C"/>
                </a:solidFill>
                <a:latin typeface="Calibri"/>
              </a:rPr>
              <a:t>100% di perangkat</a:t>
            </a:r>
            <a:r>
              <a:rPr sz="1500" b="0">
                <a:solidFill>
                  <a:srgbClr val="15241C"/>
                </a:solidFill>
                <a:latin typeface="Calibri"/>
              </a:rPr>
              <a:t> memakai basis pengetahuan terkurasi dari pedoman </a:t>
            </a:r>
            <a:r>
              <a:rPr sz="1500" b="1">
                <a:solidFill>
                  <a:srgbClr val="15241C"/>
                </a:solidFill>
                <a:latin typeface="Calibri"/>
              </a:rPr>
              <a:t>WHO &amp; Kemenkes</a:t>
            </a:r>
            <a:r>
              <a:rPr sz="1500" b="0">
                <a:solidFill>
                  <a:srgbClr val="15241C"/>
                </a:solidFill>
                <a:latin typeface="Calibri"/>
              </a:rPr>
              <a:t> — gratis, tanpa internet, tanpa biaya.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39855"/>
                </a:solidFill>
              </a:rPr>
              <a:t>▸  </a:t>
            </a:r>
            <a:r>
              <a:rPr sz="1500" b="0">
                <a:solidFill>
                  <a:srgbClr val="15241C"/>
                </a:solidFill>
                <a:latin typeface="Calibri"/>
              </a:rPr>
              <a:t>Bersifat </a:t>
            </a:r>
            <a:r>
              <a:rPr sz="1500" b="1">
                <a:solidFill>
                  <a:srgbClr val="15241C"/>
                </a:solidFill>
                <a:latin typeface="Calibri"/>
              </a:rPr>
              <a:t>edukasi, bukan diagnosis</a:t>
            </a:r>
            <a:r>
              <a:rPr sz="1500" b="0">
                <a:solidFill>
                  <a:srgbClr val="15241C"/>
                </a:solidFill>
                <a:latin typeface="Calibri"/>
              </a:rPr>
              <a:t>; kondisi khusus diarahkan ke posyandu/dokter.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3886200" cy="429768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1737360"/>
            <a:ext cx="82296" cy="429768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0688" y="1847088"/>
            <a:ext cx="3520440" cy="4096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39855"/>
                </a:solidFill>
                <a:latin typeface="Calibri"/>
              </a:rPr>
              <a:t>Kenapa pendekatan ini?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• Gratis &amp; tanpa API key (tidak perlu token berbayar).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• Privat — pertanyaan tidak dikirim ke server mana pun.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• Tidak mengarang — jawaban berasal dari materi yang sudah disusun.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5241C"/>
                </a:solidFill>
                <a:latin typeface="Calibri"/>
              </a:rPr>
              <a:t>• Mudah ditambah: cukup edit daftar topik di kode (±19 topik).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IMPLEMENTASI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5312A"/>
                </a:solidFill>
                <a:latin typeface="Calibri"/>
              </a:rPr>
              <a:t>Demo &amp;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Live di </a:t>
            </a:r>
            <a:r>
              <a:rPr sz="1700" b="1">
                <a:solidFill>
                  <a:srgbClr val="15241C"/>
                </a:solidFill>
                <a:latin typeface="Calibri"/>
              </a:rPr>
              <a:t>Cloudflare Pages</a:t>
            </a:r>
            <a:r>
              <a:rPr sz="1700" b="0">
                <a:solidFill>
                  <a:srgbClr val="15241C"/>
                </a:solidFill>
                <a:latin typeface="Calibri"/>
              </a:rPr>
              <a:t> (statis, gratis, HTTPS otomatis).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URL: </a:t>
            </a:r>
            <a:r>
              <a:rPr sz="1700" b="1">
                <a:solidFill>
                  <a:srgbClr val="15241C"/>
                </a:solidFill>
                <a:latin typeface="Calibri"/>
              </a:rPr>
              <a:t>machinelearning-ai.pages.dev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Build: Root = web · Build command = npm run build · Output = dist.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Repositori: github.com/steffenkwik/machinelearning-ai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754880"/>
            <a:ext cx="10881360" cy="10058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5312A"/>
                </a:solidFill>
                <a:latin typeface="Calibri"/>
              </a:rPr>
              <a:t>Demo langsung: isi 7 faktor → tekan Analisis → hasil tampil seketika (offline).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6CE9A6"/>
                </a:solidFill>
                <a:latin typeface="Calibri"/>
              </a:rPr>
              <a:t>KESIMPULAN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1">
                <a:solidFill>
                  <a:srgbClr val="FFFFFF"/>
                </a:solidFill>
              </a:rPr>
              <a:t>Random Forest 88,40%</a:t>
            </a:r>
            <a:r>
              <a:rPr sz="1900" b="0">
                <a:solidFill>
                  <a:srgbClr val="FFFFFF"/>
                </a:solidFill>
              </a:rPr>
              <a:t> menggabungkan 7 faktor penyebab stunting.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0">
                <a:solidFill>
                  <a:srgbClr val="FFFFFF"/>
                </a:solidFill>
              </a:rPr>
              <a:t>Model berjalan </a:t>
            </a:r>
            <a:r>
              <a:rPr sz="1900" b="1">
                <a:solidFill>
                  <a:srgbClr val="FFFFFF"/>
                </a:solidFill>
              </a:rPr>
              <a:t>100% di peramban</a:t>
            </a:r>
            <a:r>
              <a:rPr sz="1900" b="0">
                <a:solidFill>
                  <a:srgbClr val="FFFFFF"/>
                </a:solidFill>
              </a:rPr>
              <a:t> — gratis, cepat, offline, dan privat.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0">
                <a:solidFill>
                  <a:srgbClr val="FFFFFF"/>
                </a:solidFill>
              </a:rPr>
              <a:t>Dilengkapi </a:t>
            </a:r>
            <a:r>
              <a:rPr sz="1900" b="1">
                <a:solidFill>
                  <a:srgbClr val="FFFFFF"/>
                </a:solidFill>
              </a:rPr>
              <a:t>analisis foto</a:t>
            </a:r>
            <a:r>
              <a:rPr sz="1900" b="0">
                <a:solidFill>
                  <a:srgbClr val="FFFFFF"/>
                </a:solidFill>
              </a:rPr>
              <a:t> &amp; </a:t>
            </a:r>
            <a:r>
              <a:rPr sz="1900" b="1">
                <a:solidFill>
                  <a:srgbClr val="FFFFFF"/>
                </a:solidFill>
              </a:rPr>
              <a:t>asisten AI gizi</a:t>
            </a:r>
            <a:r>
              <a:rPr sz="1900" b="0">
                <a:solidFill>
                  <a:srgbClr val="FFFFFF"/>
                </a:solidFill>
              </a:rPr>
              <a:t> sebagai pengayaan yang jujur.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0">
                <a:solidFill>
                  <a:srgbClr val="FFFFFF"/>
                </a:solidFill>
              </a:rPr>
              <a:t>Layak sebagai </a:t>
            </a:r>
            <a:r>
              <a:rPr sz="1900" b="1">
                <a:solidFill>
                  <a:srgbClr val="FFFFFF"/>
                </a:solidFill>
              </a:rPr>
              <a:t>alat skrining awal</a:t>
            </a:r>
            <a:r>
              <a:rPr sz="1900" b="0">
                <a:solidFill>
                  <a:srgbClr val="FFFFFF"/>
                </a:solidFill>
              </a:rPr>
              <a:t>; lanjutan: validasi dengan data klinis nyata.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Terima kasih.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CE9A6"/>
                </a:solidFill>
                <a:latin typeface="Calibri"/>
              </a:rPr>
              <a:t>Daniel Steffen K · NIM 2602071171 · BINUS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