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640080" cy="100584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E9A6"/>
                </a:solidFill>
                <a:latin typeface="Calibri"/>
              </a:rPr>
              <a:t>SDG #3 · GOOD HEALTH AND WELL-BEING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StuntCare AI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Deteksi Dini Risiko Stunting Balita Multi-Faktor</a:t>
            </a:r>
          </a:p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EAF7F0"/>
                </a:solidFill>
                <a:latin typeface="Calibri"/>
              </a:rPr>
              <a:t>berbasis Random Forest dengan Inferensi di Peramban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Daniel Steffen K  ·  NIM 2602071171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Artificial Intelligence (COMP6065001) · LA05-LEC · BINUS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LATAR BELAKANG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Stunting: masalah gizi kronis multi-faktor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Prevalensi stunting Indonesia </a:t>
            </a:r>
            <a:r>
              <a:rPr sz="1800" b="1">
                <a:solidFill>
                  <a:srgbClr val="15241C"/>
                </a:solidFill>
                <a:latin typeface="Calibri"/>
              </a:rPr>
              <a:t>19,8%</a:t>
            </a:r>
            <a:r>
              <a:rPr sz="1800" b="0">
                <a:solidFill>
                  <a:srgbClr val="15241C"/>
                </a:solidFill>
                <a:latin typeface="Calibri"/>
              </a:rPr>
              <a:t> (SSGI 2024) — ±4,4 juta balita.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Definisi: tinggi-untuk-umur </a:t>
            </a:r>
            <a:r>
              <a:rPr sz="1800" b="1">
                <a:solidFill>
                  <a:srgbClr val="15241C"/>
                </a:solidFill>
                <a:latin typeface="Calibri"/>
              </a:rPr>
              <a:t>(HAZ) &lt; −2 SD</a:t>
            </a:r>
            <a:r>
              <a:rPr sz="1800" b="0">
                <a:solidFill>
                  <a:srgbClr val="15241C"/>
                </a:solidFill>
                <a:latin typeface="Calibri"/>
              </a:rPr>
              <a:t> (WHO 2006).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Dampak jangka panjang: kognitif, imunitas, produktivitas.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Penyebabnya </a:t>
            </a:r>
            <a:r>
              <a:rPr sz="1800" b="1">
                <a:solidFill>
                  <a:srgbClr val="15241C"/>
                </a:solidFill>
                <a:latin typeface="Calibri"/>
              </a:rPr>
              <a:t>banyak faktor</a:t>
            </a:r>
            <a:r>
              <a:rPr sz="1800" b="0">
                <a:solidFill>
                  <a:srgbClr val="15241C"/>
                </a:solidFill>
                <a:latin typeface="Calibri"/>
              </a:rPr>
              <a:t> — bukan hanya tinggi badan: jarak kehamilan, usia ibu menikah, gizi ibu saat hamil (KEK → BBLR).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Skrining lapangan masih manual &amp; satu indikator saja.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194560"/>
            <a:ext cx="384048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2194560"/>
            <a:ext cx="384048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450592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19,8%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18211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Prevalensi nasional (SSGI 2024)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4023360"/>
            <a:ext cx="384048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023360"/>
            <a:ext cx="384048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79392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1091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Faktor penyebab dianalisis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GAGASAN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Solusi: prediksi 7 faktor, langsung di perangkat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39855"/>
                </a:solidFill>
              </a:rPr>
              <a:t>▸  </a:t>
            </a:r>
            <a:r>
              <a:rPr sz="1900" b="0">
                <a:solidFill>
                  <a:srgbClr val="15241C"/>
                </a:solidFill>
                <a:latin typeface="Calibri"/>
              </a:rPr>
              <a:t>Aplikasi web yang menggabungkan </a:t>
            </a:r>
            <a:r>
              <a:rPr sz="1900" b="1">
                <a:solidFill>
                  <a:srgbClr val="15241C"/>
                </a:solidFill>
                <a:latin typeface="Calibri"/>
              </a:rPr>
              <a:t>7 faktor</a:t>
            </a:r>
            <a:r>
              <a:rPr sz="1900" b="0">
                <a:solidFill>
                  <a:srgbClr val="15241C"/>
                </a:solidFill>
                <a:latin typeface="Calibri"/>
              </a:rPr>
              <a:t> menjadi satu prediksi terpadu.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39855"/>
                </a:solidFill>
              </a:rPr>
              <a:t>▸  </a:t>
            </a:r>
            <a:r>
              <a:rPr sz="1900" b="0">
                <a:solidFill>
                  <a:srgbClr val="15241C"/>
                </a:solidFill>
                <a:latin typeface="Calibri"/>
              </a:rPr>
              <a:t>Mesin prediksi: </a:t>
            </a:r>
            <a:r>
              <a:rPr sz="1900" b="1">
                <a:solidFill>
                  <a:srgbClr val="15241C"/>
                </a:solidFill>
                <a:latin typeface="Calibri"/>
              </a:rPr>
              <a:t>Random Forest</a:t>
            </a:r>
            <a:r>
              <a:rPr sz="1900" b="0">
                <a:solidFill>
                  <a:srgbClr val="15241C"/>
                </a:solidFill>
                <a:latin typeface="Calibri"/>
              </a:rPr>
              <a:t> (akurasi 88,40%, kategori Excellent).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39855"/>
                </a:solidFill>
              </a:rPr>
              <a:t>▸  </a:t>
            </a:r>
            <a:r>
              <a:rPr sz="1900" b="0">
                <a:solidFill>
                  <a:srgbClr val="15241C"/>
                </a:solidFill>
                <a:latin typeface="Calibri"/>
              </a:rPr>
              <a:t>Berjalan </a:t>
            </a:r>
            <a:r>
              <a:rPr sz="1900" b="1">
                <a:solidFill>
                  <a:srgbClr val="15241C"/>
                </a:solidFill>
                <a:latin typeface="Calibri"/>
              </a:rPr>
              <a:t>100% di peramban</a:t>
            </a:r>
            <a:r>
              <a:rPr sz="1900" b="0">
                <a:solidFill>
                  <a:srgbClr val="15241C"/>
                </a:solidFill>
                <a:latin typeface="Calibri"/>
              </a:rPr>
              <a:t> pengguna — gratis, cepat, dapat luring.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39855"/>
                </a:solidFill>
              </a:rPr>
              <a:t>▸  </a:t>
            </a:r>
            <a:r>
              <a:rPr sz="1900" b="1">
                <a:solidFill>
                  <a:srgbClr val="15241C"/>
                </a:solidFill>
                <a:latin typeface="Calibri"/>
              </a:rPr>
              <a:t>Privasi</a:t>
            </a:r>
            <a:r>
              <a:rPr sz="1900" b="0">
                <a:solidFill>
                  <a:srgbClr val="15241C"/>
                </a:solidFill>
                <a:latin typeface="Calibri"/>
              </a:rPr>
              <a:t>: data anak tidak dikirim ke server (penting untuk etika kesehatan).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39855"/>
                </a:solidFill>
              </a:rPr>
              <a:t>▸  </a:t>
            </a:r>
            <a:r>
              <a:rPr sz="1900" b="0">
                <a:solidFill>
                  <a:srgbClr val="15241C"/>
                </a:solidFill>
                <a:latin typeface="Calibri"/>
              </a:rPr>
              <a:t>Output: status gizi + tingkat keyakinan + Z-Score WHO + rekomendasi tindak lanjut.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FITUR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Tujuh faktor masukan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Tinggi badan</a:t>
            </a:r>
            <a:r>
              <a:rPr sz="1800" b="0">
                <a:solidFill>
                  <a:srgbClr val="15241C"/>
                </a:solidFill>
                <a:latin typeface="Calibri"/>
              </a:rPr>
              <a:t> (cm) — indikator utama (HAZ)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Umur</a:t>
            </a:r>
            <a:r>
              <a:rPr sz="1800" b="0">
                <a:solidFill>
                  <a:srgbClr val="15241C"/>
                </a:solidFill>
                <a:latin typeface="Calibri"/>
              </a:rPr>
              <a:t> (bulan) — acuan standar WHO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Berat badan</a:t>
            </a:r>
            <a:r>
              <a:rPr sz="1800" b="0">
                <a:solidFill>
                  <a:srgbClr val="15241C"/>
                </a:solidFill>
                <a:latin typeface="Calibri"/>
              </a:rPr>
              <a:t> (kg) — Weight-for-Age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Jenis kelamin</a:t>
            </a:r>
            <a:r>
              <a:rPr sz="1800" b="0">
                <a:solidFill>
                  <a:srgbClr val="15241C"/>
                </a:solidFill>
                <a:latin typeface="Calibri"/>
              </a:rPr>
              <a:t> — standar L/P berbeda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Jarak kehamilan</a:t>
            </a:r>
            <a:r>
              <a:rPr sz="1800" b="0">
                <a:solidFill>
                  <a:srgbClr val="15241C"/>
                </a:solidFill>
                <a:latin typeface="Calibri"/>
              </a:rPr>
              <a:t> (bln) — ideal &gt;24 (BKKBN 4T)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Usia ibu menikah</a:t>
            </a:r>
            <a:r>
              <a:rPr sz="1800" b="0">
                <a:solidFill>
                  <a:srgbClr val="15241C"/>
                </a:solidFill>
                <a:latin typeface="Calibri"/>
              </a:rPr>
              <a:t> (thn) — dini &lt;20 = risiko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Gizi ibu saat hamil</a:t>
            </a:r>
            <a:r>
              <a:rPr sz="1800" b="0">
                <a:solidFill>
                  <a:srgbClr val="15241C"/>
                </a:solidFill>
                <a:latin typeface="Calibri"/>
              </a:rPr>
              <a:t> — Baik/Sedang/Buruk (KEK)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Random Forest — bagaimana ia bekerja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Ensemble</a:t>
            </a:r>
            <a:r>
              <a:rPr sz="1700" b="0">
                <a:solidFill>
                  <a:srgbClr val="15241C"/>
                </a:solidFill>
                <a:latin typeface="Calibri"/>
              </a:rPr>
              <a:t> dari </a:t>
            </a:r>
            <a:r>
              <a:rPr sz="1700" b="1">
                <a:solidFill>
                  <a:srgbClr val="15241C"/>
                </a:solidFill>
                <a:latin typeface="Calibri"/>
              </a:rPr>
              <a:t>120 pohon keputusan</a:t>
            </a:r>
            <a:r>
              <a:rPr sz="1700" b="0">
                <a:solidFill>
                  <a:srgbClr val="15241C"/>
                </a:solidFill>
                <a:latin typeface="Calibri"/>
              </a:rPr>
              <a:t> (Breiman, 2001).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Bagging</a:t>
            </a:r>
            <a:r>
              <a:rPr sz="1700" b="0">
                <a:solidFill>
                  <a:srgbClr val="15241C"/>
                </a:solidFill>
                <a:latin typeface="Calibri"/>
              </a:rPr>
              <a:t>: tiap pohon dilatih pada subsampel acak (bootstrap), tiap percabangan memakai sebagian fitur acak.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Prediksi akhir = </a:t>
            </a:r>
            <a:r>
              <a:rPr sz="1700" b="1">
                <a:solidFill>
                  <a:srgbClr val="15241C"/>
                </a:solidFill>
                <a:latin typeface="Calibri"/>
              </a:rPr>
              <a:t>rata-rata probabilitas</a:t>
            </a:r>
            <a:r>
              <a:rPr sz="1700" b="0">
                <a:solidFill>
                  <a:srgbClr val="15241C"/>
                </a:solidFill>
                <a:latin typeface="Calibri"/>
              </a:rPr>
              <a:t> semua pohon (soft voting).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Hasil: akurat &amp; </a:t>
            </a:r>
            <a:r>
              <a:rPr sz="1700" b="1">
                <a:solidFill>
                  <a:srgbClr val="15241C"/>
                </a:solidFill>
                <a:latin typeface="Calibri"/>
              </a:rPr>
              <a:t>tahan overfitting</a:t>
            </a:r>
            <a:r>
              <a:rPr sz="17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Dipilih karena: menangani fitur numerik+kategorikal tanpa scaling, dan memberi </a:t>
            </a:r>
            <a:r>
              <a:rPr sz="1700" b="1">
                <a:solidFill>
                  <a:srgbClr val="15241C"/>
                </a:solidFill>
                <a:latin typeface="Calibri"/>
              </a:rPr>
              <a:t>feature importance</a:t>
            </a:r>
            <a:r>
              <a:rPr sz="1700" b="0">
                <a:solidFill>
                  <a:srgbClr val="15241C"/>
                </a:solidFill>
                <a:latin typeface="Calibri"/>
              </a:rPr>
              <a:t> (dapat ditafsirkan/transparan).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468880"/>
            <a:ext cx="1051560" cy="23774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0" y="2468880"/>
            <a:ext cx="105156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200400"/>
            <a:ext cx="1051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39855"/>
                </a:solidFill>
                <a:latin typeface="Calibri"/>
              </a:rPr>
              <a:t>Tree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19" y="2468880"/>
            <a:ext cx="1051560" cy="23774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89719" y="2468880"/>
            <a:ext cx="105156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19" y="3200400"/>
            <a:ext cx="1051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39855"/>
                </a:solidFill>
                <a:latin typeface="Calibri"/>
              </a:rPr>
              <a:t>Tree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468880"/>
            <a:ext cx="1051560" cy="23774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0" y="2468880"/>
            <a:ext cx="1051560" cy="7315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3200400"/>
            <a:ext cx="1051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39855"/>
                </a:solidFill>
                <a:latin typeface="Calibri"/>
              </a:rPr>
              <a:t>Tree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83480"/>
            <a:ext cx="3703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4B5563"/>
                </a:solidFill>
                <a:latin typeface="Calibri"/>
              </a:rPr>
              <a:t>120 pohon → voting → 1 prediksi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INTI ALGORITMA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Random Forest — pelatihan &amp; konfigurasi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Dataset </a:t>
            </a:r>
            <a:r>
              <a:rPr sz="1800" b="1">
                <a:solidFill>
                  <a:srgbClr val="15241C"/>
                </a:solidFill>
                <a:latin typeface="Calibri"/>
              </a:rPr>
              <a:t>25.000 sampel</a:t>
            </a:r>
            <a:r>
              <a:rPr sz="1800" b="0">
                <a:solidFill>
                  <a:srgbClr val="15241C"/>
                </a:solidFill>
                <a:latin typeface="Calibri"/>
              </a:rPr>
              <a:t> · split </a:t>
            </a:r>
            <a:r>
              <a:rPr sz="1800" b="1">
                <a:solidFill>
                  <a:srgbClr val="15241C"/>
                </a:solidFill>
                <a:latin typeface="Calibri"/>
              </a:rPr>
              <a:t>80:20</a:t>
            </a:r>
            <a:r>
              <a:rPr sz="18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120 trees</a:t>
            </a:r>
            <a:r>
              <a:rPr sz="1800" b="0">
                <a:solidFill>
                  <a:srgbClr val="15241C"/>
                </a:solidFill>
                <a:latin typeface="Calibri"/>
              </a:rPr>
              <a:t>, max depth </a:t>
            </a:r>
            <a:r>
              <a:rPr sz="1800" b="1">
                <a:solidFill>
                  <a:srgbClr val="15241C"/>
                </a:solidFill>
                <a:latin typeface="Calibri"/>
              </a:rPr>
              <a:t>14</a:t>
            </a:r>
            <a:r>
              <a:rPr sz="1800" b="0">
                <a:solidFill>
                  <a:srgbClr val="15241C"/>
                </a:solidFill>
                <a:latin typeface="Calibri"/>
              </a:rPr>
              <a:t>, scikit-learn.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Encoding kategorikal (Label Encoding).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4 kelas: Normal, Stunted, Severely Stunted, Tinggi.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303520" cy="2286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5029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CE9A6"/>
                </a:solidFill>
                <a:latin typeface="Calibri"/>
              </a:rPr>
              <a:t>rf = RandomForestClassifier(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n_estimators=120,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max_depth=14)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rf.fit(X_train, y_train)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CE9A6"/>
                </a:solidFill>
                <a:latin typeface="Calibri"/>
              </a:rPr>
              <a:t>rf.predict_proba(X_test)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4B5563"/>
                </a:solidFill>
                <a:latin typeface="Calibri"/>
              </a:rPr>
              <a:t>Kode inti pelatihan (Python / scikit-learn)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Performa model (data uji 5.000 sampel)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60604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59152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88,40%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90672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Accuracy (Excellent ≥85%)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103120"/>
            <a:ext cx="260604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10312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59152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83,56%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90672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F1-Score (macro)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103120"/>
            <a:ext cx="260604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10312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359152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87,31%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90672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Cross-Validation (5-fold)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2103120"/>
            <a:ext cx="2606040" cy="155448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210312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2359152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39855"/>
                </a:solidFill>
                <a:latin typeface="Calibri"/>
              </a:rPr>
              <a:t>1,83%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090672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Disparitas gender (&lt;5%)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Precision 81,59% · Recall 85,93% (macro).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Kesalahan utama antar kelas </a:t>
            </a:r>
            <a:r>
              <a:rPr sz="1700" b="1">
                <a:solidFill>
                  <a:srgbClr val="15241C"/>
                </a:solidFill>
                <a:latin typeface="Calibri"/>
              </a:rPr>
              <a:t>bertetangga</a:t>
            </a:r>
            <a:r>
              <a:rPr sz="1700" b="0">
                <a:solidFill>
                  <a:srgbClr val="15241C"/>
                </a:solidFill>
                <a:latin typeface="Calibri"/>
              </a:rPr>
              <a:t> (Stunted ↔ Severely Stunted) — wajar, batas kontinu.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HASIL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Faktor paling berpengaruh (feature importance)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Tinggi badan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103120"/>
            <a:ext cx="7772400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0" y="205740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50.6%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8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Umur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670048"/>
            <a:ext cx="4408456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4616" y="2624328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28.7%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91256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Berat badan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236976"/>
            <a:ext cx="1459245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5405" y="3191256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58184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Jarak kehamilan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803904"/>
            <a:ext cx="660500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6660" y="3758184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25112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Usia ibu menikah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4370832"/>
            <a:ext cx="645139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1299" y="4325112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4.2%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9204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Gizi ibu hamil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4937760"/>
            <a:ext cx="230407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6567" y="48920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58968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241C"/>
                </a:solidFill>
                <a:latin typeface="Calibri"/>
              </a:rPr>
              <a:t>Jenis kelamin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5504688"/>
            <a:ext cx="199686" cy="25603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5846" y="5458968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5563"/>
                </a:solidFill>
                <a:latin typeface="Calibri"/>
              </a:rPr>
              <a:t>1.3%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4B5563"/>
                </a:solidFill>
                <a:latin typeface="Calibri"/>
              </a:rPr>
              <a:t>Tinggi badan &amp; umur mendominasi — konsisten dengan definisi HAZ.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Keadilan, transparansi &amp; privasi (LO6)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Fairness</a:t>
            </a:r>
            <a:r>
              <a:rPr sz="1800" b="0">
                <a:solidFill>
                  <a:srgbClr val="15241C"/>
                </a:solidFill>
                <a:latin typeface="Calibri"/>
              </a:rPr>
              <a:t>: disparitas akurasi gender 1,83% (&lt; ambang 5%).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Transparansi</a:t>
            </a:r>
            <a:r>
              <a:rPr sz="1800" b="0">
                <a:solidFill>
                  <a:srgbClr val="15241C"/>
                </a:solidFill>
                <a:latin typeface="Calibri"/>
              </a:rPr>
              <a:t>: confidence, probabilitas tiap kelas, Z-Score, catatan risiko — bukan kotak hitam.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Privasi</a:t>
            </a:r>
            <a:r>
              <a:rPr sz="1800" b="0">
                <a:solidFill>
                  <a:srgbClr val="15241C"/>
                </a:solidFill>
                <a:latin typeface="Calibri"/>
              </a:rPr>
              <a:t>: inferensi di perangkat; data tidak dikirim ke server.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Keamanan</a:t>
            </a:r>
            <a:r>
              <a:rPr sz="1800" b="0">
                <a:solidFill>
                  <a:srgbClr val="15241C"/>
                </a:solidFill>
                <a:latin typeface="Calibri"/>
              </a:rPr>
              <a:t>: disclaimer jelas — skrining awal, BUKAN diagnosis medis.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1">
                <a:solidFill>
                  <a:srgbClr val="15241C"/>
                </a:solidFill>
                <a:latin typeface="Calibri"/>
              </a:rPr>
              <a:t>Jujur</a:t>
            </a:r>
            <a:r>
              <a:rPr sz="1800" b="0">
                <a:solidFill>
                  <a:srgbClr val="15241C"/>
                </a:solidFill>
                <a:latin typeface="Calibri"/>
              </a:rPr>
              <a:t>: modul foto diberi label eksperimental &amp; pengaruhnya dibatasi.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REKAYASA PERANGKAT LUNAK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Dari Streamlit ke web modern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Purwarupa awal: </a:t>
            </a:r>
            <a:r>
              <a:rPr sz="1800" b="1">
                <a:solidFill>
                  <a:srgbClr val="15241C"/>
                </a:solidFill>
                <a:latin typeface="Calibri"/>
              </a:rPr>
              <a:t>Streamlit</a:t>
            </a:r>
            <a:r>
              <a:rPr sz="1800" b="0">
                <a:solidFill>
                  <a:srgbClr val="15241C"/>
                </a:solidFill>
                <a:latin typeface="Calibri"/>
              </a:rPr>
              <a:t> (Python) — UI demo terbatas &amp; butuh </a:t>
            </a:r>
            <a:r>
              <a:rPr sz="1800" b="1">
                <a:solidFill>
                  <a:srgbClr val="15241C"/>
                </a:solidFill>
                <a:latin typeface="Calibri"/>
              </a:rPr>
              <a:t>server</a:t>
            </a:r>
            <a:r>
              <a:rPr sz="18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Streamlit </a:t>
            </a:r>
            <a:r>
              <a:rPr sz="1800" b="1">
                <a:solidFill>
                  <a:srgbClr val="15241C"/>
                </a:solidFill>
                <a:latin typeface="Calibri"/>
              </a:rPr>
              <a:t>tidak bisa</a:t>
            </a:r>
            <a:r>
              <a:rPr sz="1800" b="0">
                <a:solidFill>
                  <a:srgbClr val="15241C"/>
                </a:solidFill>
                <a:latin typeface="Calibri"/>
              </a:rPr>
              <a:t> di Cloudflare Pages (statis) → perlu dibangun ulang.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Solusi: konversi model </a:t>
            </a:r>
            <a:r>
              <a:rPr sz="1800" b="1">
                <a:solidFill>
                  <a:srgbClr val="15241C"/>
                </a:solidFill>
                <a:latin typeface="Calibri"/>
              </a:rPr>
              <a:t>.pkl → ONNX</a:t>
            </a:r>
            <a:r>
              <a:rPr sz="1800" b="0">
                <a:solidFill>
                  <a:srgbClr val="15241C"/>
                </a:solidFill>
                <a:latin typeface="Calibri"/>
              </a:rPr>
              <a:t> (parity terverifikasi, galat 3,4×10⁻⁷).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Frontend baru: </a:t>
            </a:r>
            <a:r>
              <a:rPr sz="1800" b="1">
                <a:solidFill>
                  <a:srgbClr val="15241C"/>
                </a:solidFill>
                <a:latin typeface="Calibri"/>
              </a:rPr>
              <a:t>React + Vite + TypeScript + Tailwind</a:t>
            </a:r>
            <a:r>
              <a:rPr sz="1800" b="0">
                <a:solidFill>
                  <a:srgbClr val="15241C"/>
                </a:solidFill>
                <a:latin typeface="Calibri"/>
              </a:rPr>
              <a:t> (komponen shadcn-style).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Bug “Page Unresponsive” diperbaiki: inferensi dipindah ke </a:t>
            </a:r>
            <a:r>
              <a:rPr sz="1800" b="1">
                <a:solidFill>
                  <a:srgbClr val="15241C"/>
                </a:solidFill>
                <a:latin typeface="Calibri"/>
              </a:rPr>
              <a:t>Web Worker</a:t>
            </a:r>
            <a:r>
              <a:rPr sz="1800" b="0">
                <a:solidFill>
                  <a:srgbClr val="15241C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ARSITEKTUR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Arsitektur: inferensi di peramban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1. Input 7 faktor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Form data anak + ibu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37744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37744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60604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2. Web Worker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0040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ONNX Runtime Web (WASM)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7744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37744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3. 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0040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Inferensi mikrodetik di perangkat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2377440"/>
            <a:ext cx="2606040" cy="18288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2377440"/>
            <a:ext cx="2606040" cy="82296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60604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4.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00400"/>
            <a:ext cx="2331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B5563"/>
                </a:solidFill>
                <a:latin typeface="Calibri"/>
              </a:rPr>
              <a:t>Status + keyakinan + rekomendasi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WASM single-thread → tanpa header COOP/COEP, mudah di-deploy &amp; </a:t>
            </a:r>
            <a:r>
              <a:rPr sz="1600" b="1">
                <a:solidFill>
                  <a:srgbClr val="15241C"/>
                </a:solidFill>
                <a:latin typeface="Calibri"/>
              </a:rPr>
              <a:t>luring</a:t>
            </a:r>
            <a:r>
              <a:rPr sz="1600" b="0">
                <a:solidFill>
                  <a:srgbClr val="15241C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39855"/>
                </a:solidFill>
              </a:rPr>
              <a:t>▸  </a:t>
            </a:r>
            <a:r>
              <a:rPr sz="1600" b="0">
                <a:solidFill>
                  <a:srgbClr val="15241C"/>
                </a:solidFill>
                <a:latin typeface="Calibri"/>
              </a:rPr>
              <a:t>Transfer pertama ±5 MB (model+runtime), lalu di-cache.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PENGAYAAN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Modul opsional: Analisis Foto AI (eksperimental)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MediaPipe Pose</a:t>
            </a:r>
            <a:r>
              <a:rPr sz="1700" b="0">
                <a:solidFill>
                  <a:srgbClr val="15241C"/>
                </a:solidFill>
                <a:latin typeface="Calibri"/>
              </a:rPr>
              <a:t> (33 titik) + </a:t>
            </a:r>
            <a:r>
              <a:rPr sz="1700" b="1">
                <a:solidFill>
                  <a:srgbClr val="15241C"/>
                </a:solidFill>
                <a:latin typeface="Calibri"/>
              </a:rPr>
              <a:t>segmentation mask</a:t>
            </a:r>
            <a:r>
              <a:rPr sz="1700" b="0">
                <a:solidFill>
                  <a:srgbClr val="15241C"/>
                </a:solidFill>
                <a:latin typeface="Calibri"/>
              </a:rPr>
              <a:t>, berjalan di perangkat.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Mengukur </a:t>
            </a:r>
            <a:r>
              <a:rPr sz="1700" b="1">
                <a:solidFill>
                  <a:srgbClr val="15241C"/>
                </a:solidFill>
                <a:latin typeface="Calibri"/>
              </a:rPr>
              <a:t>ketebalan/panjang</a:t>
            </a:r>
            <a:r>
              <a:rPr sz="1700" b="0">
                <a:solidFill>
                  <a:srgbClr val="15241C"/>
                </a:solidFill>
                <a:latin typeface="Calibri"/>
              </a:rPr>
              <a:t> tiap anggota tubuh → estimasi proporsi (kurus/normal/gemuk).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Bersifat </a:t>
            </a:r>
            <a:r>
              <a:rPr sz="1700" b="1">
                <a:solidFill>
                  <a:srgbClr val="15241C"/>
                </a:solidFill>
                <a:latin typeface="Calibri"/>
              </a:rPr>
              <a:t>scale- &amp; pose-invariant</a:t>
            </a:r>
            <a:r>
              <a:rPr sz="1700" b="0">
                <a:solidFill>
                  <a:srgbClr val="15241C"/>
                </a:solidFill>
                <a:latin typeface="Calibri"/>
              </a:rPr>
              <a:t> (berdiri, duduk, berbaring).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1">
                <a:solidFill>
                  <a:srgbClr val="15241C"/>
                </a:solidFill>
                <a:latin typeface="Calibri"/>
              </a:rPr>
              <a:t>Jujur</a:t>
            </a:r>
            <a:r>
              <a:rPr sz="1700" b="0">
                <a:solidFill>
                  <a:srgbClr val="15241C"/>
                </a:solidFill>
                <a:latin typeface="Calibri"/>
              </a:rPr>
              <a:t>: foto 2D tak bisa ukur tinggi → bukan fitur RF; hanya </a:t>
            </a:r>
            <a:r>
              <a:rPr sz="1700" b="1">
                <a:solidFill>
                  <a:srgbClr val="15241C"/>
                </a:solidFill>
                <a:latin typeface="Calibri"/>
              </a:rPr>
              <a:t>late-fusion</a:t>
            </a:r>
            <a:r>
              <a:rPr sz="1700" b="0">
                <a:solidFill>
                  <a:srgbClr val="15241C"/>
                </a:solidFill>
                <a:latin typeface="Calibri"/>
              </a:rPr>
              <a:t> transparan (maks ±10 poin, tampil sebelum→sesudah).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39855"/>
                </a:solidFill>
              </a:rPr>
              <a:t>▸  </a:t>
            </a:r>
            <a:r>
              <a:rPr sz="1700" b="0">
                <a:solidFill>
                  <a:srgbClr val="15241C"/>
                </a:solidFill>
                <a:latin typeface="Calibri"/>
              </a:rPr>
              <a:t>Random Forest </a:t>
            </a:r>
            <a:r>
              <a:rPr sz="1700" b="1">
                <a:solidFill>
                  <a:srgbClr val="15241C"/>
                </a:solidFill>
                <a:latin typeface="Calibri"/>
              </a:rPr>
              <a:t>tidak dilatih ulang</a:t>
            </a:r>
            <a:r>
              <a:rPr sz="1700" b="0">
                <a:solidFill>
                  <a:srgbClr val="15241C"/>
                </a:solidFill>
                <a:latin typeface="Calibri"/>
              </a:rPr>
              <a:t> — tidak ada klaim palsu.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548640" cy="82296"/>
          </a:xfrm>
          <a:prstGeom prst="rect">
            <a:avLst/>
          </a:prstGeom>
          <a:solidFill>
            <a:srgbClr val="6CE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39855"/>
                </a:solidFill>
                <a:latin typeface="Calibri"/>
              </a:rPr>
              <a:t>IMPLEMENTASI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5312A"/>
                </a:solidFill>
                <a:latin typeface="Calibri"/>
              </a:rPr>
              <a:t>Demo &amp;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Live di </a:t>
            </a:r>
            <a:r>
              <a:rPr sz="1800" b="1">
                <a:solidFill>
                  <a:srgbClr val="15241C"/>
                </a:solidFill>
                <a:latin typeface="Calibri"/>
              </a:rPr>
              <a:t>Cloudflare Pages</a:t>
            </a:r>
            <a:r>
              <a:rPr sz="1800" b="0">
                <a:solidFill>
                  <a:srgbClr val="15241C"/>
                </a:solidFill>
                <a:latin typeface="Calibri"/>
              </a:rPr>
              <a:t> (statis, gratis, HTTPS otomatis).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URL: </a:t>
            </a:r>
            <a:r>
              <a:rPr sz="1800" b="1">
                <a:solidFill>
                  <a:srgbClr val="15241C"/>
                </a:solidFill>
                <a:latin typeface="Calibri"/>
              </a:rPr>
              <a:t>machinelearning-ai.pages.dev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Build: Root = web · Build command = npm run build · Output = dist.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39855"/>
                </a:solidFill>
              </a:rPr>
              <a:t>▸  </a:t>
            </a:r>
            <a:r>
              <a:rPr sz="1800" b="0">
                <a:solidFill>
                  <a:srgbClr val="15241C"/>
                </a:solidFill>
                <a:latin typeface="Calibri"/>
              </a:rPr>
              <a:t>Repositori: github.com/steffenkwik/machinelearning-ai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5312A"/>
                </a:solidFill>
                <a:latin typeface="Calibri"/>
              </a:rPr>
              <a:t>Demo langsung: isi 7 faktor → Analisis → hasil tampil seketika (offline).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39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CE9A6"/>
                </a:solidFill>
                <a:latin typeface="Calibri"/>
              </a:rP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1">
                <a:solidFill>
                  <a:srgbClr val="FFFFFF"/>
                </a:solidFill>
              </a:rPr>
              <a:t>Random Forest 88,40%</a:t>
            </a:r>
            <a:r>
              <a:rPr sz="1900" b="0">
                <a:solidFill>
                  <a:srgbClr val="FFFFFF"/>
                </a:solidFill>
              </a:rPr>
              <a:t> (Excellent) menggabungkan 7 faktor penyebab stunting.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Model asli berjalan </a:t>
            </a:r>
            <a:r>
              <a:rPr sz="1900" b="1">
                <a:solidFill>
                  <a:srgbClr val="FFFFFF"/>
                </a:solidFill>
              </a:rPr>
              <a:t>100% di peramban</a:t>
            </a:r>
            <a:r>
              <a:rPr sz="1900" b="0">
                <a:solidFill>
                  <a:srgbClr val="FFFFFF"/>
                </a:solidFill>
              </a:rPr>
              <a:t> via ONNX — gratis, cepat, luring, privat.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Mengatasi keterbatasan Streamlit &amp; bug freeze; transparan dan etis (SDG #3).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6CE9A6"/>
                </a:solidFill>
              </a:rPr>
              <a:t>▸  </a:t>
            </a:r>
            <a:r>
              <a:rPr sz="1900" b="0">
                <a:solidFill>
                  <a:srgbClr val="FFFFFF"/>
                </a:solidFill>
              </a:rPr>
              <a:t>Layak sebagai </a:t>
            </a:r>
            <a:r>
              <a:rPr sz="1900" b="1">
                <a:solidFill>
                  <a:srgbClr val="FFFFFF"/>
                </a:solidFill>
              </a:rPr>
              <a:t>alat skrining awal</a:t>
            </a:r>
            <a:r>
              <a:rPr sz="1900" b="0">
                <a:solidFill>
                  <a:srgbClr val="FFFFFF"/>
                </a:solidFill>
              </a:rPr>
              <a:t>; lanjutan: validasi klinis modul foto.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Terima kasih.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CE9A6"/>
                </a:solidFill>
                <a:latin typeface="Calibri"/>
              </a:rPr>
              <a:t>Daniel Steffen K · NIM 2602071171 · BINUS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