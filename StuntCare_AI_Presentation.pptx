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640080" cy="100584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CE9A6"/>
                </a:solidFill>
                <a:latin typeface="Calibri"/>
              </a:rPr>
              <a:t>SDG #3 · GOOD HEALTH AND WELL-BEING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StuntCare AI</a:t>
            </a:r>
          </a:p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EAF7F0"/>
                </a:solidFill>
                <a:latin typeface="Calibri"/>
              </a:rPr>
              <a:t>Deteksi Dini Risiko Stunting Balita Berbasis Random Forest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EAF7F0"/>
                </a:solidFill>
                <a:latin typeface="Calibri"/>
              </a:rPr>
              <a:t>divalidasi pada dataset nyata Indonesia · berjalan di peramban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Daniel Steffen K  ·  NIM 2602071171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CE9A6"/>
                </a:solidFill>
                <a:latin typeface="Calibri"/>
              </a:rPr>
              <a:t>Artificial Intelligence (COMP6065001) · LA05-LEC · BINUS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548640" cy="82296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LATAR BELAKANG &amp; KEBUTUHAN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5312A"/>
                </a:solidFill>
                <a:latin typeface="Calibri"/>
              </a:rPr>
              <a:t>Stunting: masalah nyata &amp; mendesak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6675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39855"/>
                </a:solidFill>
              </a:rPr>
              <a:t>▸  </a:t>
            </a:r>
            <a:r>
              <a:rPr sz="1500" b="0">
                <a:solidFill>
                  <a:srgbClr val="15241C"/>
                </a:solidFill>
                <a:latin typeface="Calibri"/>
              </a:rPr>
              <a:t>Prevalensi stunting Indonesia </a:t>
            </a:r>
            <a:r>
              <a:rPr sz="1500" b="1">
                <a:solidFill>
                  <a:srgbClr val="15241C"/>
                </a:solidFill>
                <a:latin typeface="Calibri"/>
              </a:rPr>
              <a:t>21,5%</a:t>
            </a:r>
            <a:r>
              <a:rPr sz="1500" b="0">
                <a:solidFill>
                  <a:srgbClr val="15241C"/>
                </a:solidFill>
                <a:latin typeface="Calibri"/>
              </a:rPr>
              <a:t> (SKI/SSGI 2023) — </a:t>
            </a:r>
            <a:r>
              <a:rPr sz="1500" b="1">
                <a:solidFill>
                  <a:srgbClr val="15241C"/>
                </a:solidFill>
                <a:latin typeface="Calibri"/>
              </a:rPr>
              <a:t>1 dari 5 balita</a:t>
            </a:r>
            <a:r>
              <a:rPr sz="1500" b="0">
                <a:solidFill>
                  <a:srgbClr val="15241C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39855"/>
                </a:solidFill>
              </a:rPr>
              <a:t>▸  </a:t>
            </a:r>
            <a:r>
              <a:rPr sz="1500" b="0">
                <a:solidFill>
                  <a:srgbClr val="15241C"/>
                </a:solidFill>
                <a:latin typeface="Calibri"/>
              </a:rPr>
              <a:t>Masih jauh dari </a:t>
            </a:r>
            <a:r>
              <a:rPr sz="1500" b="1">
                <a:solidFill>
                  <a:srgbClr val="15241C"/>
                </a:solidFill>
                <a:latin typeface="Calibri"/>
              </a:rPr>
              <a:t>target nasional 14%</a:t>
            </a:r>
            <a:r>
              <a:rPr sz="1500" b="0">
                <a:solidFill>
                  <a:srgbClr val="15241C"/>
                </a:solidFill>
                <a:latin typeface="Calibri"/>
              </a:rPr>
              <a:t> (Perpres 72/2021); Riskesdas 2018: 30,8%.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39855"/>
                </a:solidFill>
              </a:rPr>
              <a:t>▸  </a:t>
            </a:r>
            <a:r>
              <a:rPr sz="1500" b="0">
                <a:solidFill>
                  <a:srgbClr val="15241C"/>
                </a:solidFill>
                <a:latin typeface="Calibri"/>
              </a:rPr>
              <a:t>Dampak permanen: kecerdasan (IQ), imunitas, prestasi, produktivitas dewasa.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39855"/>
                </a:solidFill>
              </a:rPr>
              <a:t>▸  </a:t>
            </a:r>
            <a:r>
              <a:rPr sz="1500" b="0">
                <a:solidFill>
                  <a:srgbClr val="15241C"/>
                </a:solidFill>
                <a:latin typeface="Calibri"/>
              </a:rPr>
              <a:t>Kerugian ekonomi </a:t>
            </a:r>
            <a:r>
              <a:rPr sz="1500" b="1">
                <a:solidFill>
                  <a:srgbClr val="15241C"/>
                </a:solidFill>
                <a:latin typeface="Calibri"/>
              </a:rPr>
              <a:t>2–3% PDB/tahun</a:t>
            </a:r>
            <a:r>
              <a:rPr sz="1500" b="0">
                <a:solidFill>
                  <a:srgbClr val="15241C"/>
                </a:solidFill>
                <a:latin typeface="Calibri"/>
              </a:rPr>
              <a:t> (Bank Dunia/Bappenas).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39855"/>
                </a:solidFill>
              </a:rPr>
              <a:t>▸  </a:t>
            </a:r>
            <a:r>
              <a:rPr sz="1500" b="0">
                <a:solidFill>
                  <a:srgbClr val="15241C"/>
                </a:solidFill>
                <a:latin typeface="Calibri"/>
              </a:rPr>
              <a:t>Periode kritis hanya </a:t>
            </a:r>
            <a:r>
              <a:rPr sz="1500" b="1">
                <a:solidFill>
                  <a:srgbClr val="15241C"/>
                </a:solidFill>
                <a:latin typeface="Calibri"/>
              </a:rPr>
              <a:t>1000 Hari Pertama Kehidupan</a:t>
            </a:r>
            <a:r>
              <a:rPr sz="1500" b="0">
                <a:solidFill>
                  <a:srgbClr val="15241C"/>
                </a:solidFill>
                <a:latin typeface="Calibri"/>
              </a:rPr>
              <a:t> → telat deteksi = rugi besar.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691640"/>
            <a:ext cx="3840480" cy="141732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691640"/>
            <a:ext cx="3840480" cy="82296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911096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39855"/>
                </a:solidFill>
                <a:latin typeface="Calibri"/>
              </a:rPr>
              <a:t>21,5%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58775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Prevalensi (SKI 2023)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3246120"/>
            <a:ext cx="3840480" cy="141732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3246120"/>
            <a:ext cx="3840480" cy="82296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465576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39855"/>
                </a:solidFill>
                <a:latin typeface="Calibri"/>
              </a:rPr>
              <a:t>14%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14223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Target nasional 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4800600"/>
            <a:ext cx="3840480" cy="141732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4800600"/>
            <a:ext cx="3840480" cy="82296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5020056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39855"/>
                </a:solidFill>
                <a:latin typeface="Calibri"/>
              </a:rPr>
              <a:t>2–3%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69671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Kerugian PDB/tahun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548640" cy="82296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IDENTIFIKASI MASALAH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5312A"/>
                </a:solidFill>
                <a:latin typeface="Calibri"/>
              </a:rPr>
              <a:t>Kebutuhan &amp; pengaplikasian yang nyata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39855"/>
                </a:solidFill>
              </a:rPr>
              <a:t>▸  </a:t>
            </a:r>
            <a:r>
              <a:rPr sz="1500" b="1">
                <a:solidFill>
                  <a:srgbClr val="15241C"/>
                </a:solidFill>
                <a:latin typeface="Calibri"/>
              </a:rPr>
              <a:t>Kesenjangan:</a:t>
            </a:r>
            <a:r>
              <a:rPr sz="1500" b="0">
                <a:solidFill>
                  <a:srgbClr val="15241C"/>
                </a:solidFill>
                <a:latin typeface="Calibri"/>
              </a:rPr>
              <a:t> skrining lapangan masih manual di posyandu, 1 indikator, dan kurang tenaga gizi — terutama di daerah 3T berinternet terbatas.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39855"/>
                </a:solidFill>
              </a:rPr>
              <a:t>▸  </a:t>
            </a:r>
            <a:r>
              <a:rPr sz="1500" b="0">
                <a:solidFill>
                  <a:srgbClr val="15241C"/>
                </a:solidFill>
                <a:latin typeface="Calibri"/>
              </a:rPr>
              <a:t>Belum ada alat skrining yang </a:t>
            </a:r>
            <a:r>
              <a:rPr sz="1500" b="1">
                <a:solidFill>
                  <a:srgbClr val="15241C"/>
                </a:solidFill>
                <a:latin typeface="Calibri"/>
              </a:rPr>
              <a:t>murah, cepat, luring, dan privat</a:t>
            </a:r>
            <a:r>
              <a:rPr sz="1500" b="0">
                <a:solidFill>
                  <a:srgbClr val="15241C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39855"/>
                </a:solidFill>
              </a:rPr>
              <a:t>▸  </a:t>
            </a:r>
            <a:r>
              <a:rPr sz="1500" b="1">
                <a:solidFill>
                  <a:srgbClr val="15241C"/>
                </a:solidFill>
                <a:latin typeface="Calibri"/>
              </a:rPr>
              <a:t>Kebutuhan ini nyata namun belum terpenuhi.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737360"/>
            <a:ext cx="5212080" cy="429768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737360"/>
            <a:ext cx="82296" cy="429768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847088"/>
            <a:ext cx="4846320" cy="4096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39855"/>
                </a:solidFill>
                <a:latin typeface="Calibri"/>
              </a:rPr>
              <a:t>Siapa yang memakai (use case nyata)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5241C"/>
                </a:solidFill>
                <a:latin typeface="Calibri"/>
              </a:rPr>
              <a:t>• Orang tua balita — skrining mandiri di rumah, bahkan tanpa internet.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5241C"/>
                </a:solidFill>
                <a:latin typeface="Calibri"/>
              </a:rPr>
              <a:t>• Kader posyandu — skrining cepat &amp; prioritas rujukan.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5241C"/>
                </a:solidFill>
                <a:latin typeface="Calibri"/>
              </a:rPr>
              <a:t>• Puskesmas / Dinas Kesehatan — deteksi dini &amp; penentuan sasaran intervensi.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5241C"/>
                </a:solidFill>
                <a:latin typeface="Calibri"/>
              </a:rPr>
              <a:t>• Edukasi keluarga — asisten tanya-jawab pencegahan stunting.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548640" cy="82296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GAGASAN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5312A"/>
                </a:solidFill>
                <a:latin typeface="Calibri"/>
              </a:rPr>
              <a:t>Solusi: prediksi cepat, di perangkat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39855"/>
                </a:solidFill>
              </a:rPr>
              <a:t>▸  </a:t>
            </a:r>
            <a:r>
              <a:rPr sz="1800" b="0">
                <a:solidFill>
                  <a:srgbClr val="15241C"/>
                </a:solidFill>
                <a:latin typeface="Calibri"/>
              </a:rPr>
              <a:t>Aplikasi web dengan mesin prediksi </a:t>
            </a:r>
            <a:r>
              <a:rPr sz="1800" b="1">
                <a:solidFill>
                  <a:srgbClr val="15241C"/>
                </a:solidFill>
                <a:latin typeface="Calibri"/>
              </a:rPr>
              <a:t>Random Forest</a:t>
            </a:r>
            <a:r>
              <a:rPr sz="1800" b="0">
                <a:solidFill>
                  <a:srgbClr val="15241C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9855"/>
                </a:solidFill>
              </a:rPr>
              <a:t>▸  </a:t>
            </a:r>
            <a:r>
              <a:rPr sz="1800" b="1">
                <a:solidFill>
                  <a:srgbClr val="15241C"/>
                </a:solidFill>
                <a:latin typeface="Calibri"/>
              </a:rPr>
              <a:t>Divalidasi pada dataset stunting balita NYATA Indonesia</a:t>
            </a:r>
            <a:r>
              <a:rPr sz="1800" b="0">
                <a:solidFill>
                  <a:srgbClr val="15241C"/>
                </a:solidFill>
                <a:latin typeface="Calibri"/>
              </a:rPr>
              <a:t> (55.367 sampel).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9855"/>
                </a:solidFill>
              </a:rPr>
              <a:t>▸  </a:t>
            </a:r>
            <a:r>
              <a:rPr sz="1800" b="0">
                <a:solidFill>
                  <a:srgbClr val="15241C"/>
                </a:solidFill>
                <a:latin typeface="Calibri"/>
              </a:rPr>
              <a:t>Berjalan </a:t>
            </a:r>
            <a:r>
              <a:rPr sz="1800" b="1">
                <a:solidFill>
                  <a:srgbClr val="15241C"/>
                </a:solidFill>
                <a:latin typeface="Calibri"/>
              </a:rPr>
              <a:t>100% di peramban</a:t>
            </a:r>
            <a:r>
              <a:rPr sz="1800" b="0">
                <a:solidFill>
                  <a:srgbClr val="15241C"/>
                </a:solidFill>
                <a:latin typeface="Calibri"/>
              </a:rPr>
              <a:t> — gratis, cepat, dapat luring, privat.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9855"/>
                </a:solidFill>
              </a:rPr>
              <a:t>▸  </a:t>
            </a:r>
            <a:r>
              <a:rPr sz="1800" b="0">
                <a:solidFill>
                  <a:srgbClr val="15241C"/>
                </a:solidFill>
                <a:latin typeface="Calibri"/>
              </a:rPr>
              <a:t>Output: status gizi + tingkat keyakinan + Z-Score WHO + rekomendasi.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548640" cy="82296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FITUR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5312A"/>
                </a:solidFill>
                <a:latin typeface="Calibri"/>
              </a:rPr>
              <a:t>Faktor masukan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39855"/>
                </a:solidFill>
              </a:rPr>
              <a:t>▸  </a:t>
            </a:r>
            <a:r>
              <a:rPr sz="1600" b="1">
                <a:solidFill>
                  <a:srgbClr val="15241C"/>
                </a:solidFill>
                <a:latin typeface="Calibri"/>
              </a:rPr>
              <a:t>Umur</a:t>
            </a:r>
            <a:r>
              <a:rPr sz="1600" b="0">
                <a:solidFill>
                  <a:srgbClr val="15241C"/>
                </a:solidFill>
                <a:latin typeface="Calibri"/>
              </a:rPr>
              <a:t> (bulan)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39855"/>
                </a:solidFill>
              </a:rPr>
              <a:t>▸  </a:t>
            </a:r>
            <a:r>
              <a:rPr sz="1600" b="1">
                <a:solidFill>
                  <a:srgbClr val="15241C"/>
                </a:solidFill>
                <a:latin typeface="Calibri"/>
              </a:rPr>
              <a:t>Jenis kelamin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39855"/>
                </a:solidFill>
              </a:rPr>
              <a:t>▸  </a:t>
            </a:r>
            <a:r>
              <a:rPr sz="1600" b="1">
                <a:solidFill>
                  <a:srgbClr val="15241C"/>
                </a:solidFill>
                <a:latin typeface="Calibri"/>
              </a:rPr>
              <a:t>Tinggi badan</a:t>
            </a:r>
            <a:r>
              <a:rPr sz="1600" b="0">
                <a:solidFill>
                  <a:srgbClr val="15241C"/>
                </a:solidFill>
                <a:latin typeface="Calibri"/>
              </a:rPr>
              <a:t> (cm) — indikator utama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39855"/>
                </a:solidFill>
              </a:rPr>
              <a:t>▸  </a:t>
            </a:r>
            <a:r>
              <a:rPr sz="1600" b="1">
                <a:solidFill>
                  <a:srgbClr val="15241C"/>
                </a:solidFill>
                <a:latin typeface="Calibri"/>
              </a:rPr>
              <a:t>Berat badan</a:t>
            </a:r>
            <a:r>
              <a:rPr sz="1600" b="0">
                <a:solidFill>
                  <a:srgbClr val="15241C"/>
                </a:solidFill>
                <a:latin typeface="Calibri"/>
              </a:rPr>
              <a:t> (kg)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8308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39855"/>
                </a:solidFill>
              </a:rPr>
              <a:t>▸  </a:t>
            </a:r>
            <a:r>
              <a:rPr sz="1600" b="1">
                <a:solidFill>
                  <a:srgbClr val="15241C"/>
                </a:solidFill>
                <a:latin typeface="Calibri"/>
              </a:rPr>
              <a:t>Jarak kehamilan</a:t>
            </a:r>
            <a:r>
              <a:rPr sz="1600" b="0">
                <a:solidFill>
                  <a:srgbClr val="15241C"/>
                </a:solidFill>
                <a:latin typeface="Calibri"/>
              </a:rPr>
              <a:t> (bulan)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39855"/>
                </a:solidFill>
              </a:rPr>
              <a:t>▸  </a:t>
            </a:r>
            <a:r>
              <a:rPr sz="1600" b="1">
                <a:solidFill>
                  <a:srgbClr val="15241C"/>
                </a:solidFill>
                <a:latin typeface="Calibri"/>
              </a:rPr>
              <a:t>Usia ibu menikah</a:t>
            </a:r>
            <a:r>
              <a:rPr sz="1600" b="0">
                <a:solidFill>
                  <a:srgbClr val="15241C"/>
                </a:solidFill>
                <a:latin typeface="Calibri"/>
              </a:rPr>
              <a:t> (tahun)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39855"/>
                </a:solidFill>
              </a:rPr>
              <a:t>▸  </a:t>
            </a:r>
            <a:r>
              <a:rPr sz="1600" b="1">
                <a:solidFill>
                  <a:srgbClr val="15241C"/>
                </a:solidFill>
                <a:latin typeface="Calibri"/>
              </a:rPr>
              <a:t>Gizi ibu saat hamil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4754880"/>
            <a:ext cx="10881360" cy="137160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4754880"/>
            <a:ext cx="82296" cy="13716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4864608"/>
            <a:ext cx="1051560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39855"/>
                </a:solidFill>
                <a:latin typeface="Calibri"/>
              </a:rPr>
              <a:t>Inti vs pengembangan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5241C"/>
                </a:solidFill>
                <a:latin typeface="Calibri"/>
              </a:rPr>
              <a:t>Model INTI (divalidasi data nyata) memakai 3 fitur: umur, jenis kelamin, tinggi badan. Prototipe PENGEMBANGAN menambah berat badan &amp; faktor maternal (dari literatur) = 7 fitur.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548640" cy="82296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INTI ALGORITMA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5312A"/>
                </a:solidFill>
                <a:latin typeface="Calibri"/>
              </a:rPr>
              <a:t>Random Forest — cara kerja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6949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39855"/>
                </a:solidFill>
              </a:rPr>
              <a:t>▸  </a:t>
            </a:r>
            <a:r>
              <a:rPr sz="1600" b="1">
                <a:solidFill>
                  <a:srgbClr val="15241C"/>
                </a:solidFill>
                <a:latin typeface="Calibri"/>
              </a:rPr>
              <a:t>Ensemble</a:t>
            </a:r>
            <a:r>
              <a:rPr sz="1600" b="0">
                <a:solidFill>
                  <a:srgbClr val="15241C"/>
                </a:solidFill>
                <a:latin typeface="Calibri"/>
              </a:rPr>
              <a:t> 120 </a:t>
            </a:r>
            <a:r>
              <a:rPr sz="1600" b="1">
                <a:solidFill>
                  <a:srgbClr val="15241C"/>
                </a:solidFill>
                <a:latin typeface="Calibri"/>
              </a:rPr>
              <a:t>pohon keputusan</a:t>
            </a:r>
            <a:r>
              <a:rPr sz="1600" b="0">
                <a:solidFill>
                  <a:srgbClr val="15241C"/>
                </a:solidFill>
                <a:latin typeface="Calibri"/>
              </a:rPr>
              <a:t> (Breiman, 2001).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39855"/>
                </a:solidFill>
              </a:rPr>
              <a:t>▸  </a:t>
            </a:r>
            <a:r>
              <a:rPr sz="1600" b="0">
                <a:solidFill>
                  <a:srgbClr val="15241C"/>
                </a:solidFill>
                <a:latin typeface="Calibri"/>
              </a:rPr>
              <a:t>Tiap pohon belajar dari </a:t>
            </a:r>
            <a:r>
              <a:rPr sz="1600" b="1">
                <a:solidFill>
                  <a:srgbClr val="15241C"/>
                </a:solidFill>
                <a:latin typeface="Calibri"/>
              </a:rPr>
              <a:t>sampel acak</a:t>
            </a:r>
            <a:r>
              <a:rPr sz="1600" b="0">
                <a:solidFill>
                  <a:srgbClr val="15241C"/>
                </a:solidFill>
                <a:latin typeface="Calibri"/>
              </a:rPr>
              <a:t> data (bagging) + subset fitur acak.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39855"/>
                </a:solidFill>
              </a:rPr>
              <a:t>▸  </a:t>
            </a:r>
            <a:r>
              <a:rPr sz="1600" b="0">
                <a:solidFill>
                  <a:srgbClr val="15241C"/>
                </a:solidFill>
                <a:latin typeface="Calibri"/>
              </a:rPr>
              <a:t>Hasil akhir = </a:t>
            </a:r>
            <a:r>
              <a:rPr sz="1600" b="1">
                <a:solidFill>
                  <a:srgbClr val="15241C"/>
                </a:solidFill>
                <a:latin typeface="Calibri"/>
              </a:rPr>
              <a:t>rata-rata probabilitas</a:t>
            </a:r>
            <a:r>
              <a:rPr sz="1600" b="0">
                <a:solidFill>
                  <a:srgbClr val="15241C"/>
                </a:solidFill>
                <a:latin typeface="Calibri"/>
              </a:rPr>
              <a:t> semua pohon (soft voting).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39855"/>
                </a:solidFill>
              </a:rPr>
              <a:t>▸  </a:t>
            </a:r>
            <a:r>
              <a:rPr sz="1600" b="0">
                <a:solidFill>
                  <a:srgbClr val="15241C"/>
                </a:solidFill>
                <a:latin typeface="Calibri"/>
              </a:rPr>
              <a:t>Banyak pohon → akurat &amp; </a:t>
            </a:r>
            <a:r>
              <a:rPr sz="1600" b="1">
                <a:solidFill>
                  <a:srgbClr val="15241C"/>
                </a:solidFill>
                <a:latin typeface="Calibri"/>
              </a:rPr>
              <a:t>tahan overfitting</a:t>
            </a:r>
            <a:r>
              <a:rPr sz="1600" b="0">
                <a:solidFill>
                  <a:srgbClr val="15241C"/>
                </a:solidFill>
                <a:latin typeface="Calibri"/>
              </a:rPr>
              <a:t>; memberi </a:t>
            </a:r>
            <a:r>
              <a:rPr sz="1600" b="1">
                <a:solidFill>
                  <a:srgbClr val="15241C"/>
                </a:solidFill>
                <a:latin typeface="Calibri"/>
              </a:rPr>
              <a:t>feature importance</a:t>
            </a:r>
            <a:r>
              <a:rPr sz="1600" b="0">
                <a:solidFill>
                  <a:srgbClr val="15241C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377440"/>
            <a:ext cx="960120" cy="219456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2377440"/>
            <a:ext cx="960120" cy="73152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3154680"/>
            <a:ext cx="960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39855"/>
                </a:solidFill>
                <a:latin typeface="Calibri"/>
              </a:rPr>
              <a:t>Pohon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60" y="2377440"/>
            <a:ext cx="960120" cy="219456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81160" y="2377440"/>
            <a:ext cx="960120" cy="73152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154680"/>
            <a:ext cx="960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39855"/>
                </a:solidFill>
                <a:latin typeface="Calibri"/>
              </a:rPr>
              <a:t>Pohon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0" y="2377440"/>
            <a:ext cx="960120" cy="219456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0" y="2377440"/>
            <a:ext cx="960120" cy="73152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3154680"/>
            <a:ext cx="960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39855"/>
                </a:solidFill>
                <a:latin typeface="Calibri"/>
              </a:rPr>
              <a:t>Pohon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7091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4B5563"/>
                </a:solidFill>
                <a:latin typeface="Calibri"/>
              </a:rPr>
              <a:t>120 pohon → voting → 1 prediksi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548640" cy="82296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INTI ALGORITMA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5312A"/>
                </a:solidFill>
                <a:latin typeface="Calibri"/>
              </a:rPr>
              <a:t>Penjelasan matematis algoritma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45920"/>
            <a:ext cx="5394960" cy="128016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5029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Ketidakmurnian Gini (pemilihan split)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5312A"/>
                </a:solidFill>
                <a:latin typeface="Calibri"/>
              </a:rPr>
              <a:t>Gini(t) = 1 − Σ pᵢ²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349240" cy="128016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55648"/>
            <a:ext cx="4983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Penurunan impurity saat split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5312A"/>
                </a:solidFill>
                <a:latin typeface="Calibri"/>
              </a:rPr>
              <a:t>ΔI = Gini(t) − Σ (Nₖ/Nₜ)·Gini(k)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108960"/>
            <a:ext cx="5394960" cy="128016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18688"/>
            <a:ext cx="5029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Prediksi (soft voting)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5312A"/>
                </a:solidFill>
                <a:latin typeface="Calibri"/>
              </a:rPr>
              <a:t>P(c|x) = (1/T) Σ Pₜ(c|x) ; ŷ = argmax P(c|x)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108960"/>
            <a:ext cx="5349240" cy="128016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218688"/>
            <a:ext cx="4983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Kepentingan fitur (MDI)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5312A"/>
                </a:solidFill>
                <a:latin typeface="Calibri"/>
              </a:rPr>
              <a:t>Imp(f) = (1/T) Σ Σ (Nᵥ/N)·ΔIᵥ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572000"/>
            <a:ext cx="5394960" cy="128016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81728"/>
            <a:ext cx="5029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Z-Score tinggi-untuk-umur (HAZ)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5312A"/>
                </a:solidFill>
                <a:latin typeface="Calibri"/>
              </a:rPr>
              <a:t>HAZ = (X − M) / 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572000"/>
            <a:ext cx="5349240" cy="128016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681728"/>
            <a:ext cx="4983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Metrik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5312A"/>
                </a:solidFill>
                <a:latin typeface="Calibri"/>
              </a:rPr>
              <a:t>F1 = 2·P·R/(P+R) ; P=TP/(TP+FP)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548640" cy="82296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5312A"/>
                </a:solidFill>
                <a:latin typeface="Calibri"/>
              </a:rPr>
              <a:t>Dataset nyata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39855"/>
                </a:solidFill>
              </a:rPr>
              <a:t>▸  </a:t>
            </a:r>
            <a:r>
              <a:rPr sz="1500" b="0">
                <a:solidFill>
                  <a:srgbClr val="15241C"/>
                </a:solidFill>
                <a:latin typeface="Calibri"/>
              </a:rPr>
              <a:t>Sumber: </a:t>
            </a:r>
            <a:r>
              <a:rPr sz="1500" b="1">
                <a:solidFill>
                  <a:srgbClr val="15241C"/>
                </a:solidFill>
                <a:latin typeface="Calibri"/>
              </a:rPr>
              <a:t>"Stunting Toddler (Balita) Detection"</a:t>
            </a:r>
            <a:r>
              <a:rPr sz="1500" b="0">
                <a:solidFill>
                  <a:srgbClr val="15241C"/>
                </a:solidFill>
                <a:latin typeface="Calibri"/>
              </a:rPr>
              <a:t> (Kaggle/GitHub), basis </a:t>
            </a:r>
            <a:r>
              <a:rPr sz="1500" b="1">
                <a:solidFill>
                  <a:srgbClr val="15241C"/>
                </a:solidFill>
                <a:latin typeface="Calibri"/>
              </a:rPr>
              <a:t>WHO</a:t>
            </a:r>
            <a:r>
              <a:rPr sz="1500" b="0">
                <a:solidFill>
                  <a:srgbClr val="15241C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39855"/>
                </a:solidFill>
              </a:rPr>
              <a:t>▸  </a:t>
            </a:r>
            <a:r>
              <a:rPr sz="1500" b="1">
                <a:solidFill>
                  <a:srgbClr val="15241C"/>
                </a:solidFill>
                <a:latin typeface="Calibri"/>
              </a:rPr>
              <a:t>55.367 sampel</a:t>
            </a:r>
            <a:r>
              <a:rPr sz="1500" b="0">
                <a:solidFill>
                  <a:srgbClr val="15241C"/>
                </a:solidFill>
                <a:latin typeface="Calibri"/>
              </a:rPr>
              <a:t> balita Indonesia — kelas seimbang (≈ tiap kelas).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39855"/>
                </a:solidFill>
              </a:rPr>
              <a:t>▸  </a:t>
            </a:r>
            <a:r>
              <a:rPr sz="1500" b="0">
                <a:solidFill>
                  <a:srgbClr val="15241C"/>
                </a:solidFill>
                <a:latin typeface="Calibri"/>
              </a:rPr>
              <a:t>Fitur: Umur, Jenis Kelamin, Tinggi Badan → Status Gizi (4 kelas).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39855"/>
                </a:solidFill>
              </a:rPr>
              <a:t>▸  </a:t>
            </a:r>
            <a:r>
              <a:rPr sz="1500" b="0">
                <a:solidFill>
                  <a:srgbClr val="15241C"/>
                </a:solidFill>
                <a:latin typeface="Calibri"/>
              </a:rPr>
              <a:t>Dipakai untuk </a:t>
            </a:r>
            <a:r>
              <a:rPr sz="1500" b="1">
                <a:solidFill>
                  <a:srgbClr val="15241C"/>
                </a:solidFill>
                <a:latin typeface="Calibri"/>
              </a:rPr>
              <a:t>melatih &amp; memvalidasi</a:t>
            </a:r>
            <a:r>
              <a:rPr sz="1500" b="0">
                <a:solidFill>
                  <a:srgbClr val="15241C"/>
                </a:solidFill>
                <a:latin typeface="Calibri"/>
              </a:rPr>
              <a:t> model inti pada kondisi data riil.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737360"/>
            <a:ext cx="4069080" cy="274320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737360"/>
            <a:ext cx="82296" cy="27432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7808" y="1847088"/>
            <a:ext cx="370332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39855"/>
                </a:solidFill>
                <a:latin typeface="Calibri"/>
              </a:rPr>
              <a:t>Pembagian data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5241C"/>
                </a:solidFill>
                <a:latin typeface="Calibri"/>
              </a:rPr>
              <a:t>• Latih: 44.293 sampel (80%)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5241C"/>
                </a:solidFill>
                <a:latin typeface="Calibri"/>
              </a:rPr>
              <a:t>• Uji: 11.074 sampel (20%)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5241C"/>
                </a:solidFill>
                <a:latin typeface="Calibri"/>
              </a:rPr>
              <a:t>• Stratified + 5-fold 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4663440"/>
            <a:ext cx="4069080" cy="141732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4663440"/>
            <a:ext cx="4069080" cy="82296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4882896"/>
            <a:ext cx="4069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39855"/>
                </a:solidFill>
                <a:latin typeface="Calibri"/>
              </a:rPr>
              <a:t>55.367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5559552"/>
            <a:ext cx="4069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Sampel data nyata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548640" cy="82296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PROSES (STEP-BY-STEP)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5312A"/>
                </a:solidFill>
                <a:latin typeface="Calibri"/>
              </a:rPr>
              <a:t>Langkah pembuatan &amp; pelatihan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039855"/>
                </a:solidFill>
              </a:rPr>
              <a:t>▸  </a:t>
            </a:r>
            <a:r>
              <a:rPr sz="1400" b="1">
                <a:solidFill>
                  <a:srgbClr val="15241C"/>
                </a:solidFill>
                <a:latin typeface="Calibri"/>
              </a:rPr>
              <a:t>1.</a:t>
            </a:r>
            <a:r>
              <a:rPr sz="1400" b="0">
                <a:solidFill>
                  <a:srgbClr val="15241C"/>
                </a:solidFill>
                <a:latin typeface="Calibri"/>
              </a:rPr>
              <a:t> Kumpulkan data (real 55.367 + multi-faktor 25.000).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39855"/>
                </a:solidFill>
              </a:rPr>
              <a:t>▸  </a:t>
            </a:r>
            <a:r>
              <a:rPr sz="1400" b="1">
                <a:solidFill>
                  <a:srgbClr val="15241C"/>
                </a:solidFill>
                <a:latin typeface="Calibri"/>
              </a:rPr>
              <a:t>2.</a:t>
            </a:r>
            <a:r>
              <a:rPr sz="1400" b="0">
                <a:solidFill>
                  <a:srgbClr val="15241C"/>
                </a:solidFill>
                <a:latin typeface="Calibri"/>
              </a:rPr>
              <a:t> Bersihkan &amp; seragamkan label (4 kelas).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39855"/>
                </a:solidFill>
              </a:rPr>
              <a:t>▸  </a:t>
            </a:r>
            <a:r>
              <a:rPr sz="1400" b="1">
                <a:solidFill>
                  <a:srgbClr val="15241C"/>
                </a:solidFill>
                <a:latin typeface="Calibri"/>
              </a:rPr>
              <a:t>3.</a:t>
            </a:r>
            <a:r>
              <a:rPr sz="1400" b="0">
                <a:solidFill>
                  <a:srgbClr val="15241C"/>
                </a:solidFill>
                <a:latin typeface="Calibri"/>
              </a:rPr>
              <a:t> Encoding teks→angka (Label Encoding).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39855"/>
                </a:solidFill>
              </a:rPr>
              <a:t>▸  </a:t>
            </a:r>
            <a:r>
              <a:rPr sz="1400" b="1">
                <a:solidFill>
                  <a:srgbClr val="15241C"/>
                </a:solidFill>
                <a:latin typeface="Calibri"/>
              </a:rPr>
              <a:t>4.</a:t>
            </a:r>
            <a:r>
              <a:rPr sz="1400" b="0">
                <a:solidFill>
                  <a:srgbClr val="15241C"/>
                </a:solidFill>
                <a:latin typeface="Calibri"/>
              </a:rPr>
              <a:t> Bagi data 80% latih : 20% uji (stratified).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39855"/>
                </a:solidFill>
              </a:rPr>
              <a:t>▸  </a:t>
            </a:r>
            <a:r>
              <a:rPr sz="1400" b="1">
                <a:solidFill>
                  <a:srgbClr val="15241C"/>
                </a:solidFill>
                <a:latin typeface="Calibri"/>
              </a:rPr>
              <a:t>5.</a:t>
            </a:r>
            <a:r>
              <a:rPr sz="1400" b="0">
                <a:solidFill>
                  <a:srgbClr val="15241C"/>
                </a:solidFill>
                <a:latin typeface="Calibri"/>
              </a:rPr>
              <a:t> Inisialisasi Random Forest (120 pohon, depth 14).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39855"/>
                </a:solidFill>
              </a:rPr>
              <a:t>▸  </a:t>
            </a:r>
            <a:r>
              <a:rPr sz="1400" b="1">
                <a:solidFill>
                  <a:srgbClr val="15241C"/>
                </a:solidFill>
                <a:latin typeface="Calibri"/>
              </a:rPr>
              <a:t>6.</a:t>
            </a:r>
            <a:r>
              <a:rPr sz="1400" b="0">
                <a:solidFill>
                  <a:srgbClr val="15241C"/>
                </a:solidFill>
                <a:latin typeface="Calibri"/>
              </a:rPr>
              <a:t> Latih: tiap pohon bootstrap + fitur acak.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039855"/>
                </a:solidFill>
              </a:rPr>
              <a:t>▸  </a:t>
            </a:r>
            <a:r>
              <a:rPr sz="1400" b="1">
                <a:solidFill>
                  <a:srgbClr val="15241C"/>
                </a:solidFill>
                <a:latin typeface="Calibri"/>
              </a:rPr>
              <a:t>7.</a:t>
            </a:r>
            <a:r>
              <a:rPr sz="1400" b="0">
                <a:solidFill>
                  <a:srgbClr val="15241C"/>
                </a:solidFill>
                <a:latin typeface="Calibri"/>
              </a:rPr>
              <a:t> Validasi silang 5-fold.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39855"/>
                </a:solidFill>
              </a:rPr>
              <a:t>▸  </a:t>
            </a:r>
            <a:r>
              <a:rPr sz="1400" b="1">
                <a:solidFill>
                  <a:srgbClr val="15241C"/>
                </a:solidFill>
                <a:latin typeface="Calibri"/>
              </a:rPr>
              <a:t>8.</a:t>
            </a:r>
            <a:r>
              <a:rPr sz="1400" b="0">
                <a:solidFill>
                  <a:srgbClr val="15241C"/>
                </a:solidFill>
                <a:latin typeface="Calibri"/>
              </a:rPr>
              <a:t> Evaluasi di data uji (akurasi, F1, confusion matrix).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39855"/>
                </a:solidFill>
              </a:rPr>
              <a:t>▸  </a:t>
            </a:r>
            <a:r>
              <a:rPr sz="1400" b="1">
                <a:solidFill>
                  <a:srgbClr val="15241C"/>
                </a:solidFill>
                <a:latin typeface="Calibri"/>
              </a:rPr>
              <a:t>9.</a:t>
            </a:r>
            <a:r>
              <a:rPr sz="1400" b="0">
                <a:solidFill>
                  <a:srgbClr val="15241C"/>
                </a:solidFill>
                <a:latin typeface="Calibri"/>
              </a:rPr>
              <a:t> Analisis kepentingan fitur.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39855"/>
                </a:solidFill>
              </a:rPr>
              <a:t>▸  </a:t>
            </a:r>
            <a:r>
              <a:rPr sz="1400" b="1">
                <a:solidFill>
                  <a:srgbClr val="15241C"/>
                </a:solidFill>
                <a:latin typeface="Calibri"/>
              </a:rPr>
              <a:t>10.</a:t>
            </a:r>
            <a:r>
              <a:rPr sz="1400" b="0">
                <a:solidFill>
                  <a:srgbClr val="15241C"/>
                </a:solidFill>
                <a:latin typeface="Calibri"/>
              </a:rPr>
              <a:t> Konversi model ke </a:t>
            </a:r>
            <a:r>
              <a:rPr sz="1400" b="1">
                <a:solidFill>
                  <a:srgbClr val="15241C"/>
                </a:solidFill>
                <a:latin typeface="Calibri"/>
              </a:rPr>
              <a:t>ONNX</a:t>
            </a:r>
            <a:r>
              <a:rPr sz="1400" b="0">
                <a:solidFill>
                  <a:srgbClr val="15241C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39855"/>
                </a:solidFill>
              </a:rPr>
              <a:t>▸  </a:t>
            </a:r>
            <a:r>
              <a:rPr sz="1400" b="1">
                <a:solidFill>
                  <a:srgbClr val="15241C"/>
                </a:solidFill>
                <a:latin typeface="Calibri"/>
              </a:rPr>
              <a:t>11.</a:t>
            </a:r>
            <a:r>
              <a:rPr sz="1400" b="0">
                <a:solidFill>
                  <a:srgbClr val="15241C"/>
                </a:solidFill>
                <a:latin typeface="Calibri"/>
              </a:rPr>
              <a:t> Integrasi ke web React (Web Worker).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548640" cy="82296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HASIL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5312A"/>
                </a:solidFill>
                <a:latin typeface="Calibri"/>
              </a:rPr>
              <a:t>Hasil validasi pada dataset nyata</a:t>
            </a:r>
          </a:p>
        </p:txBody>
      </p:sp>
      <p:pic>
        <p:nvPicPr>
          <p:cNvPr id="7" name="Picture 6" descr="rea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54" y="1554480"/>
            <a:ext cx="5092386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1">
                <a:solidFill>
                  <a:srgbClr val="4B5563"/>
                </a:solidFill>
                <a:latin typeface="Calibri"/>
              </a:rPr>
              <a:t>Confusion matrix — akurasi 99.39%, F1 99.4%, CV 99.18% ± 0.12%.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548640" cy="82296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HASIL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5312A"/>
                </a:solidFill>
                <a:latin typeface="Calibri"/>
              </a:rPr>
              <a:t>Kepentingan fitur &amp; distribusi data</a:t>
            </a:r>
          </a:p>
        </p:txBody>
      </p:sp>
      <p:pic>
        <p:nvPicPr>
          <p:cNvPr id="7" name="Picture 6" descr="real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5486400" cy="2874371"/>
          </a:xfrm>
          <a:prstGeom prst="rect">
            <a:avLst/>
          </a:prstGeom>
        </p:spPr>
      </p:pic>
      <p:pic>
        <p:nvPicPr>
          <p:cNvPr id="8" name="Picture 7" descr="real_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20240"/>
            <a:ext cx="5486400" cy="28773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1">
                <a:solidFill>
                  <a:srgbClr val="4B5563"/>
                </a:solidFill>
                <a:latin typeface="Calibri"/>
              </a:rPr>
              <a:t>Tinggi badan &amp; umur paling berpengaruh (dihitung sendiri oleh model). Distribusi kelas seimbang.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548640" cy="82296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PENGUJIAN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5312A"/>
                </a:solidFill>
                <a:latin typeface="Calibri"/>
              </a:rPr>
              <a:t>Grafik pengujian alat (per kelas)</a:t>
            </a:r>
          </a:p>
        </p:txBody>
      </p:sp>
      <p:pic>
        <p:nvPicPr>
          <p:cNvPr id="7" name="Picture 6" descr="real_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695" y="1554480"/>
            <a:ext cx="8056305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1">
                <a:solidFill>
                  <a:srgbClr val="4B5563"/>
                </a:solidFill>
                <a:latin typeface="Calibri"/>
              </a:rPr>
              <a:t>Precision, recall, dan F1-score tiap kelas saat pengujian pada data uji nyata.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548640" cy="82296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HASIL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5312A"/>
                </a:solidFill>
                <a:latin typeface="Calibri"/>
              </a:rPr>
              <a:t>Benchmarking algoritma</a:t>
            </a:r>
          </a:p>
        </p:txBody>
      </p:sp>
      <p:pic>
        <p:nvPicPr>
          <p:cNvPr id="7" name="Picture 6" descr="rea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695" y="1554480"/>
            <a:ext cx="8056305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1">
                <a:solidFill>
                  <a:srgbClr val="4B5563"/>
                </a:solidFill>
                <a:latin typeface="Calibri"/>
              </a:rPr>
              <a:t>Random Forest (99,4%) mengungguli KNN, Decision Tree, Regresi Logistik, dan Naive Bayes.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548640" cy="82296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ARSITEKTUR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5312A"/>
                </a:solidFill>
                <a:latin typeface="Calibri"/>
              </a:rPr>
              <a:t>Arsitektur: inferensi di peramban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2606040" cy="182880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2606040" cy="82296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5312A"/>
                </a:solidFill>
                <a:latin typeface="Calibri"/>
              </a:rPr>
              <a:t>1. Isi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2331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Pengguna mengisi form di web.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1828800"/>
            <a:ext cx="2606040" cy="182880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5848" y="1828800"/>
            <a:ext cx="2606040" cy="82296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205740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5312A"/>
                </a:solidFill>
                <a:latin typeface="Calibri"/>
              </a:rPr>
              <a:t>2. Web 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606040"/>
            <a:ext cx="2331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Proses di pekerja latar (di perangkat).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7336" y="1828800"/>
            <a:ext cx="2606040" cy="182880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7336" y="1828800"/>
            <a:ext cx="2606040" cy="82296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205740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5312A"/>
                </a:solidFill>
                <a:latin typeface="Calibri"/>
              </a:rPr>
              <a:t>3. 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606040"/>
            <a:ext cx="2331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Model ONNX menghitung dalam mikrodetik.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78824" y="1828800"/>
            <a:ext cx="2606040" cy="182880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78824" y="1828800"/>
            <a:ext cx="2606040" cy="82296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205740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5312A"/>
                </a:solidFill>
                <a:latin typeface="Calibri"/>
              </a:rPr>
              <a:t>4. Hasil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2606040"/>
            <a:ext cx="2331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Status + keyakinan + rekomendasi.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069080"/>
            <a:ext cx="10881360" cy="137160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069080"/>
            <a:ext cx="82296" cy="13716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178808"/>
            <a:ext cx="1051560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39855"/>
                </a:solidFill>
                <a:latin typeface="Calibri"/>
              </a:rPr>
              <a:t>Teknologi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5241C"/>
                </a:solidFill>
                <a:latin typeface="Calibri"/>
              </a:rPr>
              <a:t>React + Vite + Tailwind (tampilan) · model dikonversi ke ONNX · ONNX Runtime Web (WASM) menjalankan model di peramban · Web Worker agar UI tidak macet.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4B5563"/>
                </a:solidFill>
                <a:latin typeface="Calibri"/>
              </a:rPr>
              <a:t>Tanpa server, gratis, bisa offline, dan data tidak dikirim ke mana pun.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548640" cy="82296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FITUR TAMBAHAN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5312A"/>
                </a:solidFill>
                <a:latin typeface="Calibri"/>
              </a:rPr>
              <a:t>Asisten edukasi stunting (chat)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39855"/>
                </a:solidFill>
              </a:rPr>
              <a:t>▸  </a:t>
            </a:r>
            <a:r>
              <a:rPr sz="1800" b="0">
                <a:solidFill>
                  <a:srgbClr val="15241C"/>
                </a:solidFill>
                <a:latin typeface="Calibri"/>
              </a:rPr>
              <a:t>Pengguna bisa bertanya tips </a:t>
            </a:r>
            <a:r>
              <a:rPr sz="1800" b="1">
                <a:solidFill>
                  <a:srgbClr val="15241C"/>
                </a:solidFill>
                <a:latin typeface="Calibri"/>
              </a:rPr>
              <a:t>mencegah stunting &amp; gizi balita</a:t>
            </a:r>
            <a:r>
              <a:rPr sz="1800" b="0">
                <a:solidFill>
                  <a:srgbClr val="15241C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9855"/>
                </a:solidFill>
              </a:rPr>
              <a:t>▸  </a:t>
            </a:r>
            <a:r>
              <a:rPr sz="1800" b="0">
                <a:solidFill>
                  <a:srgbClr val="15241C"/>
                </a:solidFill>
                <a:latin typeface="Calibri"/>
              </a:rPr>
              <a:t>Ditenagai </a:t>
            </a:r>
            <a:r>
              <a:rPr sz="1800" b="1">
                <a:solidFill>
                  <a:srgbClr val="15241C"/>
                </a:solidFill>
                <a:latin typeface="Calibri"/>
              </a:rPr>
              <a:t>LLM gratis</a:t>
            </a:r>
            <a:r>
              <a:rPr sz="1800" b="0">
                <a:solidFill>
                  <a:srgbClr val="15241C"/>
                </a:solidFill>
                <a:latin typeface="Calibri"/>
              </a:rPr>
              <a:t> (tanpa biaya/token), dengan cadangan basis pengetahuan lokal.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9855"/>
                </a:solidFill>
              </a:rPr>
              <a:t>▸  </a:t>
            </a:r>
            <a:r>
              <a:rPr sz="1800" b="0">
                <a:solidFill>
                  <a:srgbClr val="15241C"/>
                </a:solidFill>
                <a:latin typeface="Calibri"/>
              </a:rPr>
              <a:t>Bersifat </a:t>
            </a:r>
            <a:r>
              <a:rPr sz="1800" b="1">
                <a:solidFill>
                  <a:srgbClr val="15241C"/>
                </a:solidFill>
                <a:latin typeface="Calibri"/>
              </a:rPr>
              <a:t>edukasi, bukan diagnosis</a:t>
            </a:r>
            <a:r>
              <a:rPr sz="1800" b="0">
                <a:solidFill>
                  <a:srgbClr val="15241C"/>
                </a:solidFill>
                <a:latin typeface="Calibri"/>
              </a:rPr>
              <a:t>; kondisi khusus diarahkan ke posyandu/dokter.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548640" cy="82296"/>
          </a:xfrm>
          <a:prstGeom prst="rect">
            <a:avLst/>
          </a:prstGeom>
          <a:solidFill>
            <a:srgbClr val="6CE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39855"/>
                </a:solidFill>
                <a:latin typeface="Calibri"/>
              </a:rPr>
              <a:t>IMPLEMENTASI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05312A"/>
                </a:solidFill>
                <a:latin typeface="Calibri"/>
              </a:rPr>
              <a:t>Demo &amp;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39855"/>
                </a:solidFill>
              </a:rPr>
              <a:t>▸  </a:t>
            </a:r>
            <a:r>
              <a:rPr sz="1800" b="0">
                <a:solidFill>
                  <a:srgbClr val="15241C"/>
                </a:solidFill>
                <a:latin typeface="Calibri"/>
              </a:rPr>
              <a:t>Live di </a:t>
            </a:r>
            <a:r>
              <a:rPr sz="1800" b="1">
                <a:solidFill>
                  <a:srgbClr val="15241C"/>
                </a:solidFill>
                <a:latin typeface="Calibri"/>
              </a:rPr>
              <a:t>Cloudflare Pages</a:t>
            </a:r>
            <a:r>
              <a:rPr sz="1800" b="0">
                <a:solidFill>
                  <a:srgbClr val="15241C"/>
                </a:solidFill>
                <a:latin typeface="Calibri"/>
              </a:rPr>
              <a:t> (statis, gratis, HTTPS otomatis).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9855"/>
                </a:solidFill>
              </a:rPr>
              <a:t>▸  </a:t>
            </a:r>
            <a:r>
              <a:rPr sz="1800" b="0">
                <a:solidFill>
                  <a:srgbClr val="15241C"/>
                </a:solidFill>
                <a:latin typeface="Calibri"/>
              </a:rPr>
              <a:t>URL: </a:t>
            </a:r>
            <a:r>
              <a:rPr sz="1800" b="1">
                <a:solidFill>
                  <a:srgbClr val="15241C"/>
                </a:solidFill>
                <a:latin typeface="Calibri"/>
              </a:rPr>
              <a:t>machinelearning-ai.pages.dev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9855"/>
                </a:solidFill>
              </a:rPr>
              <a:t>▸  </a:t>
            </a:r>
            <a:r>
              <a:rPr sz="1800" b="0">
                <a:solidFill>
                  <a:srgbClr val="15241C"/>
                </a:solidFill>
                <a:latin typeface="Calibri"/>
              </a:rPr>
              <a:t>Build: Root = web · Build command = npm run build · Output = dist.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39855"/>
                </a:solidFill>
              </a:rPr>
              <a:t>▸  </a:t>
            </a:r>
            <a:r>
              <a:rPr sz="1800" b="0">
                <a:solidFill>
                  <a:srgbClr val="15241C"/>
                </a:solidFill>
                <a:latin typeface="Calibri"/>
              </a:rPr>
              <a:t>Repositori: github.com/steffenkwik/machinelearning-ai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846320"/>
            <a:ext cx="10881360" cy="914400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5312A"/>
                </a:solidFill>
                <a:latin typeface="Calibri"/>
              </a:rPr>
              <a:t>Demo: isi data → Analisis → hasil tampil seketika (offline).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3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6CE9A6"/>
                </a:solidFill>
                <a:latin typeface="Calibri"/>
              </a:rPr>
              <a:t>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6CE9A6"/>
                </a:solidFill>
              </a:rPr>
              <a:t>▸  </a:t>
            </a:r>
            <a:r>
              <a:rPr sz="1800" b="1">
                <a:solidFill>
                  <a:srgbClr val="FFFFFF"/>
                </a:solidFill>
              </a:rPr>
              <a:t>Random Forest divalidasi pada dataset NYATA Indonesia</a:t>
            </a:r>
            <a:r>
              <a:rPr sz="1800" b="0">
                <a:solidFill>
                  <a:srgbClr val="FFFFFF"/>
                </a:solidFill>
              </a:rPr>
              <a:t> (55.367 sampel) → akurasi 99.39%.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6CE9A6"/>
                </a:solidFill>
              </a:rPr>
              <a:t>▸  </a:t>
            </a:r>
            <a:r>
              <a:rPr sz="1800" b="0">
                <a:solidFill>
                  <a:srgbClr val="FFFFFF"/>
                </a:solidFill>
              </a:rPr>
              <a:t>Mengungguli KNN, Decision Tree, Regresi Logistik, Naive Bayes pada benchmark.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6CE9A6"/>
                </a:solidFill>
              </a:rPr>
              <a:t>▸  </a:t>
            </a:r>
            <a:r>
              <a:rPr sz="1800" b="0">
                <a:solidFill>
                  <a:srgbClr val="FFFFFF"/>
                </a:solidFill>
              </a:rPr>
              <a:t>Berjalan </a:t>
            </a:r>
            <a:r>
              <a:rPr sz="1800" b="1">
                <a:solidFill>
                  <a:srgbClr val="FFFFFF"/>
                </a:solidFill>
              </a:rPr>
              <a:t>100% di peramban</a:t>
            </a:r>
            <a:r>
              <a:rPr sz="1800" b="0">
                <a:solidFill>
                  <a:srgbClr val="FFFFFF"/>
                </a:solidFill>
              </a:rPr>
              <a:t> (ONNX) — gratis, cepat, offline, privat.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6CE9A6"/>
                </a:solidFill>
              </a:rPr>
              <a:t>▸  </a:t>
            </a:r>
            <a:r>
              <a:rPr sz="1800" b="0">
                <a:solidFill>
                  <a:srgbClr val="FFFFFF"/>
                </a:solidFill>
              </a:rPr>
              <a:t>Menjawab kebutuhan nyata (prevalensi 21,5%, target 14%) — layak sebagai skrining awal (SDG #3).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Terima kasih.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CE9A6"/>
                </a:solidFill>
                <a:latin typeface="Calibri"/>
              </a:rPr>
              <a:t>Daniel Steffen K · NIM 2602071171 · BINUS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