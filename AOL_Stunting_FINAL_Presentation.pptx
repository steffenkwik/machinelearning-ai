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(baca santai, percaya diri):</a:t>
            </a:r>
          </a:p>
          <a:p>
            <a:r>
              <a:t>"Selamat pagi/siang Bapak/Ibu dosen dan teman-teman. Perkenalkan saya Daniel Steffen K, NIM 2602071171 dari kelas LA05-LEC.</a:t>
            </a:r>
          </a:p>
          <a:p/>
          <a:p>
            <a:r>
              <a:t>Hari ini saya akan mempresentasikan project AOL mata kuliah Artificial Intelligence saya yang berjudul 'Deteksi Dini Risiko Stunting pada Balita menggunakan Machine Learning'.</a:t>
            </a:r>
          </a:p>
          <a:p/>
          <a:p>
            <a:r>
              <a:t>Project ini mengangkat tema SDG nomor 3 yaitu Good Health and Well-being, dengan sub-topik Malnutrition Monitoring in Children — sesuai daftar problem yang Bapak/Ibu berikan.</a:t>
            </a:r>
          </a:p>
          <a:p/>
          <a:p>
            <a:r>
              <a:t>Hasil akhirnya adalah sebuah web application yang sudah jadi dan bisa langsung didemokan, dengan akurasi model 88,40% — masuk kategori Excellent karena di atas 85%."</a:t>
            </a:r>
          </a:p>
          <a:p/>
          <a:p>
            <a:r>
              <a:t>(Catatan: tarik napas, jangan buru-buru. Slide ini cuma pembuka.)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"Presentasi saya terbagi menjadi 6 bagian.</a:t>
            </a:r>
          </a:p>
          <a:p/>
          <a:p>
            <a:r>
              <a:t>Pertama, saya jelaskan dulu masalahnya dan solusi AI yang saya bangun.</a:t>
            </a:r>
          </a:p>
          <a:p>
            <a:r>
              <a:t>Kedua, 7 faktor penyebab stunting yang dihitung model.</a:t>
            </a:r>
          </a:p>
          <a:p>
            <a:r>
              <a:t>Ketiga, bagaimana cara pembuatannya secara teknis — tools dan langkah-langkahnya.</a:t>
            </a:r>
          </a:p>
          <a:p>
            <a:r>
              <a:t>Keempat, penjelasan sederhana algoritma Random Forest.</a:t>
            </a:r>
          </a:p>
          <a:p>
            <a:r>
              <a:t>Kelima, demo langsung aplikasinya plus hasil performa model.</a:t>
            </a:r>
          </a:p>
          <a:p>
            <a:r>
              <a:t>Dan terakhir, analisis etika dan kesimpulan.</a:t>
            </a:r>
          </a:p>
          <a:p/>
          <a:p>
            <a:r>
              <a:t>Mari kita mulai dari bagian pertama."</a:t>
            </a:r>
          </a:p>
          <a:p/>
          <a:p>
            <a:r>
              <a:t>(Tips: tunjuk layar saat menyebut tiap poin.)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"Indonesia masih menghadapi masalah serius soal gizi anak. Berdasarkan Survei Status Gizi Indonesia atau SSGI tahun 2024 dari Kementerian Kesehatan, prevalensi stunting nasional masih 19,8% — artinya sekitar 4,4 juta balita masih mengalami stunting.</a:t>
            </a:r>
          </a:p>
          <a:p/>
          <a:p>
            <a:r>
              <a:t>Stunting adalah gagal tumbuh akibat kekurangan gizi kronis. Masalah utamanya bukan cuma angkanya tinggi, tapi DETEKSINYA terlambat. Untuk tahu seorang anak berisiko atau tidak, orang tua harus bawa ke posyandu atau puskesmas — yang tidak selalu mudah dijangkau.</a:t>
            </a:r>
          </a:p>
          <a:p/>
          <a:p>
            <a:r>
              <a:t>Maka solusi saya: sebuah web application berbasis Machine Learning yang bisa dipakai siapa saja dari HP, gratis, menghitung 7 faktor penyebab stunting sekaligus dengan akurasi 88,40%, berbasis standar WHO, dan dirancang etis — data pengguna tidak disimpan."</a:t>
            </a:r>
          </a:p>
          <a:p/>
          <a:p>
            <a:r>
              <a:t>PENERIMA MANFAAT (sebutkan): orang tua balita, kader posyandu, dan dinas kesehatan.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"Yang membedakan project saya dari kebanyakan aplikasi stunting: model saya menghitung 7 faktor penyebab sekaligus, bukan cuma tinggi badan.</a:t>
            </a:r>
          </a:p>
          <a:p/>
          <a:p>
            <a:r>
              <a:t>Empat faktor dari data anak: umur, jenis kelamin, tinggi badan, dan berat badan.</a:t>
            </a:r>
          </a:p>
          <a:p>
            <a:r>
              <a:t>Tiga faktor lagi dari riwayat ibu — dan ini yang membuat lebih lengkap: jarak kehamilan dari anak sebelumnya (idealnya di atas 24 bulan sesuai program BKKBN '4 Terlalu'), usia ibu saat menikah (pernikahan dini di bawah 20 tahun menambah risiko), dan status gizi ibu saat hamil.</a:t>
            </a:r>
          </a:p>
          <a:p/>
          <a:p>
            <a:r>
              <a:t>Angka persen di tiap kartu adalah bobot kepentingannya. Tinggi badan paling besar 50,6%, lalu umur 28,7%. Ini logis dan sesuai definisi medis stunting yaitu tinggi-badan-menurut-umur. Faktor maternal saya tambahkan berdasarkan literatur jurnal stunting Indonesia."</a:t>
            </a:r>
          </a:p>
          <a:p/>
          <a:p>
            <a:r>
              <a:t>(Kalau ditanya kenapa faktor ibu bobotnya kecil: karena tinggi &amp; umur memang dominan secara medis, tapi faktor ibu tetap menambah ketepatan pada kasus batas.)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"Sekarang bagian teknis — bagaimana saya membuatnya.</a:t>
            </a:r>
          </a:p>
          <a:p/>
          <a:p>
            <a:r>
              <a:t>Tools-nya semuanya gratis dan standar industri: Python sebagai bahasa, scikit-learn untuk modelnya, Pandas untuk mengolah data, Streamlit untuk membuat web app-nya, Google Colab untuk training, dan joblib untuk menyimpan model.</a:t>
            </a:r>
          </a:p>
          <a:p/>
          <a:p>
            <a:r>
              <a:t>Langkahnya ada 6 — ini disebut pipeline:</a:t>
            </a:r>
          </a:p>
          <a:p>
            <a:r>
              <a:t>Satu, kumpulkan data: 25.000 sampel yang saya bangun dari standar resmi WHO 2006 dan distribusi nyata SSGI 2024.</a:t>
            </a:r>
          </a:p>
          <a:p>
            <a:r>
              <a:t>Dua, preprocessing: ubah data teks jadi angka pakai Label Encoding, karena model hanya mengerti angka. Lalu pilih 7 fitur.</a:t>
            </a:r>
          </a:p>
          <a:p>
            <a:r>
              <a:t>Tiga, bagi data 80% untuk latihan dan 20% untuk ujian.</a:t>
            </a:r>
          </a:p>
          <a:p>
            <a:r>
              <a:t>Empat, training Random Forest dengan 120 pohon keputusan, dan saya pakai class_weight balanced supaya adil ke semua kelas.</a:t>
            </a:r>
          </a:p>
          <a:p>
            <a:r>
              <a:t>Lima, evaluasi — hasilnya 88,40%, lalu saya validasi dengan cross-validation dan audit fairness.</a:t>
            </a:r>
          </a:p>
          <a:p>
            <a:r>
              <a:t>Enam, model disimpan jadi file pkl, lalu dipanggil oleh web app.</a:t>
            </a:r>
          </a:p>
          <a:p/>
          <a:p>
            <a:r>
              <a:t>Jadi alurnya: data → bersihkan → latih → uji → pakai di aplikasi."</a:t>
            </a:r>
          </a:p>
          <a:p/>
          <a:p>
            <a:r>
              <a:t>(Kalau ditanya 'kenapa data sintetis?': karena data balita itu sensitif &amp; butuh izin etik; pakai standar WHO membuatnya reproducible dan tetap valid secara medis.)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(bagian PENTING — pelan-pelan):</a:t>
            </a:r>
          </a:p>
          <a:p>
            <a:r>
              <a:t>"Inti AI di project ini adalah algoritma Random Forest. Saya jelaskan sesederhana mungkin.</a:t>
            </a:r>
          </a:p>
          <a:p/>
          <a:p>
            <a:r>
              <a:t>Analoginya begini: kalau kita sakit, lebih yakin mana — tanya satu dokter, atau tanya banyak dokter lalu ambil pendapat terbanyak? Tentu banyak dokter. Random Forest persis seperti itu.</a:t>
            </a:r>
          </a:p>
          <a:p/>
          <a:p>
            <a:r>
              <a:t>Cara kerjanya 3 langkah:</a:t>
            </a:r>
          </a:p>
          <a:p>
            <a:r>
              <a:t>Pertama, dibuat 120 'pohon keputusan'. Tiap pohon dilatih pada potongan data acak yang berbeda — teknik ini namanya bagging. Jadi tiap pohon 'belajar' dari sudut yang sedikit beda.</a:t>
            </a:r>
          </a:p>
          <a:p/>
          <a:p>
            <a:r>
              <a:t>Kedua, saat ada anak baru, semua 120 pohon menebak kategorinya. Lalu diambil suara terbanyak — ini namanya voting mayoritas.</a:t>
            </a:r>
          </a:p>
          <a:p/>
          <a:p>
            <a:r>
              <a:t>Ketiga, hasilnya satu dari empat kategori: Normal, Stunted, Severely Stunted, atau Tinggi — plus tingkat keyakinan dalam persen.</a:t>
            </a:r>
          </a:p>
          <a:p/>
          <a:p>
            <a:r>
              <a:t>Kenapa saya pilih Random Forest? Akurasinya tinggi 88,40%, tahan terhadap overfitting karena gabungan banyak pohon, bisa dijelaskan lewat feature importance, tidak perlu normalisasi data, cepat, dan memang banyak dipakai di riset kesehatan. Teorinya dari paper Leo Breiman tahun 2001."</a:t>
            </a:r>
          </a:p>
          <a:p/>
          <a:p>
            <a:r>
              <a:t>(Ini slide kunci. Kalau dosen cuma dengar satu slide, pastikan slide ini tersampaikan jelas.)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(sambil demo di layar):</a:t>
            </a:r>
          </a:p>
          <a:p>
            <a:r>
              <a:t>"Sekarang saya demokan aplikasinya langsung. Saya jalankan dengan perintah python -m streamlit run app.py, dan aplikasinya terbuka di browser.</a:t>
            </a:r>
          </a:p>
          <a:p/>
          <a:p>
            <a:r>
              <a:t>Kasus pertama — anak normal: umur 24 bulan, laki-laki, tinggi 87 cm, berat 12 kg. Saya klik tombol Analisis... dan hasilnya NORMAL, kartunya hijau, dengan tingkat keyakinan sekitar 80%.</a:t>
            </a:r>
          </a:p>
          <a:p/>
          <a:p>
            <a:r>
              <a:t>Kasus kedua — saya ubah tingginya jadi 80 cm. Klik lagi... sekarang hasilnya STUNTED, kartunya berubah oranye, z-score sekitar minus 2,5.</a:t>
            </a:r>
          </a:p>
          <a:p/>
          <a:p>
            <a:r>
              <a:t>Kasus ketiga — anak 36 bulan, tinggi 83 cm, dan gizi ibu saat hamil saya set Buruk. Hasilnya SEVERELY STUNTED, kartu merah, dan rekomendasinya langsung mengarahkan ke fasilitas kesehatan.</a:t>
            </a:r>
          </a:p>
          <a:p/>
          <a:p>
            <a:r>
              <a:t>Perhatikan Bapak/Ibu, aplikasi juga menampilkan z-score WHO, probabilitas tiap kategori, catatan faktor risiko, dan rekomendasi. Lalu ada tab lain yang menjelaskan project, cara kerja AI, dan etika."</a:t>
            </a:r>
          </a:p>
          <a:p/>
          <a:p>
            <a:r>
              <a:t>(BACKUP PENTING: kalau internet/Colab bermasalah, jalankan LOKAL di laptop. Angka-angka di atas sudah dicocokkan dengan model asli, jadi hasil di layar akan sama.)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"Ini hasil performa modelnya. Akurasi 88,40% — di atas 85%, jadi masuk kategori Excellent sesuai rubrik penilaian. F1-Macro 83,56%, Precision 81,59%, Recall 85,93%.</a:t>
            </a:r>
          </a:p>
          <a:p/>
          <a:p>
            <a:r>
              <a:t>Untuk membuktikan model tidak overfitting, saya lakukan 5-Fold Cross-Validation, hasilnya 84,11% dengan standar deviasi cuma 0,23% — sangat kecil, artinya model konsisten.</a:t>
            </a:r>
          </a:p>
          <a:p/>
          <a:p>
            <a:r>
              <a:t>Tabel di bawah menunjukkan performa per kelas. Kelas Normal, Severely Stunted, dan Tinggi semuanya bagus di atas 0,84. Kelas Stunted sedikit lebih rendah di 0,68 — ini karena Stunted adalah kategori 'batas' antara Normal dan Severely Stunted, jadi paling sulit dibedakan. Tapi secara keseluruhan akurasi tetap Excellent.</a:t>
            </a:r>
          </a:p>
          <a:p/>
          <a:p>
            <a:r>
              <a:t>Datasetnya 25.000 sampel, modelnya Random Forest dengan 120 pohon, ukuran sekitar 9 MB."</a:t>
            </a:r>
          </a:p>
          <a:p/>
          <a:p>
            <a:r>
              <a:t>(Jujur soal kelas Stunted yang lebih rendah = menunjukkan kamu paham model, dosen suka kejujuran analitis.)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"Bagian terakhir — etika AI, yang sesuai Learning Outcome 6.</a:t>
            </a:r>
          </a:p>
          <a:p/>
          <a:p>
            <a:r>
              <a:t>Karena ini aplikasi kesehatan, saya lakukan audit fairness: apakah model adil ke laki-laki dan perempuan? Hasilnya akurasi laki-laki 89,30%, perempuan 87,46% — selisih atau disparitasnya cuma 1,84%, jauh di bawah ambang industri 5%. Jadi model dinyatakan FAIR, tidak bias gender.</a:t>
            </a:r>
          </a:p>
          <a:p/>
          <a:p>
            <a:r>
              <a:t>Selain itu saya menerapkan 6 prinsip etika sesuai pedoman WHO 2021 tentang Ethics of AI for Health:</a:t>
            </a:r>
          </a:p>
          <a:p>
            <a:r>
              <a:t>Privacy — data pengguna tidak disimpan sama sekali.</a:t>
            </a:r>
          </a:p>
          <a:p>
            <a:r>
              <a:t>Fairness — sudah dibuktikan tadi.</a:t>
            </a:r>
          </a:p>
          <a:p>
            <a:r>
              <a:t>Transparency — confidence score selalu ditampilkan, bukan kotak hitam.</a:t>
            </a:r>
          </a:p>
          <a:p>
            <a:r>
              <a:t>Safety — ada disclaimer jelas bahwa ini alat skrining awal, bukan diagnosis.</a:t>
            </a:r>
          </a:p>
          <a:p>
            <a:r>
              <a:t>Accessibility — gratis dan bisa dari HP.</a:t>
            </a:r>
          </a:p>
          <a:p>
            <a:r>
              <a:t>Dan Education — menampilkan z-score WHO supaya pengguna paham konteksnya."</a:t>
            </a:r>
          </a:p>
          <a:p/>
          <a:p>
            <a:r>
              <a:t>(Ini memenuhi LO6 — Analyze the role of Ethics in AI.)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"Sebagai penutup, saya kaitkan dengan Learning Outcomes yang dinilai.</a:t>
            </a:r>
          </a:p>
          <a:p/>
          <a:p>
            <a:r>
              <a:t>LO5 — Apply learning algorithms: terpenuhi lewat implementasi Random Forest dengan 120 pohon pada 7 faktor, mencapai akurasi 88,40%.</a:t>
            </a:r>
          </a:p>
          <a:p/>
          <a:p>
            <a:r>
              <a:t>LO6 — Analyze Ethics in AI: terpenuhi lewat audit fairness, privacy, safety, dan transparency yang tadi saya jelaskan.</a:t>
            </a:r>
          </a:p>
          <a:p/>
          <a:p>
            <a:r>
              <a:t>Pencapaian project: saya mengangkat masalah nyata stunting 19,8%, menghasilkan solusi konkret berupa web app yang benar-benar jalan dan bisa didemokan, dengan akurasi Excellent 88,40%, menghitung 7 faktor penyebab, dan dibangun secara etis.</a:t>
            </a:r>
          </a:p>
          <a:p/>
          <a:p>
            <a:r>
              <a:t>Yang membedakan project saya: outputnya konkret dan langsung bisa dipakai masyarakat — bukan sekadar perbandingan algoritma di atas kertas."</a:t>
            </a:r>
          </a:p>
          <a:p/>
          <a:p>
            <a:r>
              <a:t>(Sampaikan dengan bangga — ini ringkasan kekuatan project kamu.)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"Demikian presentasi saya. Sekali lagi, project ini berhasil membangun solusi nyata untuk masalah nyata: dari masalah stunting 19,8% di Indonesia, menjadi web app machine learning yang bisa dipakai masyarakat, dengan akurasi Excellent 88,40%, dan memenuhi LO5 serta LO6.</a:t>
            </a:r>
          </a:p>
          <a:p/>
          <a:p>
            <a:r>
              <a:t>Terima kasih atas perhatiannya. Saya persilakan jika ada pertanyaan atau diskusi."</a:t>
            </a:r>
          </a:p>
          <a:p/>
          <a:p>
            <a:r>
              <a:t>ANTISIPASI PERTANYAAN DOSEN:</a:t>
            </a:r>
          </a:p>
          <a:p>
            <a:r>
              <a:t>• "Kenapa Random Forest, bukan yang lain?" → Akurasi tinggi, anti-overfitting, bisa dijelaskan (feature importance), cocok untuk data tabular campuran, banyak dipakai di riset medis.</a:t>
            </a:r>
          </a:p>
          <a:p>
            <a:r>
              <a:t>• "Datanya dari mana?" → Dibuat dari standar WHO 2006 + distribusi SSGI 2024. Sintetis karena data balita sensitif; tetap valid secara medis &amp; reproducible.</a:t>
            </a:r>
          </a:p>
          <a:p>
            <a:r>
              <a:t>• "Kenapa akurasi bukan 99%?" → Karena saya tambah 4 faktor maternal &amp; 4 kelas yang lebih realistis; 88,40% tetap Excellent dan lebih jujur daripada angka yang terlalu sempurna.</a:t>
            </a:r>
          </a:p>
          <a:p>
            <a:r>
              <a:t>• "Apa kelemahannya?" → Kelas Stunted paling sulit (kategori batas); data sintetis; bukan pengganti diagnosis dokter.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6858000"/>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0" y="0"/>
            <a:ext cx="12191695" cy="164592"/>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0" y="6693408"/>
            <a:ext cx="12191695" cy="164592"/>
          </a:xfrm>
          <a:prstGeom prst="roundRect">
            <a:avLst/>
          </a:prstGeom>
          <a:solidFill>
            <a:srgbClr val="FF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
            <a:ext cx="10515600" cy="457200"/>
          </a:xfrm>
          <a:prstGeom prst="rect">
            <a:avLst/>
          </a:prstGeom>
          <a:noFill/>
        </p:spPr>
        <p:txBody>
          <a:bodyPr wrap="square" anchor="t" lIns="50800" rIns="50800" tIns="25400" bIns="25400">
            <a:spAutoFit/>
          </a:bodyPr>
          <a:lstStyle/>
          <a:p>
            <a:pPr algn="l"/>
            <a:r>
              <a:rPr sz="1600" b="1">
                <a:solidFill>
                  <a:srgbClr val="2ECC71"/>
                </a:solidFill>
                <a:latin typeface="Segoe UI"/>
              </a:rPr>
              <a:t>🎯  FINAL PRESENTATION — AOL PROJECT</a:t>
            </a:r>
          </a:p>
        </p:txBody>
      </p:sp>
      <p:sp>
        <p:nvSpPr>
          <p:cNvPr id="7" name="TextBox 6"/>
          <p:cNvSpPr txBox="1"/>
          <p:nvPr/>
        </p:nvSpPr>
        <p:spPr>
          <a:xfrm>
            <a:off x="822960" y="1371600"/>
            <a:ext cx="10515600" cy="2377440"/>
          </a:xfrm>
          <a:prstGeom prst="rect">
            <a:avLst/>
          </a:prstGeom>
          <a:noFill/>
        </p:spPr>
        <p:txBody>
          <a:bodyPr wrap="square" anchor="t" lIns="50800" rIns="50800" tIns="25400" bIns="25400">
            <a:spAutoFit/>
          </a:bodyPr>
          <a:lstStyle/>
          <a:p>
            <a:pPr algn="l"/>
            <a:r>
              <a:rPr sz="4400" b="1">
                <a:solidFill>
                  <a:srgbClr val="FFFFFF"/>
                </a:solidFill>
                <a:latin typeface="Segoe UI"/>
              </a:rPr>
              <a:t>Deteksi Dini Risiko Stunting</a:t>
            </a:r>
          </a:p>
          <a:p>
            <a:pPr algn="l"/>
            <a:r>
              <a:rPr sz="4400" b="1">
                <a:solidFill>
                  <a:srgbClr val="FFFFFF"/>
                </a:solidFill>
                <a:latin typeface="Segoe UI"/>
              </a:rPr>
              <a:t>pada Balita</a:t>
            </a:r>
          </a:p>
          <a:p>
            <a:pPr algn="l"/>
            <a:r>
              <a:rPr sz="2200" b="0">
                <a:solidFill>
                  <a:srgbClr val="2ECC71"/>
                </a:solidFill>
                <a:latin typeface="Segoe UI"/>
              </a:rPr>
              <a:t>dengan Machine Learning (Random Forest)</a:t>
            </a:r>
          </a:p>
        </p:txBody>
      </p:sp>
      <p:sp>
        <p:nvSpPr>
          <p:cNvPr id="8" name="Rounded Rectangle 7"/>
          <p:cNvSpPr/>
          <p:nvPr/>
        </p:nvSpPr>
        <p:spPr>
          <a:xfrm>
            <a:off x="822960" y="3977639"/>
            <a:ext cx="5486400" cy="86868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069080"/>
            <a:ext cx="5120640" cy="731520"/>
          </a:xfrm>
          <a:prstGeom prst="rect">
            <a:avLst/>
          </a:prstGeom>
          <a:noFill/>
        </p:spPr>
        <p:txBody>
          <a:bodyPr wrap="square" anchor="ctr" lIns="50800" rIns="50800" tIns="25400" bIns="25400">
            <a:spAutoFit/>
          </a:bodyPr>
          <a:lstStyle/>
          <a:p>
            <a:pPr algn="l"/>
            <a:r>
              <a:rPr sz="1900" b="1">
                <a:solidFill>
                  <a:srgbClr val="FFFFFF"/>
                </a:solidFill>
                <a:latin typeface="Segoe UI"/>
              </a:rPr>
              <a:t>✅  Akurasi Model: 88.40%</a:t>
            </a:r>
          </a:p>
          <a:p>
            <a:pPr algn="l"/>
            <a:r>
              <a:rPr sz="1250" b="0">
                <a:solidFill>
                  <a:srgbClr val="FFFFFF"/>
                </a:solidFill>
                <a:latin typeface="Segoe UI"/>
              </a:rPr>
              <a:t>Excellent (≥85%) · 7 Faktor Penyebab · Streamlit Web App</a:t>
            </a:r>
          </a:p>
        </p:txBody>
      </p:sp>
      <p:sp>
        <p:nvSpPr>
          <p:cNvPr id="10" name="TextBox 9"/>
          <p:cNvSpPr txBox="1"/>
          <p:nvPr/>
        </p:nvSpPr>
        <p:spPr>
          <a:xfrm>
            <a:off x="822960" y="5212080"/>
            <a:ext cx="10515600" cy="1097280"/>
          </a:xfrm>
          <a:prstGeom prst="rect">
            <a:avLst/>
          </a:prstGeom>
          <a:noFill/>
        </p:spPr>
        <p:txBody>
          <a:bodyPr wrap="square" anchor="t" lIns="50800" rIns="50800" tIns="25400" bIns="25400">
            <a:spAutoFit/>
          </a:bodyPr>
          <a:lstStyle/>
          <a:p>
            <a:pPr algn="l"/>
            <a:r>
              <a:rPr sz="1800" b="1">
                <a:solidFill>
                  <a:srgbClr val="FFFFFF"/>
                </a:solidFill>
                <a:latin typeface="Segoe UI"/>
              </a:rPr>
              <a:t>👨‍🎓  Daniel Steffen K  ·  NIM: 2602071171</a:t>
            </a:r>
          </a:p>
          <a:p>
            <a:pPr algn="l"/>
            <a:r>
              <a:rPr sz="1400" b="0">
                <a:solidFill>
                  <a:srgbClr val="2ECC71"/>
                </a:solidFill>
                <a:latin typeface="Segoe UI"/>
              </a:rPr>
              <a:t>COMP6065001 Artificial Intelligence  ·  Kelas LA05-LEC  ·  BINUS University</a:t>
            </a:r>
          </a:p>
          <a:p>
            <a:pPr algn="l"/>
            <a:r>
              <a:rPr sz="1250" b="0">
                <a:solidFill>
                  <a:srgbClr val="FFC43A"/>
                </a:solidFill>
                <a:latin typeface="Segoe UI"/>
              </a:rPr>
              <a:t>SDG #3 — Good Health and Well-being  ·  Malnutrition Monitoring in Children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51560"/>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46888"/>
            <a:ext cx="566928" cy="566928"/>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50800" rIns="50800" tIns="25400" bIns="25400">
            <a:spAutoFit/>
          </a:bodyPr>
          <a:lstStyle/>
          <a:p>
            <a:pPr algn="ctr"/>
            <a:r>
              <a:rPr sz="2000" b="1">
                <a:solidFill>
                  <a:srgbClr val="FFFFFF"/>
                </a:solidFill>
                <a:latin typeface="Segoe UI"/>
              </a:rPr>
              <a:t>•</a:t>
            </a:r>
          </a:p>
        </p:txBody>
      </p:sp>
      <p:sp>
        <p:nvSpPr>
          <p:cNvPr id="6" name="TextBox 5"/>
          <p:cNvSpPr txBox="1"/>
          <p:nvPr/>
        </p:nvSpPr>
        <p:spPr>
          <a:xfrm>
            <a:off x="1188720" y="164592"/>
            <a:ext cx="10515600" cy="731520"/>
          </a:xfrm>
          <a:prstGeom prst="rect">
            <a:avLst/>
          </a:prstGeom>
          <a:noFill/>
        </p:spPr>
        <p:txBody>
          <a:bodyPr wrap="square" anchor="ctr" lIns="50800" rIns="50800" tIns="25400" bIns="25400">
            <a:spAutoFit/>
          </a:bodyPr>
          <a:lstStyle/>
          <a:p>
            <a:pPr algn="l"/>
            <a:r>
              <a:rPr sz="2600" b="1">
                <a:solidFill>
                  <a:srgbClr val="FFFFFF"/>
                </a:solidFill>
                <a:latin typeface="Segoe UI"/>
              </a:rPr>
              <a:t>Agenda Presentasi</a:t>
            </a:r>
          </a:p>
        </p:txBody>
      </p:sp>
      <p:sp>
        <p:nvSpPr>
          <p:cNvPr id="7" name="Rounded Rectangle 6"/>
          <p:cNvSpPr/>
          <p:nvPr/>
        </p:nvSpPr>
        <p:spPr>
          <a:xfrm>
            <a:off x="640080" y="1371600"/>
            <a:ext cx="5440680" cy="1417320"/>
          </a:xfrm>
          <a:prstGeom prst="roundRect">
            <a:avLst/>
          </a:prstGeom>
          <a:solidFill>
            <a:srgbClr val="FFFFFF"/>
          </a:solidFill>
          <a:ln w="1905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371600"/>
            <a:ext cx="164592" cy="141732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371600"/>
            <a:ext cx="1005840" cy="1417320"/>
          </a:xfrm>
          <a:prstGeom prst="rect">
            <a:avLst/>
          </a:prstGeom>
          <a:noFill/>
        </p:spPr>
        <p:txBody>
          <a:bodyPr wrap="square" anchor="ctr" lIns="50800" rIns="50800" tIns="25400" bIns="25400">
            <a:spAutoFit/>
          </a:bodyPr>
          <a:lstStyle/>
          <a:p>
            <a:pPr algn="l"/>
            <a:r>
              <a:rPr sz="3000" b="1">
                <a:solidFill>
                  <a:srgbClr val="06A357"/>
                </a:solidFill>
                <a:latin typeface="Segoe UI"/>
              </a:rPr>
              <a:t>01</a:t>
            </a:r>
          </a:p>
        </p:txBody>
      </p:sp>
      <p:sp>
        <p:nvSpPr>
          <p:cNvPr id="10" name="TextBox 9"/>
          <p:cNvSpPr txBox="1"/>
          <p:nvPr/>
        </p:nvSpPr>
        <p:spPr>
          <a:xfrm>
            <a:off x="2011680" y="1554480"/>
            <a:ext cx="3886200" cy="1143000"/>
          </a:xfrm>
          <a:prstGeom prst="rect">
            <a:avLst/>
          </a:prstGeom>
          <a:noFill/>
        </p:spPr>
        <p:txBody>
          <a:bodyPr wrap="square" anchor="ctr" lIns="50800" rIns="50800" tIns="25400" bIns="25400">
            <a:spAutoFit/>
          </a:bodyPr>
          <a:lstStyle/>
          <a:p>
            <a:pPr algn="l"/>
            <a:r>
              <a:rPr sz="1700" b="1">
                <a:solidFill>
                  <a:srgbClr val="014A2F"/>
                </a:solidFill>
                <a:latin typeface="Segoe UI"/>
              </a:rPr>
              <a:t>Masalah &amp; Solusi</a:t>
            </a:r>
          </a:p>
          <a:p>
            <a:pPr algn="l"/>
            <a:r>
              <a:rPr sz="1200" b="0">
                <a:solidFill>
                  <a:srgbClr val="5A6B60"/>
                </a:solidFill>
                <a:latin typeface="Segoe UI"/>
              </a:rPr>
              <a:t>Mengapa stunting penting &amp; solusi AI yang dibangun</a:t>
            </a:r>
          </a:p>
        </p:txBody>
      </p:sp>
      <p:sp>
        <p:nvSpPr>
          <p:cNvPr id="11" name="Rounded Rectangle 10"/>
          <p:cNvSpPr/>
          <p:nvPr/>
        </p:nvSpPr>
        <p:spPr>
          <a:xfrm>
            <a:off x="6400800" y="1371600"/>
            <a:ext cx="5440680" cy="1417320"/>
          </a:xfrm>
          <a:prstGeom prst="roundRect">
            <a:avLst/>
          </a:prstGeom>
          <a:solidFill>
            <a:srgbClr val="FFFFFF"/>
          </a:solidFill>
          <a:ln w="1905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1371600"/>
            <a:ext cx="164592" cy="141732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371600"/>
            <a:ext cx="1005840" cy="1417320"/>
          </a:xfrm>
          <a:prstGeom prst="rect">
            <a:avLst/>
          </a:prstGeom>
          <a:noFill/>
        </p:spPr>
        <p:txBody>
          <a:bodyPr wrap="square" anchor="ctr" lIns="50800" rIns="50800" tIns="25400" bIns="25400">
            <a:spAutoFit/>
          </a:bodyPr>
          <a:lstStyle/>
          <a:p>
            <a:pPr algn="l"/>
            <a:r>
              <a:rPr sz="3000" b="1">
                <a:solidFill>
                  <a:srgbClr val="06A357"/>
                </a:solidFill>
                <a:latin typeface="Segoe UI"/>
              </a:rPr>
              <a:t>02</a:t>
            </a:r>
          </a:p>
        </p:txBody>
      </p:sp>
      <p:sp>
        <p:nvSpPr>
          <p:cNvPr id="14" name="TextBox 13"/>
          <p:cNvSpPr txBox="1"/>
          <p:nvPr/>
        </p:nvSpPr>
        <p:spPr>
          <a:xfrm>
            <a:off x="7772400" y="1554480"/>
            <a:ext cx="3886200" cy="1143000"/>
          </a:xfrm>
          <a:prstGeom prst="rect">
            <a:avLst/>
          </a:prstGeom>
          <a:noFill/>
        </p:spPr>
        <p:txBody>
          <a:bodyPr wrap="square" anchor="ctr" lIns="50800" rIns="50800" tIns="25400" bIns="25400">
            <a:spAutoFit/>
          </a:bodyPr>
          <a:lstStyle/>
          <a:p>
            <a:pPr algn="l"/>
            <a:r>
              <a:rPr sz="1700" b="1">
                <a:solidFill>
                  <a:srgbClr val="014A2F"/>
                </a:solidFill>
                <a:latin typeface="Segoe UI"/>
              </a:rPr>
              <a:t>7 Faktor Penyebab</a:t>
            </a:r>
          </a:p>
          <a:p>
            <a:pPr algn="l"/>
            <a:r>
              <a:rPr sz="1200" b="0">
                <a:solidFill>
                  <a:srgbClr val="5A6B60"/>
                </a:solidFill>
                <a:latin typeface="Segoe UI"/>
              </a:rPr>
              <a:t>Data apa saja yang dihitung model</a:t>
            </a:r>
          </a:p>
        </p:txBody>
      </p:sp>
      <p:sp>
        <p:nvSpPr>
          <p:cNvPr id="15" name="Rounded Rectangle 14"/>
          <p:cNvSpPr/>
          <p:nvPr/>
        </p:nvSpPr>
        <p:spPr>
          <a:xfrm>
            <a:off x="640080" y="3063240"/>
            <a:ext cx="5440680" cy="1417320"/>
          </a:xfrm>
          <a:prstGeom prst="roundRect">
            <a:avLst/>
          </a:prstGeom>
          <a:solidFill>
            <a:srgbClr val="FFFFFF"/>
          </a:solidFill>
          <a:ln w="1905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40080" y="3063240"/>
            <a:ext cx="164592" cy="141732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063240"/>
            <a:ext cx="1005840" cy="1417320"/>
          </a:xfrm>
          <a:prstGeom prst="rect">
            <a:avLst/>
          </a:prstGeom>
          <a:noFill/>
        </p:spPr>
        <p:txBody>
          <a:bodyPr wrap="square" anchor="ctr" lIns="50800" rIns="50800" tIns="25400" bIns="25400">
            <a:spAutoFit/>
          </a:bodyPr>
          <a:lstStyle/>
          <a:p>
            <a:pPr algn="l"/>
            <a:r>
              <a:rPr sz="3000" b="1">
                <a:solidFill>
                  <a:srgbClr val="06A357"/>
                </a:solidFill>
                <a:latin typeface="Segoe UI"/>
              </a:rPr>
              <a:t>03</a:t>
            </a:r>
          </a:p>
        </p:txBody>
      </p:sp>
      <p:sp>
        <p:nvSpPr>
          <p:cNvPr id="18" name="TextBox 17"/>
          <p:cNvSpPr txBox="1"/>
          <p:nvPr/>
        </p:nvSpPr>
        <p:spPr>
          <a:xfrm>
            <a:off x="2011680" y="3246120"/>
            <a:ext cx="3886200" cy="1143000"/>
          </a:xfrm>
          <a:prstGeom prst="rect">
            <a:avLst/>
          </a:prstGeom>
          <a:noFill/>
        </p:spPr>
        <p:txBody>
          <a:bodyPr wrap="square" anchor="ctr" lIns="50800" rIns="50800" tIns="25400" bIns="25400">
            <a:spAutoFit/>
          </a:bodyPr>
          <a:lstStyle/>
          <a:p>
            <a:pPr algn="l"/>
            <a:r>
              <a:rPr sz="1700" b="1">
                <a:solidFill>
                  <a:srgbClr val="014A2F"/>
                </a:solidFill>
                <a:latin typeface="Segoe UI"/>
              </a:rPr>
              <a:t>Cara Pembuatan (Teknis)</a:t>
            </a:r>
          </a:p>
          <a:p>
            <a:pPr algn="l"/>
            <a:r>
              <a:rPr sz="1200" b="0">
                <a:solidFill>
                  <a:srgbClr val="5A6B60"/>
                </a:solidFill>
                <a:latin typeface="Segoe UI"/>
              </a:rPr>
              <a:t>Tools, dataset, &amp; langkah pembuatan</a:t>
            </a:r>
          </a:p>
        </p:txBody>
      </p:sp>
      <p:sp>
        <p:nvSpPr>
          <p:cNvPr id="19" name="Rounded Rectangle 18"/>
          <p:cNvSpPr/>
          <p:nvPr/>
        </p:nvSpPr>
        <p:spPr>
          <a:xfrm>
            <a:off x="6400800" y="3063240"/>
            <a:ext cx="5440680" cy="1417320"/>
          </a:xfrm>
          <a:prstGeom prst="roundRect">
            <a:avLst/>
          </a:prstGeom>
          <a:solidFill>
            <a:srgbClr val="FFFFFF"/>
          </a:solidFill>
          <a:ln w="1905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063240"/>
            <a:ext cx="164592" cy="141732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063240"/>
            <a:ext cx="1005840" cy="1417320"/>
          </a:xfrm>
          <a:prstGeom prst="rect">
            <a:avLst/>
          </a:prstGeom>
          <a:noFill/>
        </p:spPr>
        <p:txBody>
          <a:bodyPr wrap="square" anchor="ctr" lIns="50800" rIns="50800" tIns="25400" bIns="25400">
            <a:spAutoFit/>
          </a:bodyPr>
          <a:lstStyle/>
          <a:p>
            <a:pPr algn="l"/>
            <a:r>
              <a:rPr sz="3000" b="1">
                <a:solidFill>
                  <a:srgbClr val="06A357"/>
                </a:solidFill>
                <a:latin typeface="Segoe UI"/>
              </a:rPr>
              <a:t>04</a:t>
            </a:r>
          </a:p>
        </p:txBody>
      </p:sp>
      <p:sp>
        <p:nvSpPr>
          <p:cNvPr id="22" name="TextBox 21"/>
          <p:cNvSpPr txBox="1"/>
          <p:nvPr/>
        </p:nvSpPr>
        <p:spPr>
          <a:xfrm>
            <a:off x="7772400" y="3246120"/>
            <a:ext cx="3886200" cy="1143000"/>
          </a:xfrm>
          <a:prstGeom prst="rect">
            <a:avLst/>
          </a:prstGeom>
          <a:noFill/>
        </p:spPr>
        <p:txBody>
          <a:bodyPr wrap="square" anchor="ctr" lIns="50800" rIns="50800" tIns="25400" bIns="25400">
            <a:spAutoFit/>
          </a:bodyPr>
          <a:lstStyle/>
          <a:p>
            <a:pPr algn="l"/>
            <a:r>
              <a:rPr sz="1700" b="1">
                <a:solidFill>
                  <a:srgbClr val="014A2F"/>
                </a:solidFill>
                <a:latin typeface="Segoe UI"/>
              </a:rPr>
              <a:t>Random Forest</a:t>
            </a:r>
          </a:p>
          <a:p>
            <a:pPr algn="l"/>
            <a:r>
              <a:rPr sz="1200" b="0">
                <a:solidFill>
                  <a:srgbClr val="5A6B60"/>
                </a:solidFill>
                <a:latin typeface="Segoe UI"/>
              </a:rPr>
              <a:t>Bagaimana algoritmanya bekerja (sederhana)</a:t>
            </a:r>
          </a:p>
        </p:txBody>
      </p:sp>
      <p:sp>
        <p:nvSpPr>
          <p:cNvPr id="23" name="Rounded Rectangle 22"/>
          <p:cNvSpPr/>
          <p:nvPr/>
        </p:nvSpPr>
        <p:spPr>
          <a:xfrm>
            <a:off x="640080" y="4754880"/>
            <a:ext cx="5440680" cy="1417320"/>
          </a:xfrm>
          <a:prstGeom prst="roundRect">
            <a:avLst/>
          </a:prstGeom>
          <a:solidFill>
            <a:srgbClr val="FFFFFF"/>
          </a:solidFill>
          <a:ln w="1905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40080" y="4754880"/>
            <a:ext cx="164592" cy="141732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4754880"/>
            <a:ext cx="1005840" cy="1417320"/>
          </a:xfrm>
          <a:prstGeom prst="rect">
            <a:avLst/>
          </a:prstGeom>
          <a:noFill/>
        </p:spPr>
        <p:txBody>
          <a:bodyPr wrap="square" anchor="ctr" lIns="50800" rIns="50800" tIns="25400" bIns="25400">
            <a:spAutoFit/>
          </a:bodyPr>
          <a:lstStyle/>
          <a:p>
            <a:pPr algn="l"/>
            <a:r>
              <a:rPr sz="3000" b="1">
                <a:solidFill>
                  <a:srgbClr val="06A357"/>
                </a:solidFill>
                <a:latin typeface="Segoe UI"/>
              </a:rPr>
              <a:t>05</a:t>
            </a:r>
          </a:p>
        </p:txBody>
      </p:sp>
      <p:sp>
        <p:nvSpPr>
          <p:cNvPr id="26" name="TextBox 25"/>
          <p:cNvSpPr txBox="1"/>
          <p:nvPr/>
        </p:nvSpPr>
        <p:spPr>
          <a:xfrm>
            <a:off x="2011680" y="4937760"/>
            <a:ext cx="3886200" cy="1143000"/>
          </a:xfrm>
          <a:prstGeom prst="rect">
            <a:avLst/>
          </a:prstGeom>
          <a:noFill/>
        </p:spPr>
        <p:txBody>
          <a:bodyPr wrap="square" anchor="ctr" lIns="50800" rIns="50800" tIns="25400" bIns="25400">
            <a:spAutoFit/>
          </a:bodyPr>
          <a:lstStyle/>
          <a:p>
            <a:pPr algn="l"/>
            <a:r>
              <a:rPr sz="1700" b="1">
                <a:solidFill>
                  <a:srgbClr val="014A2F"/>
                </a:solidFill>
                <a:latin typeface="Segoe UI"/>
              </a:rPr>
              <a:t>Live Demo + Hasil Model</a:t>
            </a:r>
          </a:p>
          <a:p>
            <a:pPr algn="l"/>
            <a:r>
              <a:rPr sz="1200" b="0">
                <a:solidFill>
                  <a:srgbClr val="5A6B60"/>
                </a:solidFill>
                <a:latin typeface="Segoe UI"/>
              </a:rPr>
              <a:t>Demonstrasi app &amp; performa 88,40%</a:t>
            </a:r>
          </a:p>
        </p:txBody>
      </p:sp>
      <p:sp>
        <p:nvSpPr>
          <p:cNvPr id="27" name="Rounded Rectangle 26"/>
          <p:cNvSpPr/>
          <p:nvPr/>
        </p:nvSpPr>
        <p:spPr>
          <a:xfrm>
            <a:off x="6400800" y="4754880"/>
            <a:ext cx="5440680" cy="1417320"/>
          </a:xfrm>
          <a:prstGeom prst="roundRect">
            <a:avLst/>
          </a:prstGeom>
          <a:solidFill>
            <a:srgbClr val="FFFFFF"/>
          </a:solidFill>
          <a:ln w="1905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00800" y="4754880"/>
            <a:ext cx="164592" cy="141732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20840" y="4754880"/>
            <a:ext cx="1005840" cy="1417320"/>
          </a:xfrm>
          <a:prstGeom prst="rect">
            <a:avLst/>
          </a:prstGeom>
          <a:noFill/>
        </p:spPr>
        <p:txBody>
          <a:bodyPr wrap="square" anchor="ctr" lIns="50800" rIns="50800" tIns="25400" bIns="25400">
            <a:spAutoFit/>
          </a:bodyPr>
          <a:lstStyle/>
          <a:p>
            <a:pPr algn="l"/>
            <a:r>
              <a:rPr sz="3000" b="1">
                <a:solidFill>
                  <a:srgbClr val="06A357"/>
                </a:solidFill>
                <a:latin typeface="Segoe UI"/>
              </a:rPr>
              <a:t>06</a:t>
            </a:r>
          </a:p>
        </p:txBody>
      </p:sp>
      <p:sp>
        <p:nvSpPr>
          <p:cNvPr id="30" name="TextBox 29"/>
          <p:cNvSpPr txBox="1"/>
          <p:nvPr/>
        </p:nvSpPr>
        <p:spPr>
          <a:xfrm>
            <a:off x="7772400" y="4937760"/>
            <a:ext cx="3886200" cy="1143000"/>
          </a:xfrm>
          <a:prstGeom prst="rect">
            <a:avLst/>
          </a:prstGeom>
          <a:noFill/>
        </p:spPr>
        <p:txBody>
          <a:bodyPr wrap="square" anchor="ctr" lIns="50800" rIns="50800" tIns="25400" bIns="25400">
            <a:spAutoFit/>
          </a:bodyPr>
          <a:lstStyle/>
          <a:p>
            <a:pPr algn="l"/>
            <a:r>
              <a:rPr sz="1700" b="1">
                <a:solidFill>
                  <a:srgbClr val="014A2F"/>
                </a:solidFill>
                <a:latin typeface="Segoe UI"/>
              </a:rPr>
              <a:t>Etika (LO6) &amp; Kesimpulan</a:t>
            </a:r>
          </a:p>
          <a:p>
            <a:pPr algn="l"/>
            <a:r>
              <a:rPr sz="1200" b="0">
                <a:solidFill>
                  <a:srgbClr val="5A6B60"/>
                </a:solidFill>
                <a:latin typeface="Segoe UI"/>
              </a:rPr>
              <a:t>Fairness, privacy &amp; penutup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51560"/>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46888"/>
            <a:ext cx="566928" cy="566928"/>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50800" rIns="50800" tIns="25400" bIns="25400">
            <a:spAutoFit/>
          </a:bodyPr>
          <a:lstStyle/>
          <a:p>
            <a:pPr algn="ctr"/>
            <a:r>
              <a:rPr sz="2000" b="1">
                <a:solidFill>
                  <a:srgbClr val="FFFFFF"/>
                </a:solidFill>
                <a:latin typeface="Segoe UI"/>
              </a:rPr>
              <a:t>01</a:t>
            </a:r>
          </a:p>
        </p:txBody>
      </p:sp>
      <p:sp>
        <p:nvSpPr>
          <p:cNvPr id="6" name="TextBox 5"/>
          <p:cNvSpPr txBox="1"/>
          <p:nvPr/>
        </p:nvSpPr>
        <p:spPr>
          <a:xfrm>
            <a:off x="1188720" y="164592"/>
            <a:ext cx="10515600" cy="731520"/>
          </a:xfrm>
          <a:prstGeom prst="rect">
            <a:avLst/>
          </a:prstGeom>
          <a:noFill/>
        </p:spPr>
        <p:txBody>
          <a:bodyPr wrap="square" anchor="ctr" lIns="50800" rIns="50800" tIns="25400" bIns="25400">
            <a:spAutoFit/>
          </a:bodyPr>
          <a:lstStyle/>
          <a:p>
            <a:pPr algn="l"/>
            <a:r>
              <a:rPr sz="2600" b="1">
                <a:solidFill>
                  <a:srgbClr val="FFFFFF"/>
                </a:solidFill>
                <a:latin typeface="Segoe UI"/>
              </a:rPr>
              <a:t>Masalah &amp; Solusi</a:t>
            </a:r>
          </a:p>
        </p:txBody>
      </p:sp>
      <p:sp>
        <p:nvSpPr>
          <p:cNvPr id="7" name="TextBox 6"/>
          <p:cNvSpPr txBox="1"/>
          <p:nvPr/>
        </p:nvSpPr>
        <p:spPr>
          <a:xfrm>
            <a:off x="548640" y="1234440"/>
            <a:ext cx="5486400" cy="365760"/>
          </a:xfrm>
          <a:prstGeom prst="rect">
            <a:avLst/>
          </a:prstGeom>
          <a:noFill/>
        </p:spPr>
        <p:txBody>
          <a:bodyPr wrap="square" anchor="t" lIns="50800" rIns="50800" tIns="25400" bIns="25400">
            <a:spAutoFit/>
          </a:bodyPr>
          <a:lstStyle/>
          <a:p>
            <a:pPr algn="l"/>
            <a:r>
              <a:rPr sz="1600" b="1">
                <a:solidFill>
                  <a:srgbClr val="DC3545"/>
                </a:solidFill>
                <a:latin typeface="Segoe UI"/>
              </a:rPr>
              <a:t>❌  MASALAH</a:t>
            </a:r>
          </a:p>
        </p:txBody>
      </p:sp>
      <p:sp>
        <p:nvSpPr>
          <p:cNvPr id="8" name="Rounded Rectangle 7"/>
          <p:cNvSpPr/>
          <p:nvPr/>
        </p:nvSpPr>
        <p:spPr>
          <a:xfrm>
            <a:off x="548640" y="1691640"/>
            <a:ext cx="5486400" cy="1051560"/>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91640"/>
            <a:ext cx="1737360" cy="1051560"/>
          </a:xfrm>
          <a:prstGeom prst="rect">
            <a:avLst/>
          </a:prstGeom>
          <a:noFill/>
        </p:spPr>
        <p:txBody>
          <a:bodyPr wrap="square" anchor="ctr" lIns="50800" rIns="50800" tIns="25400" bIns="25400">
            <a:spAutoFit/>
          </a:bodyPr>
          <a:lstStyle/>
          <a:p>
            <a:pPr algn="l"/>
            <a:r>
              <a:rPr sz="2600" b="1">
                <a:solidFill>
                  <a:srgbClr val="DC3545"/>
                </a:solidFill>
                <a:latin typeface="Segoe UI"/>
              </a:rPr>
              <a:t>19,8%</a:t>
            </a:r>
          </a:p>
        </p:txBody>
      </p:sp>
      <p:sp>
        <p:nvSpPr>
          <p:cNvPr id="10" name="TextBox 9"/>
          <p:cNvSpPr txBox="1"/>
          <p:nvPr/>
        </p:nvSpPr>
        <p:spPr>
          <a:xfrm>
            <a:off x="2468880" y="1691640"/>
            <a:ext cx="3474720" cy="1051560"/>
          </a:xfrm>
          <a:prstGeom prst="rect">
            <a:avLst/>
          </a:prstGeom>
          <a:noFill/>
        </p:spPr>
        <p:txBody>
          <a:bodyPr wrap="square" anchor="ctr" lIns="50800" rIns="50800" tIns="25400" bIns="25400">
            <a:spAutoFit/>
          </a:bodyPr>
          <a:lstStyle/>
          <a:p>
            <a:pPr algn="l"/>
            <a:r>
              <a:rPr sz="1300" b="0">
                <a:solidFill>
                  <a:srgbClr val="15241C"/>
                </a:solidFill>
                <a:latin typeface="Segoe UI"/>
              </a:rPr>
              <a:t>Prevalensi stunting di Indonesia (SSGI 2024, Kemenkes RI)</a:t>
            </a:r>
          </a:p>
        </p:txBody>
      </p:sp>
      <p:sp>
        <p:nvSpPr>
          <p:cNvPr id="11" name="Rounded Rectangle 10"/>
          <p:cNvSpPr/>
          <p:nvPr/>
        </p:nvSpPr>
        <p:spPr>
          <a:xfrm>
            <a:off x="548640" y="2880360"/>
            <a:ext cx="5486400" cy="1051560"/>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880360"/>
            <a:ext cx="1737360" cy="1051560"/>
          </a:xfrm>
          <a:prstGeom prst="rect">
            <a:avLst/>
          </a:prstGeom>
          <a:noFill/>
        </p:spPr>
        <p:txBody>
          <a:bodyPr wrap="square" anchor="ctr" lIns="50800" rIns="50800" tIns="25400" bIns="25400">
            <a:spAutoFit/>
          </a:bodyPr>
          <a:lstStyle/>
          <a:p>
            <a:pPr algn="l"/>
            <a:r>
              <a:rPr sz="2600" b="1">
                <a:solidFill>
                  <a:srgbClr val="DC3545"/>
                </a:solidFill>
                <a:latin typeface="Segoe UI"/>
              </a:rPr>
              <a:t>4,4 Juta</a:t>
            </a:r>
          </a:p>
        </p:txBody>
      </p:sp>
      <p:sp>
        <p:nvSpPr>
          <p:cNvPr id="13" name="TextBox 12"/>
          <p:cNvSpPr txBox="1"/>
          <p:nvPr/>
        </p:nvSpPr>
        <p:spPr>
          <a:xfrm>
            <a:off x="2468880" y="2880360"/>
            <a:ext cx="3474720" cy="1051560"/>
          </a:xfrm>
          <a:prstGeom prst="rect">
            <a:avLst/>
          </a:prstGeom>
          <a:noFill/>
        </p:spPr>
        <p:txBody>
          <a:bodyPr wrap="square" anchor="ctr" lIns="50800" rIns="50800" tIns="25400" bIns="25400">
            <a:spAutoFit/>
          </a:bodyPr>
          <a:lstStyle/>
          <a:p>
            <a:pPr algn="l"/>
            <a:r>
              <a:rPr sz="1300" b="0">
                <a:solidFill>
                  <a:srgbClr val="15241C"/>
                </a:solidFill>
                <a:latin typeface="Segoe UI"/>
              </a:rPr>
              <a:t>Balita Indonesia masih mengalami stunting</a:t>
            </a:r>
          </a:p>
        </p:txBody>
      </p:sp>
      <p:sp>
        <p:nvSpPr>
          <p:cNvPr id="14" name="Rounded Rectangle 13"/>
          <p:cNvSpPr/>
          <p:nvPr/>
        </p:nvSpPr>
        <p:spPr>
          <a:xfrm>
            <a:off x="548640" y="4069080"/>
            <a:ext cx="5486400" cy="1051560"/>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069080"/>
            <a:ext cx="1737360" cy="1051560"/>
          </a:xfrm>
          <a:prstGeom prst="rect">
            <a:avLst/>
          </a:prstGeom>
          <a:noFill/>
        </p:spPr>
        <p:txBody>
          <a:bodyPr wrap="square" anchor="ctr" lIns="50800" rIns="50800" tIns="25400" bIns="25400">
            <a:spAutoFit/>
          </a:bodyPr>
          <a:lstStyle/>
          <a:p>
            <a:pPr algn="l"/>
            <a:r>
              <a:rPr sz="2600" b="1">
                <a:solidFill>
                  <a:srgbClr val="DC3545"/>
                </a:solidFill>
                <a:latin typeface="Segoe UI"/>
              </a:rPr>
              <a:t>Akses</a:t>
            </a:r>
          </a:p>
        </p:txBody>
      </p:sp>
      <p:sp>
        <p:nvSpPr>
          <p:cNvPr id="16" name="TextBox 15"/>
          <p:cNvSpPr txBox="1"/>
          <p:nvPr/>
        </p:nvSpPr>
        <p:spPr>
          <a:xfrm>
            <a:off x="2468880" y="4069080"/>
            <a:ext cx="3474720" cy="1051560"/>
          </a:xfrm>
          <a:prstGeom prst="rect">
            <a:avLst/>
          </a:prstGeom>
          <a:noFill/>
        </p:spPr>
        <p:txBody>
          <a:bodyPr wrap="square" anchor="ctr" lIns="50800" rIns="50800" tIns="25400" bIns="25400">
            <a:spAutoFit/>
          </a:bodyPr>
          <a:lstStyle/>
          <a:p>
            <a:pPr algn="l"/>
            <a:r>
              <a:rPr sz="1300" b="0">
                <a:solidFill>
                  <a:srgbClr val="15241C"/>
                </a:solidFill>
                <a:latin typeface="Segoe UI"/>
              </a:rPr>
              <a:t>Deteksi dini butuh kunjungan ke faskes — sulit di daerah terpencil</a:t>
            </a:r>
          </a:p>
        </p:txBody>
      </p:sp>
      <p:sp>
        <p:nvSpPr>
          <p:cNvPr id="17" name="TextBox 16"/>
          <p:cNvSpPr txBox="1"/>
          <p:nvPr/>
        </p:nvSpPr>
        <p:spPr>
          <a:xfrm>
            <a:off x="6355080" y="1234440"/>
            <a:ext cx="5486400" cy="365760"/>
          </a:xfrm>
          <a:prstGeom prst="rect">
            <a:avLst/>
          </a:prstGeom>
          <a:noFill/>
        </p:spPr>
        <p:txBody>
          <a:bodyPr wrap="square" anchor="t" lIns="50800" rIns="50800" tIns="25400" bIns="25400">
            <a:spAutoFit/>
          </a:bodyPr>
          <a:lstStyle/>
          <a:p>
            <a:pPr algn="l"/>
            <a:r>
              <a:rPr sz="1600" b="1">
                <a:solidFill>
                  <a:srgbClr val="06A357"/>
                </a:solidFill>
                <a:latin typeface="Segoe UI"/>
              </a:rPr>
              <a:t>✅  SOLUSI YANG DIBANGUN</a:t>
            </a:r>
          </a:p>
        </p:txBody>
      </p:sp>
      <p:sp>
        <p:nvSpPr>
          <p:cNvPr id="18" name="Rounded Rectangle 17"/>
          <p:cNvSpPr/>
          <p:nvPr/>
        </p:nvSpPr>
        <p:spPr>
          <a:xfrm>
            <a:off x="6355080" y="1691640"/>
            <a:ext cx="5303520" cy="841248"/>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1691640"/>
            <a:ext cx="146304" cy="841248"/>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1691640"/>
            <a:ext cx="640080" cy="841248"/>
          </a:xfrm>
          <a:prstGeom prst="rect">
            <a:avLst/>
          </a:prstGeom>
          <a:noFill/>
        </p:spPr>
        <p:txBody>
          <a:bodyPr wrap="square" anchor="ctr" lIns="50800" rIns="50800" tIns="25400" bIns="25400">
            <a:spAutoFit/>
          </a:bodyPr>
          <a:lstStyle/>
          <a:p>
            <a:pPr algn="l"/>
            <a:r>
              <a:rPr sz="2000" b="0">
                <a:solidFill>
                  <a:srgbClr val="014A2F"/>
                </a:solidFill>
                <a:latin typeface="Segoe UI"/>
              </a:rPr>
              <a:t>🌐</a:t>
            </a:r>
          </a:p>
        </p:txBody>
      </p:sp>
      <p:sp>
        <p:nvSpPr>
          <p:cNvPr id="21" name="TextBox 20"/>
          <p:cNvSpPr txBox="1"/>
          <p:nvPr/>
        </p:nvSpPr>
        <p:spPr>
          <a:xfrm>
            <a:off x="7269480" y="1783080"/>
            <a:ext cx="4297680" cy="685800"/>
          </a:xfrm>
          <a:prstGeom prst="rect">
            <a:avLst/>
          </a:prstGeom>
          <a:noFill/>
        </p:spPr>
        <p:txBody>
          <a:bodyPr wrap="square" anchor="ctr" lIns="50800" rIns="50800" tIns="25400" bIns="25400">
            <a:spAutoFit/>
          </a:bodyPr>
          <a:lstStyle/>
          <a:p>
            <a:pPr algn="l"/>
            <a:r>
              <a:rPr sz="1450" b="1">
                <a:solidFill>
                  <a:srgbClr val="014A2F"/>
                </a:solidFill>
                <a:latin typeface="Segoe UI"/>
              </a:rPr>
              <a:t>Web App Streamlit</a:t>
            </a:r>
          </a:p>
          <a:p>
            <a:pPr algn="l"/>
            <a:r>
              <a:rPr sz="1150" b="0">
                <a:solidFill>
                  <a:srgbClr val="5A6B60"/>
                </a:solidFill>
                <a:latin typeface="Segoe UI"/>
              </a:rPr>
              <a:t>Real-time, mobile-friendly, gratis diakses</a:t>
            </a:r>
          </a:p>
        </p:txBody>
      </p:sp>
      <p:sp>
        <p:nvSpPr>
          <p:cNvPr id="22" name="Rounded Rectangle 21"/>
          <p:cNvSpPr/>
          <p:nvPr/>
        </p:nvSpPr>
        <p:spPr>
          <a:xfrm>
            <a:off x="6355080" y="2624328"/>
            <a:ext cx="5303520" cy="841248"/>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55080" y="2624328"/>
            <a:ext cx="146304" cy="841248"/>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2624328"/>
            <a:ext cx="640080" cy="841248"/>
          </a:xfrm>
          <a:prstGeom prst="rect">
            <a:avLst/>
          </a:prstGeom>
          <a:noFill/>
        </p:spPr>
        <p:txBody>
          <a:bodyPr wrap="square" anchor="ctr" lIns="50800" rIns="50800" tIns="25400" bIns="25400">
            <a:spAutoFit/>
          </a:bodyPr>
          <a:lstStyle/>
          <a:p>
            <a:pPr algn="l"/>
            <a:r>
              <a:rPr sz="2000" b="0">
                <a:solidFill>
                  <a:srgbClr val="014A2F"/>
                </a:solidFill>
                <a:latin typeface="Segoe UI"/>
              </a:rPr>
              <a:t>🧠</a:t>
            </a:r>
          </a:p>
        </p:txBody>
      </p:sp>
      <p:sp>
        <p:nvSpPr>
          <p:cNvPr id="25" name="TextBox 24"/>
          <p:cNvSpPr txBox="1"/>
          <p:nvPr/>
        </p:nvSpPr>
        <p:spPr>
          <a:xfrm>
            <a:off x="7269480" y="2715768"/>
            <a:ext cx="4297680" cy="685800"/>
          </a:xfrm>
          <a:prstGeom prst="rect">
            <a:avLst/>
          </a:prstGeom>
          <a:noFill/>
        </p:spPr>
        <p:txBody>
          <a:bodyPr wrap="square" anchor="ctr" lIns="50800" rIns="50800" tIns="25400" bIns="25400">
            <a:spAutoFit/>
          </a:bodyPr>
          <a:lstStyle/>
          <a:p>
            <a:pPr algn="l"/>
            <a:r>
              <a:rPr sz="1450" b="1">
                <a:solidFill>
                  <a:srgbClr val="014A2F"/>
                </a:solidFill>
                <a:latin typeface="Segoe UI"/>
              </a:rPr>
              <a:t>Random Forest ML</a:t>
            </a:r>
          </a:p>
          <a:p>
            <a:pPr algn="l"/>
            <a:r>
              <a:rPr sz="1150" b="0">
                <a:solidFill>
                  <a:srgbClr val="5A6B60"/>
                </a:solidFill>
                <a:latin typeface="Segoe UI"/>
              </a:rPr>
              <a:t>Menghitung 7 faktor sekaligus · akurasi 88,40%</a:t>
            </a:r>
          </a:p>
        </p:txBody>
      </p:sp>
      <p:sp>
        <p:nvSpPr>
          <p:cNvPr id="26" name="Rounded Rectangle 25"/>
          <p:cNvSpPr/>
          <p:nvPr/>
        </p:nvSpPr>
        <p:spPr>
          <a:xfrm>
            <a:off x="6355080" y="3557016"/>
            <a:ext cx="5303520" cy="841248"/>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55080" y="3557016"/>
            <a:ext cx="146304" cy="841248"/>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0" y="3557016"/>
            <a:ext cx="640080" cy="841248"/>
          </a:xfrm>
          <a:prstGeom prst="rect">
            <a:avLst/>
          </a:prstGeom>
          <a:noFill/>
        </p:spPr>
        <p:txBody>
          <a:bodyPr wrap="square" anchor="ctr" lIns="50800" rIns="50800" tIns="25400" bIns="25400">
            <a:spAutoFit/>
          </a:bodyPr>
          <a:lstStyle/>
          <a:p>
            <a:pPr algn="l"/>
            <a:r>
              <a:rPr sz="2000" b="0">
                <a:solidFill>
                  <a:srgbClr val="014A2F"/>
                </a:solidFill>
                <a:latin typeface="Segoe UI"/>
              </a:rPr>
              <a:t>📊</a:t>
            </a:r>
          </a:p>
        </p:txBody>
      </p:sp>
      <p:sp>
        <p:nvSpPr>
          <p:cNvPr id="29" name="TextBox 28"/>
          <p:cNvSpPr txBox="1"/>
          <p:nvPr/>
        </p:nvSpPr>
        <p:spPr>
          <a:xfrm>
            <a:off x="7269480" y="3648456"/>
            <a:ext cx="4297680" cy="685800"/>
          </a:xfrm>
          <a:prstGeom prst="rect">
            <a:avLst/>
          </a:prstGeom>
          <a:noFill/>
        </p:spPr>
        <p:txBody>
          <a:bodyPr wrap="square" anchor="ctr" lIns="50800" rIns="50800" tIns="25400" bIns="25400">
            <a:spAutoFit/>
          </a:bodyPr>
          <a:lstStyle/>
          <a:p>
            <a:pPr algn="l"/>
            <a:r>
              <a:rPr sz="1450" b="1">
                <a:solidFill>
                  <a:srgbClr val="014A2F"/>
                </a:solidFill>
                <a:latin typeface="Segoe UI"/>
              </a:rPr>
              <a:t>Standar WHO 2006</a:t>
            </a:r>
          </a:p>
          <a:p>
            <a:pPr algn="l"/>
            <a:r>
              <a:rPr sz="1150" b="0">
                <a:solidFill>
                  <a:srgbClr val="5A6B60"/>
                </a:solidFill>
                <a:latin typeface="Segoe UI"/>
              </a:rPr>
              <a:t>Berbasis WHO Child Growth Standards</a:t>
            </a:r>
          </a:p>
        </p:txBody>
      </p:sp>
      <p:sp>
        <p:nvSpPr>
          <p:cNvPr id="30" name="Rounded Rectangle 29"/>
          <p:cNvSpPr/>
          <p:nvPr/>
        </p:nvSpPr>
        <p:spPr>
          <a:xfrm>
            <a:off x="6355080" y="4489704"/>
            <a:ext cx="5303520" cy="841248"/>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355080" y="4489704"/>
            <a:ext cx="146304" cy="841248"/>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0" y="4489704"/>
            <a:ext cx="640080" cy="841248"/>
          </a:xfrm>
          <a:prstGeom prst="rect">
            <a:avLst/>
          </a:prstGeom>
          <a:noFill/>
        </p:spPr>
        <p:txBody>
          <a:bodyPr wrap="square" anchor="ctr" lIns="50800" rIns="50800" tIns="25400" bIns="25400">
            <a:spAutoFit/>
          </a:bodyPr>
          <a:lstStyle/>
          <a:p>
            <a:pPr algn="l"/>
            <a:r>
              <a:rPr sz="2000" b="0">
                <a:solidFill>
                  <a:srgbClr val="014A2F"/>
                </a:solidFill>
                <a:latin typeface="Segoe UI"/>
              </a:rPr>
              <a:t>🛡️</a:t>
            </a:r>
          </a:p>
        </p:txBody>
      </p:sp>
      <p:sp>
        <p:nvSpPr>
          <p:cNvPr id="33" name="TextBox 32"/>
          <p:cNvSpPr txBox="1"/>
          <p:nvPr/>
        </p:nvSpPr>
        <p:spPr>
          <a:xfrm>
            <a:off x="7269480" y="4581144"/>
            <a:ext cx="4297680" cy="685800"/>
          </a:xfrm>
          <a:prstGeom prst="rect">
            <a:avLst/>
          </a:prstGeom>
          <a:noFill/>
        </p:spPr>
        <p:txBody>
          <a:bodyPr wrap="square" anchor="ctr" lIns="50800" rIns="50800" tIns="25400" bIns="25400">
            <a:spAutoFit/>
          </a:bodyPr>
          <a:lstStyle/>
          <a:p>
            <a:pPr algn="l"/>
            <a:r>
              <a:rPr sz="1450" b="1">
                <a:solidFill>
                  <a:srgbClr val="014A2F"/>
                </a:solidFill>
                <a:latin typeface="Segoe UI"/>
              </a:rPr>
              <a:t>Etis &amp; Privacy-First</a:t>
            </a:r>
          </a:p>
          <a:p>
            <a:pPr algn="l"/>
            <a:r>
              <a:rPr sz="1150" b="0">
                <a:solidFill>
                  <a:srgbClr val="5A6B60"/>
                </a:solidFill>
                <a:latin typeface="Segoe UI"/>
              </a:rPr>
              <a:t>Data user tidak disimpan sama sekali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51560"/>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46888"/>
            <a:ext cx="566928" cy="566928"/>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50800" rIns="50800" tIns="25400" bIns="25400">
            <a:spAutoFit/>
          </a:bodyPr>
          <a:lstStyle/>
          <a:p>
            <a:pPr algn="ctr"/>
            <a:r>
              <a:rPr sz="2000" b="1">
                <a:solidFill>
                  <a:srgbClr val="FFFFFF"/>
                </a:solidFill>
                <a:latin typeface="Segoe UI"/>
              </a:rPr>
              <a:t>02</a:t>
            </a:r>
          </a:p>
        </p:txBody>
      </p:sp>
      <p:sp>
        <p:nvSpPr>
          <p:cNvPr id="6" name="TextBox 5"/>
          <p:cNvSpPr txBox="1"/>
          <p:nvPr/>
        </p:nvSpPr>
        <p:spPr>
          <a:xfrm>
            <a:off x="1188720" y="164592"/>
            <a:ext cx="10515600" cy="731520"/>
          </a:xfrm>
          <a:prstGeom prst="rect">
            <a:avLst/>
          </a:prstGeom>
          <a:noFill/>
        </p:spPr>
        <p:txBody>
          <a:bodyPr wrap="square" anchor="ctr" lIns="50800" rIns="50800" tIns="25400" bIns="25400">
            <a:spAutoFit/>
          </a:bodyPr>
          <a:lstStyle/>
          <a:p>
            <a:pPr algn="l"/>
            <a:r>
              <a:rPr sz="2600" b="1">
                <a:solidFill>
                  <a:srgbClr val="FFFFFF"/>
                </a:solidFill>
                <a:latin typeface="Segoe UI"/>
              </a:rPr>
              <a:t>7 Faktor Penyebab Stunting yang Dihitung</a:t>
            </a:r>
          </a:p>
        </p:txBody>
      </p:sp>
      <p:sp>
        <p:nvSpPr>
          <p:cNvPr id="7" name="TextBox 6"/>
          <p:cNvSpPr txBox="1"/>
          <p:nvPr/>
        </p:nvSpPr>
        <p:spPr>
          <a:xfrm>
            <a:off x="548640" y="1188720"/>
            <a:ext cx="10972800" cy="365760"/>
          </a:xfrm>
          <a:prstGeom prst="rect">
            <a:avLst/>
          </a:prstGeom>
          <a:noFill/>
        </p:spPr>
        <p:txBody>
          <a:bodyPr wrap="square" anchor="t" lIns="50800" rIns="50800" tIns="25400" bIns="25400">
            <a:spAutoFit/>
          </a:bodyPr>
          <a:lstStyle/>
          <a:p>
            <a:pPr algn="l"/>
            <a:r>
              <a:rPr sz="1350" b="0">
                <a:solidFill>
                  <a:srgbClr val="5A6B60"/>
                </a:solidFill>
                <a:latin typeface="Segoe UI"/>
              </a:rPr>
              <a:t>Model tidak hanya melihat tinggi badan — tapi 7 faktor penyebab sekaligus (data anak + riwayat ibu)</a:t>
            </a:r>
          </a:p>
        </p:txBody>
      </p:sp>
      <p:sp>
        <p:nvSpPr>
          <p:cNvPr id="8" name="Rounded Rectangle 7"/>
          <p:cNvSpPr/>
          <p:nvPr/>
        </p:nvSpPr>
        <p:spPr>
          <a:xfrm>
            <a:off x="548640" y="1691640"/>
            <a:ext cx="3611880" cy="114300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691640"/>
            <a:ext cx="3611880" cy="9144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856232"/>
            <a:ext cx="640080" cy="640080"/>
          </a:xfrm>
          <a:prstGeom prst="rect">
            <a:avLst/>
          </a:prstGeom>
          <a:noFill/>
        </p:spPr>
        <p:txBody>
          <a:bodyPr wrap="square" anchor="t" lIns="50800" rIns="50800" tIns="25400" bIns="25400">
            <a:spAutoFit/>
          </a:bodyPr>
          <a:lstStyle/>
          <a:p>
            <a:pPr algn="l"/>
            <a:r>
              <a:rPr sz="2200" b="0">
                <a:solidFill>
                  <a:srgbClr val="014A2F"/>
                </a:solidFill>
                <a:latin typeface="Segoe UI"/>
              </a:rPr>
              <a:t>📅</a:t>
            </a:r>
          </a:p>
        </p:txBody>
      </p:sp>
      <p:sp>
        <p:nvSpPr>
          <p:cNvPr id="11" name="TextBox 10"/>
          <p:cNvSpPr txBox="1"/>
          <p:nvPr/>
        </p:nvSpPr>
        <p:spPr>
          <a:xfrm>
            <a:off x="1417320" y="1837944"/>
            <a:ext cx="2606040" cy="868680"/>
          </a:xfrm>
          <a:prstGeom prst="rect">
            <a:avLst/>
          </a:prstGeom>
          <a:noFill/>
        </p:spPr>
        <p:txBody>
          <a:bodyPr wrap="square" anchor="t" lIns="50800" rIns="50800" tIns="25400" bIns="25400">
            <a:spAutoFit/>
          </a:bodyPr>
          <a:lstStyle/>
          <a:p>
            <a:pPr algn="l"/>
            <a:r>
              <a:rPr sz="1400" b="1">
                <a:solidFill>
                  <a:srgbClr val="014A2F"/>
                </a:solidFill>
                <a:latin typeface="Segoe UI"/>
              </a:rPr>
              <a:t>Umur Anak</a:t>
            </a:r>
          </a:p>
          <a:p>
            <a:pPr algn="l"/>
            <a:r>
              <a:rPr sz="1050" b="0">
                <a:solidFill>
                  <a:srgbClr val="5A6B60"/>
                </a:solidFill>
                <a:latin typeface="Segoe UI"/>
              </a:rPr>
              <a:t>Acuan standar pertumbuhan WHO per usia</a:t>
            </a:r>
          </a:p>
        </p:txBody>
      </p:sp>
      <p:sp>
        <p:nvSpPr>
          <p:cNvPr id="12" name="Rounded Rectangle 11"/>
          <p:cNvSpPr/>
          <p:nvPr/>
        </p:nvSpPr>
        <p:spPr>
          <a:xfrm>
            <a:off x="3291840" y="1801368"/>
            <a:ext cx="749808" cy="310896"/>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91840" y="1801368"/>
            <a:ext cx="749808" cy="310896"/>
          </a:xfrm>
          <a:prstGeom prst="rect">
            <a:avLst/>
          </a:prstGeom>
          <a:noFill/>
        </p:spPr>
        <p:txBody>
          <a:bodyPr wrap="square" anchor="ctr" lIns="50800" rIns="50800" tIns="25400" bIns="25400">
            <a:spAutoFit/>
          </a:bodyPr>
          <a:lstStyle/>
          <a:p>
            <a:pPr algn="ctr"/>
            <a:r>
              <a:rPr sz="1100" b="1">
                <a:solidFill>
                  <a:srgbClr val="014A2F"/>
                </a:solidFill>
                <a:latin typeface="Segoe UI"/>
              </a:rPr>
              <a:t>28,7%</a:t>
            </a:r>
          </a:p>
        </p:txBody>
      </p:sp>
      <p:sp>
        <p:nvSpPr>
          <p:cNvPr id="14" name="Rounded Rectangle 13"/>
          <p:cNvSpPr/>
          <p:nvPr/>
        </p:nvSpPr>
        <p:spPr>
          <a:xfrm>
            <a:off x="4407408" y="1691640"/>
            <a:ext cx="3611880" cy="114300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07408" y="1691640"/>
            <a:ext cx="3611880" cy="9144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0288" y="1856232"/>
            <a:ext cx="640080" cy="640080"/>
          </a:xfrm>
          <a:prstGeom prst="rect">
            <a:avLst/>
          </a:prstGeom>
          <a:noFill/>
        </p:spPr>
        <p:txBody>
          <a:bodyPr wrap="square" anchor="t" lIns="50800" rIns="50800" tIns="25400" bIns="25400">
            <a:spAutoFit/>
          </a:bodyPr>
          <a:lstStyle/>
          <a:p>
            <a:pPr algn="l"/>
            <a:r>
              <a:rPr sz="2200" b="0">
                <a:solidFill>
                  <a:srgbClr val="014A2F"/>
                </a:solidFill>
                <a:latin typeface="Segoe UI"/>
              </a:rPr>
              <a:t>⚧</a:t>
            </a:r>
          </a:p>
        </p:txBody>
      </p:sp>
      <p:sp>
        <p:nvSpPr>
          <p:cNvPr id="17" name="TextBox 16"/>
          <p:cNvSpPr txBox="1"/>
          <p:nvPr/>
        </p:nvSpPr>
        <p:spPr>
          <a:xfrm>
            <a:off x="5276088" y="1837944"/>
            <a:ext cx="2606040" cy="868680"/>
          </a:xfrm>
          <a:prstGeom prst="rect">
            <a:avLst/>
          </a:prstGeom>
          <a:noFill/>
        </p:spPr>
        <p:txBody>
          <a:bodyPr wrap="square" anchor="t" lIns="50800" rIns="50800" tIns="25400" bIns="25400">
            <a:spAutoFit/>
          </a:bodyPr>
          <a:lstStyle/>
          <a:p>
            <a:pPr algn="l"/>
            <a:r>
              <a:rPr sz="1400" b="1">
                <a:solidFill>
                  <a:srgbClr val="014A2F"/>
                </a:solidFill>
                <a:latin typeface="Segoe UI"/>
              </a:rPr>
              <a:t>Jenis Kelamin</a:t>
            </a:r>
          </a:p>
          <a:p>
            <a:pPr algn="l"/>
            <a:r>
              <a:rPr sz="1050" b="0">
                <a:solidFill>
                  <a:srgbClr val="5A6B60"/>
                </a:solidFill>
                <a:latin typeface="Segoe UI"/>
              </a:rPr>
              <a:t>Standar WHO beda laki-laki &amp; perempuan</a:t>
            </a:r>
          </a:p>
        </p:txBody>
      </p:sp>
      <p:sp>
        <p:nvSpPr>
          <p:cNvPr id="18" name="Rounded Rectangle 17"/>
          <p:cNvSpPr/>
          <p:nvPr/>
        </p:nvSpPr>
        <p:spPr>
          <a:xfrm>
            <a:off x="7150608" y="1801368"/>
            <a:ext cx="749808" cy="310896"/>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50608" y="1801368"/>
            <a:ext cx="749808" cy="310896"/>
          </a:xfrm>
          <a:prstGeom prst="rect">
            <a:avLst/>
          </a:prstGeom>
          <a:noFill/>
        </p:spPr>
        <p:txBody>
          <a:bodyPr wrap="square" anchor="ctr" lIns="50800" rIns="50800" tIns="25400" bIns="25400">
            <a:spAutoFit/>
          </a:bodyPr>
          <a:lstStyle/>
          <a:p>
            <a:pPr algn="ctr"/>
            <a:r>
              <a:rPr sz="1100" b="1">
                <a:solidFill>
                  <a:srgbClr val="014A2F"/>
                </a:solidFill>
                <a:latin typeface="Segoe UI"/>
              </a:rPr>
              <a:t>1,3%</a:t>
            </a:r>
          </a:p>
        </p:txBody>
      </p:sp>
      <p:sp>
        <p:nvSpPr>
          <p:cNvPr id="20" name="Rounded Rectangle 19"/>
          <p:cNvSpPr/>
          <p:nvPr/>
        </p:nvSpPr>
        <p:spPr>
          <a:xfrm>
            <a:off x="8266176" y="1691640"/>
            <a:ext cx="3611880" cy="114300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266176" y="1691640"/>
            <a:ext cx="3611880" cy="9144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49056" y="1856232"/>
            <a:ext cx="640080" cy="640080"/>
          </a:xfrm>
          <a:prstGeom prst="rect">
            <a:avLst/>
          </a:prstGeom>
          <a:noFill/>
        </p:spPr>
        <p:txBody>
          <a:bodyPr wrap="square" anchor="t" lIns="50800" rIns="50800" tIns="25400" bIns="25400">
            <a:spAutoFit/>
          </a:bodyPr>
          <a:lstStyle/>
          <a:p>
            <a:pPr algn="l"/>
            <a:r>
              <a:rPr sz="2200" b="0">
                <a:solidFill>
                  <a:srgbClr val="014A2F"/>
                </a:solidFill>
                <a:latin typeface="Segoe UI"/>
              </a:rPr>
              <a:t>📐</a:t>
            </a:r>
          </a:p>
        </p:txBody>
      </p:sp>
      <p:sp>
        <p:nvSpPr>
          <p:cNvPr id="23" name="TextBox 22"/>
          <p:cNvSpPr txBox="1"/>
          <p:nvPr/>
        </p:nvSpPr>
        <p:spPr>
          <a:xfrm>
            <a:off x="9134856" y="1837944"/>
            <a:ext cx="2606040" cy="868680"/>
          </a:xfrm>
          <a:prstGeom prst="rect">
            <a:avLst/>
          </a:prstGeom>
          <a:noFill/>
        </p:spPr>
        <p:txBody>
          <a:bodyPr wrap="square" anchor="t" lIns="50800" rIns="50800" tIns="25400" bIns="25400">
            <a:spAutoFit/>
          </a:bodyPr>
          <a:lstStyle/>
          <a:p>
            <a:pPr algn="l"/>
            <a:r>
              <a:rPr sz="1400" b="1">
                <a:solidFill>
                  <a:srgbClr val="014A2F"/>
                </a:solidFill>
                <a:latin typeface="Segoe UI"/>
              </a:rPr>
              <a:t>Tinggi Badan</a:t>
            </a:r>
          </a:p>
          <a:p>
            <a:pPr algn="l"/>
            <a:r>
              <a:rPr sz="1050" b="0">
                <a:solidFill>
                  <a:srgbClr val="5A6B60"/>
                </a:solidFill>
                <a:latin typeface="Segoe UI"/>
              </a:rPr>
              <a:t>Indikator utama (Height-for-Age Z-Score)</a:t>
            </a:r>
          </a:p>
        </p:txBody>
      </p:sp>
      <p:sp>
        <p:nvSpPr>
          <p:cNvPr id="24" name="Rounded Rectangle 23"/>
          <p:cNvSpPr/>
          <p:nvPr/>
        </p:nvSpPr>
        <p:spPr>
          <a:xfrm>
            <a:off x="11009376" y="1801368"/>
            <a:ext cx="749808" cy="310896"/>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9376" y="1801368"/>
            <a:ext cx="749808" cy="310896"/>
          </a:xfrm>
          <a:prstGeom prst="rect">
            <a:avLst/>
          </a:prstGeom>
          <a:noFill/>
        </p:spPr>
        <p:txBody>
          <a:bodyPr wrap="square" anchor="ctr" lIns="50800" rIns="50800" tIns="25400" bIns="25400">
            <a:spAutoFit/>
          </a:bodyPr>
          <a:lstStyle/>
          <a:p>
            <a:pPr algn="ctr"/>
            <a:r>
              <a:rPr sz="1100" b="1">
                <a:solidFill>
                  <a:srgbClr val="014A2F"/>
                </a:solidFill>
                <a:latin typeface="Segoe UI"/>
              </a:rPr>
              <a:t>50,6%</a:t>
            </a:r>
          </a:p>
        </p:txBody>
      </p:sp>
      <p:sp>
        <p:nvSpPr>
          <p:cNvPr id="26" name="Rounded Rectangle 25"/>
          <p:cNvSpPr/>
          <p:nvPr/>
        </p:nvSpPr>
        <p:spPr>
          <a:xfrm>
            <a:off x="548640" y="3063240"/>
            <a:ext cx="3611880" cy="114300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48640" y="3063240"/>
            <a:ext cx="3611880" cy="9144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227832"/>
            <a:ext cx="640080" cy="640080"/>
          </a:xfrm>
          <a:prstGeom prst="rect">
            <a:avLst/>
          </a:prstGeom>
          <a:noFill/>
        </p:spPr>
        <p:txBody>
          <a:bodyPr wrap="square" anchor="t" lIns="50800" rIns="50800" tIns="25400" bIns="25400">
            <a:spAutoFit/>
          </a:bodyPr>
          <a:lstStyle/>
          <a:p>
            <a:pPr algn="l"/>
            <a:r>
              <a:rPr sz="2200" b="0">
                <a:solidFill>
                  <a:srgbClr val="014A2F"/>
                </a:solidFill>
                <a:latin typeface="Segoe UI"/>
              </a:rPr>
              <a:t>⚖️</a:t>
            </a:r>
          </a:p>
        </p:txBody>
      </p:sp>
      <p:sp>
        <p:nvSpPr>
          <p:cNvPr id="29" name="TextBox 28"/>
          <p:cNvSpPr txBox="1"/>
          <p:nvPr/>
        </p:nvSpPr>
        <p:spPr>
          <a:xfrm>
            <a:off x="1417320" y="3209544"/>
            <a:ext cx="2606040" cy="868680"/>
          </a:xfrm>
          <a:prstGeom prst="rect">
            <a:avLst/>
          </a:prstGeom>
          <a:noFill/>
        </p:spPr>
        <p:txBody>
          <a:bodyPr wrap="square" anchor="t" lIns="50800" rIns="50800" tIns="25400" bIns="25400">
            <a:spAutoFit/>
          </a:bodyPr>
          <a:lstStyle/>
          <a:p>
            <a:pPr algn="l"/>
            <a:r>
              <a:rPr sz="1400" b="1">
                <a:solidFill>
                  <a:srgbClr val="014A2F"/>
                </a:solidFill>
                <a:latin typeface="Segoe UI"/>
              </a:rPr>
              <a:t>Berat Badan</a:t>
            </a:r>
          </a:p>
          <a:p>
            <a:pPr algn="l"/>
            <a:r>
              <a:rPr sz="1050" b="0">
                <a:solidFill>
                  <a:srgbClr val="5A6B60"/>
                </a:solidFill>
                <a:latin typeface="Segoe UI"/>
              </a:rPr>
              <a:t>Indikator status gizi anak</a:t>
            </a:r>
          </a:p>
        </p:txBody>
      </p:sp>
      <p:sp>
        <p:nvSpPr>
          <p:cNvPr id="30" name="Rounded Rectangle 29"/>
          <p:cNvSpPr/>
          <p:nvPr/>
        </p:nvSpPr>
        <p:spPr>
          <a:xfrm>
            <a:off x="3291840" y="3172968"/>
            <a:ext cx="749808" cy="310896"/>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91840" y="3172968"/>
            <a:ext cx="749808" cy="310896"/>
          </a:xfrm>
          <a:prstGeom prst="rect">
            <a:avLst/>
          </a:prstGeom>
          <a:noFill/>
        </p:spPr>
        <p:txBody>
          <a:bodyPr wrap="square" anchor="ctr" lIns="50800" rIns="50800" tIns="25400" bIns="25400">
            <a:spAutoFit/>
          </a:bodyPr>
          <a:lstStyle/>
          <a:p>
            <a:pPr algn="ctr"/>
            <a:r>
              <a:rPr sz="1100" b="1">
                <a:solidFill>
                  <a:srgbClr val="014A2F"/>
                </a:solidFill>
                <a:latin typeface="Segoe UI"/>
              </a:rPr>
              <a:t>9,5%</a:t>
            </a:r>
          </a:p>
        </p:txBody>
      </p:sp>
      <p:sp>
        <p:nvSpPr>
          <p:cNvPr id="32" name="Rounded Rectangle 31"/>
          <p:cNvSpPr/>
          <p:nvPr/>
        </p:nvSpPr>
        <p:spPr>
          <a:xfrm>
            <a:off x="4407408" y="3063240"/>
            <a:ext cx="3611880" cy="114300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407408" y="3063240"/>
            <a:ext cx="3611880" cy="9144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0288" y="3227832"/>
            <a:ext cx="640080" cy="640080"/>
          </a:xfrm>
          <a:prstGeom prst="rect">
            <a:avLst/>
          </a:prstGeom>
          <a:noFill/>
        </p:spPr>
        <p:txBody>
          <a:bodyPr wrap="square" anchor="t" lIns="50800" rIns="50800" tIns="25400" bIns="25400">
            <a:spAutoFit/>
          </a:bodyPr>
          <a:lstStyle/>
          <a:p>
            <a:pPr algn="l"/>
            <a:r>
              <a:rPr sz="2200" b="0">
                <a:solidFill>
                  <a:srgbClr val="014A2F"/>
                </a:solidFill>
                <a:latin typeface="Segoe UI"/>
              </a:rPr>
              <a:t>👶</a:t>
            </a:r>
          </a:p>
        </p:txBody>
      </p:sp>
      <p:sp>
        <p:nvSpPr>
          <p:cNvPr id="35" name="TextBox 34"/>
          <p:cNvSpPr txBox="1"/>
          <p:nvPr/>
        </p:nvSpPr>
        <p:spPr>
          <a:xfrm>
            <a:off x="5276088" y="3209544"/>
            <a:ext cx="2606040" cy="868680"/>
          </a:xfrm>
          <a:prstGeom prst="rect">
            <a:avLst/>
          </a:prstGeom>
          <a:noFill/>
        </p:spPr>
        <p:txBody>
          <a:bodyPr wrap="square" anchor="t" lIns="50800" rIns="50800" tIns="25400" bIns="25400">
            <a:spAutoFit/>
          </a:bodyPr>
          <a:lstStyle/>
          <a:p>
            <a:pPr algn="l"/>
            <a:r>
              <a:rPr sz="1400" b="1">
                <a:solidFill>
                  <a:srgbClr val="014A2F"/>
                </a:solidFill>
                <a:latin typeface="Segoe UI"/>
              </a:rPr>
              <a:t>Jarak Kehamilan</a:t>
            </a:r>
          </a:p>
          <a:p>
            <a:pPr algn="l"/>
            <a:r>
              <a:rPr sz="1050" b="0">
                <a:solidFill>
                  <a:srgbClr val="5A6B60"/>
                </a:solidFill>
                <a:latin typeface="Segoe UI"/>
              </a:rPr>
              <a:t>Ideal &gt;24 bln (program BKKBN '4 Terlalu')</a:t>
            </a:r>
          </a:p>
        </p:txBody>
      </p:sp>
      <p:sp>
        <p:nvSpPr>
          <p:cNvPr id="36" name="Rounded Rectangle 35"/>
          <p:cNvSpPr/>
          <p:nvPr/>
        </p:nvSpPr>
        <p:spPr>
          <a:xfrm>
            <a:off x="7150608" y="3172968"/>
            <a:ext cx="749808" cy="310896"/>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50608" y="3172968"/>
            <a:ext cx="749808" cy="310896"/>
          </a:xfrm>
          <a:prstGeom prst="rect">
            <a:avLst/>
          </a:prstGeom>
          <a:noFill/>
        </p:spPr>
        <p:txBody>
          <a:bodyPr wrap="square" anchor="ctr" lIns="50800" rIns="50800" tIns="25400" bIns="25400">
            <a:spAutoFit/>
          </a:bodyPr>
          <a:lstStyle/>
          <a:p>
            <a:pPr algn="ctr"/>
            <a:r>
              <a:rPr sz="1100" b="1">
                <a:solidFill>
                  <a:srgbClr val="014A2F"/>
                </a:solidFill>
                <a:latin typeface="Segoe UI"/>
              </a:rPr>
              <a:t>4,3%</a:t>
            </a:r>
          </a:p>
        </p:txBody>
      </p:sp>
      <p:sp>
        <p:nvSpPr>
          <p:cNvPr id="38" name="Rounded Rectangle 37"/>
          <p:cNvSpPr/>
          <p:nvPr/>
        </p:nvSpPr>
        <p:spPr>
          <a:xfrm>
            <a:off x="8266176" y="3063240"/>
            <a:ext cx="3611880" cy="114300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266176" y="3063240"/>
            <a:ext cx="3611880" cy="9144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49056" y="3227832"/>
            <a:ext cx="640080" cy="640080"/>
          </a:xfrm>
          <a:prstGeom prst="rect">
            <a:avLst/>
          </a:prstGeom>
          <a:noFill/>
        </p:spPr>
        <p:txBody>
          <a:bodyPr wrap="square" anchor="t" lIns="50800" rIns="50800" tIns="25400" bIns="25400">
            <a:spAutoFit/>
          </a:bodyPr>
          <a:lstStyle/>
          <a:p>
            <a:pPr algn="l"/>
            <a:r>
              <a:rPr sz="2200" b="0">
                <a:solidFill>
                  <a:srgbClr val="014A2F"/>
                </a:solidFill>
                <a:latin typeface="Segoe UI"/>
              </a:rPr>
              <a:t>💍</a:t>
            </a:r>
          </a:p>
        </p:txBody>
      </p:sp>
      <p:sp>
        <p:nvSpPr>
          <p:cNvPr id="41" name="TextBox 40"/>
          <p:cNvSpPr txBox="1"/>
          <p:nvPr/>
        </p:nvSpPr>
        <p:spPr>
          <a:xfrm>
            <a:off x="9134856" y="3209544"/>
            <a:ext cx="2606040" cy="868680"/>
          </a:xfrm>
          <a:prstGeom prst="rect">
            <a:avLst/>
          </a:prstGeom>
          <a:noFill/>
        </p:spPr>
        <p:txBody>
          <a:bodyPr wrap="square" anchor="t" lIns="50800" rIns="50800" tIns="25400" bIns="25400">
            <a:spAutoFit/>
          </a:bodyPr>
          <a:lstStyle/>
          <a:p>
            <a:pPr algn="l"/>
            <a:r>
              <a:rPr sz="1400" b="1">
                <a:solidFill>
                  <a:srgbClr val="014A2F"/>
                </a:solidFill>
                <a:latin typeface="Segoe UI"/>
              </a:rPr>
              <a:t>Usia Ibu Menikah</a:t>
            </a:r>
          </a:p>
          <a:p>
            <a:pPr algn="l"/>
            <a:r>
              <a:rPr sz="1050" b="0">
                <a:solidFill>
                  <a:srgbClr val="5A6B60"/>
                </a:solidFill>
                <a:latin typeface="Segoe UI"/>
              </a:rPr>
              <a:t>Pernikahan dini &lt;20 thn = faktor risiko</a:t>
            </a:r>
          </a:p>
        </p:txBody>
      </p:sp>
      <p:sp>
        <p:nvSpPr>
          <p:cNvPr id="42" name="Rounded Rectangle 41"/>
          <p:cNvSpPr/>
          <p:nvPr/>
        </p:nvSpPr>
        <p:spPr>
          <a:xfrm>
            <a:off x="11009376" y="3172968"/>
            <a:ext cx="749808" cy="310896"/>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1009376" y="3172968"/>
            <a:ext cx="749808" cy="310896"/>
          </a:xfrm>
          <a:prstGeom prst="rect">
            <a:avLst/>
          </a:prstGeom>
          <a:noFill/>
        </p:spPr>
        <p:txBody>
          <a:bodyPr wrap="square" anchor="ctr" lIns="50800" rIns="50800" tIns="25400" bIns="25400">
            <a:spAutoFit/>
          </a:bodyPr>
          <a:lstStyle/>
          <a:p>
            <a:pPr algn="ctr"/>
            <a:r>
              <a:rPr sz="1100" b="1">
                <a:solidFill>
                  <a:srgbClr val="014A2F"/>
                </a:solidFill>
                <a:latin typeface="Segoe UI"/>
              </a:rPr>
              <a:t>4,2%</a:t>
            </a:r>
          </a:p>
        </p:txBody>
      </p:sp>
      <p:sp>
        <p:nvSpPr>
          <p:cNvPr id="44" name="Rounded Rectangle 43"/>
          <p:cNvSpPr/>
          <p:nvPr/>
        </p:nvSpPr>
        <p:spPr>
          <a:xfrm>
            <a:off x="548640" y="4434840"/>
            <a:ext cx="3611880" cy="114300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48640" y="4434840"/>
            <a:ext cx="3611880" cy="9144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4599432"/>
            <a:ext cx="640080" cy="640080"/>
          </a:xfrm>
          <a:prstGeom prst="rect">
            <a:avLst/>
          </a:prstGeom>
          <a:noFill/>
        </p:spPr>
        <p:txBody>
          <a:bodyPr wrap="square" anchor="t" lIns="50800" rIns="50800" tIns="25400" bIns="25400">
            <a:spAutoFit/>
          </a:bodyPr>
          <a:lstStyle/>
          <a:p>
            <a:pPr algn="l"/>
            <a:r>
              <a:rPr sz="2200" b="0">
                <a:solidFill>
                  <a:srgbClr val="014A2F"/>
                </a:solidFill>
                <a:latin typeface="Segoe UI"/>
              </a:rPr>
              <a:t>🍎</a:t>
            </a:r>
          </a:p>
        </p:txBody>
      </p:sp>
      <p:sp>
        <p:nvSpPr>
          <p:cNvPr id="47" name="TextBox 46"/>
          <p:cNvSpPr txBox="1"/>
          <p:nvPr/>
        </p:nvSpPr>
        <p:spPr>
          <a:xfrm>
            <a:off x="1417320" y="4581144"/>
            <a:ext cx="2606040" cy="868680"/>
          </a:xfrm>
          <a:prstGeom prst="rect">
            <a:avLst/>
          </a:prstGeom>
          <a:noFill/>
        </p:spPr>
        <p:txBody>
          <a:bodyPr wrap="square" anchor="t" lIns="50800" rIns="50800" tIns="25400" bIns="25400">
            <a:spAutoFit/>
          </a:bodyPr>
          <a:lstStyle/>
          <a:p>
            <a:pPr algn="l"/>
            <a:r>
              <a:rPr sz="1400" b="1">
                <a:solidFill>
                  <a:srgbClr val="014A2F"/>
                </a:solidFill>
                <a:latin typeface="Segoe UI"/>
              </a:rPr>
              <a:t>Gizi Ibu saat Hamil</a:t>
            </a:r>
          </a:p>
          <a:p>
            <a:pPr algn="l"/>
            <a:r>
              <a:rPr sz="1050" b="0">
                <a:solidFill>
                  <a:srgbClr val="5A6B60"/>
                </a:solidFill>
                <a:latin typeface="Segoe UI"/>
              </a:rPr>
              <a:t>KEK → BBLR → stunting (Baik/Sedang/Buruk)</a:t>
            </a:r>
          </a:p>
        </p:txBody>
      </p:sp>
      <p:sp>
        <p:nvSpPr>
          <p:cNvPr id="48" name="Rounded Rectangle 47"/>
          <p:cNvSpPr/>
          <p:nvPr/>
        </p:nvSpPr>
        <p:spPr>
          <a:xfrm>
            <a:off x="3291840" y="4544568"/>
            <a:ext cx="749808" cy="310896"/>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91840" y="4544568"/>
            <a:ext cx="749808" cy="310896"/>
          </a:xfrm>
          <a:prstGeom prst="rect">
            <a:avLst/>
          </a:prstGeom>
          <a:noFill/>
        </p:spPr>
        <p:txBody>
          <a:bodyPr wrap="square" anchor="ctr" lIns="50800" rIns="50800" tIns="25400" bIns="25400">
            <a:spAutoFit/>
          </a:bodyPr>
          <a:lstStyle/>
          <a:p>
            <a:pPr algn="ctr"/>
            <a:r>
              <a:rPr sz="1100" b="1">
                <a:solidFill>
                  <a:srgbClr val="014A2F"/>
                </a:solidFill>
                <a:latin typeface="Segoe UI"/>
              </a:rPr>
              <a:t>1,5%</a:t>
            </a:r>
          </a:p>
        </p:txBody>
      </p:sp>
      <p:sp>
        <p:nvSpPr>
          <p:cNvPr id="50" name="Rounded Rectangle 49"/>
          <p:cNvSpPr/>
          <p:nvPr/>
        </p:nvSpPr>
        <p:spPr>
          <a:xfrm>
            <a:off x="4407408" y="4434840"/>
            <a:ext cx="7470648" cy="1143000"/>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81728" y="4434840"/>
            <a:ext cx="7013448" cy="1143000"/>
          </a:xfrm>
          <a:prstGeom prst="rect">
            <a:avLst/>
          </a:prstGeom>
          <a:noFill/>
        </p:spPr>
        <p:txBody>
          <a:bodyPr wrap="square" anchor="ctr" lIns="50800" rIns="50800" tIns="25400" bIns="25400">
            <a:spAutoFit/>
          </a:bodyPr>
          <a:lstStyle/>
          <a:p>
            <a:pPr algn="l"/>
            <a:r>
              <a:rPr sz="1300" b="1">
                <a:solidFill>
                  <a:srgbClr val="FFFFFF"/>
                </a:solidFill>
                <a:latin typeface="Segoe UI"/>
              </a:rPr>
              <a:t>💡 Angka % = bobot kepentingan faktor (feature importance).</a:t>
            </a:r>
          </a:p>
          <a:p>
            <a:pPr algn="l"/>
            <a:r>
              <a:rPr sz="1150" b="0">
                <a:solidFill>
                  <a:srgbClr val="2ECC71"/>
                </a:solidFill>
                <a:latin typeface="Segoe UI"/>
              </a:rPr>
              <a:t>Tinggi badan &amp; umur paling berpengaruh — sesuai definisi medis stunting.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51560"/>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46888"/>
            <a:ext cx="566928" cy="566928"/>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50800" rIns="50800" tIns="25400" bIns="25400">
            <a:spAutoFit/>
          </a:bodyPr>
          <a:lstStyle/>
          <a:p>
            <a:pPr algn="ctr"/>
            <a:r>
              <a:rPr sz="2000" b="1">
                <a:solidFill>
                  <a:srgbClr val="FFFFFF"/>
                </a:solidFill>
                <a:latin typeface="Segoe UI"/>
              </a:rPr>
              <a:t>03</a:t>
            </a:r>
          </a:p>
        </p:txBody>
      </p:sp>
      <p:sp>
        <p:nvSpPr>
          <p:cNvPr id="6" name="TextBox 5"/>
          <p:cNvSpPr txBox="1"/>
          <p:nvPr/>
        </p:nvSpPr>
        <p:spPr>
          <a:xfrm>
            <a:off x="1188720" y="164592"/>
            <a:ext cx="10515600" cy="731520"/>
          </a:xfrm>
          <a:prstGeom prst="rect">
            <a:avLst/>
          </a:prstGeom>
          <a:noFill/>
        </p:spPr>
        <p:txBody>
          <a:bodyPr wrap="square" anchor="ctr" lIns="50800" rIns="50800" tIns="25400" bIns="25400">
            <a:spAutoFit/>
          </a:bodyPr>
          <a:lstStyle/>
          <a:p>
            <a:pPr algn="l"/>
            <a:r>
              <a:rPr sz="2600" b="1">
                <a:solidFill>
                  <a:srgbClr val="FFFFFF"/>
                </a:solidFill>
                <a:latin typeface="Segoe UI"/>
              </a:rPr>
              <a:t>Cara Pembuatan — Tools &amp; Langkah Teknis</a:t>
            </a:r>
          </a:p>
        </p:txBody>
      </p:sp>
      <p:sp>
        <p:nvSpPr>
          <p:cNvPr id="7" name="TextBox 6"/>
          <p:cNvSpPr txBox="1"/>
          <p:nvPr/>
        </p:nvSpPr>
        <p:spPr>
          <a:xfrm>
            <a:off x="548640" y="1188720"/>
            <a:ext cx="5486400" cy="365760"/>
          </a:xfrm>
          <a:prstGeom prst="rect">
            <a:avLst/>
          </a:prstGeom>
          <a:noFill/>
        </p:spPr>
        <p:txBody>
          <a:bodyPr wrap="square" anchor="t" lIns="50800" rIns="50800" tIns="25400" bIns="25400">
            <a:spAutoFit/>
          </a:bodyPr>
          <a:lstStyle/>
          <a:p>
            <a:pPr algn="l"/>
            <a:r>
              <a:rPr sz="1500" b="1">
                <a:solidFill>
                  <a:srgbClr val="06A357"/>
                </a:solidFill>
                <a:latin typeface="Segoe UI"/>
              </a:rPr>
              <a:t>🛠️  TOOLS YANG DIPAKAI</a:t>
            </a:r>
          </a:p>
        </p:txBody>
      </p:sp>
      <p:sp>
        <p:nvSpPr>
          <p:cNvPr id="8" name="Rounded Rectangle 7"/>
          <p:cNvSpPr/>
          <p:nvPr/>
        </p:nvSpPr>
        <p:spPr>
          <a:xfrm>
            <a:off x="548640" y="1600200"/>
            <a:ext cx="1783080" cy="914400"/>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691640"/>
            <a:ext cx="1783080" cy="777240"/>
          </a:xfrm>
          <a:prstGeom prst="rect">
            <a:avLst/>
          </a:prstGeom>
          <a:noFill/>
        </p:spPr>
        <p:txBody>
          <a:bodyPr wrap="square" anchor="t" lIns="50800" rIns="50800" tIns="25400" bIns="25400">
            <a:spAutoFit/>
          </a:bodyPr>
          <a:lstStyle/>
          <a:p>
            <a:pPr algn="ctr"/>
            <a:r>
              <a:rPr sz="2000" b="0">
                <a:solidFill>
                  <a:srgbClr val="014A2F"/>
                </a:solidFill>
                <a:latin typeface="Segoe UI"/>
              </a:rPr>
              <a:t>🐍</a:t>
            </a:r>
          </a:p>
          <a:p>
            <a:pPr algn="ctr"/>
            <a:r>
              <a:rPr sz="1250" b="1">
                <a:solidFill>
                  <a:srgbClr val="014A2F"/>
                </a:solidFill>
                <a:latin typeface="Segoe UI"/>
              </a:rPr>
              <a:t>Python</a:t>
            </a:r>
          </a:p>
          <a:p>
            <a:pPr algn="ctr"/>
            <a:r>
              <a:rPr sz="950" b="0">
                <a:solidFill>
                  <a:srgbClr val="5A6B60"/>
                </a:solidFill>
                <a:latin typeface="Segoe UI"/>
              </a:rPr>
              <a:t>Bahasa utama</a:t>
            </a:r>
          </a:p>
        </p:txBody>
      </p:sp>
      <p:sp>
        <p:nvSpPr>
          <p:cNvPr id="10" name="Rounded Rectangle 9"/>
          <p:cNvSpPr/>
          <p:nvPr/>
        </p:nvSpPr>
        <p:spPr>
          <a:xfrm>
            <a:off x="2423160" y="1600200"/>
            <a:ext cx="1783080" cy="914400"/>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23160" y="1691640"/>
            <a:ext cx="1783080" cy="777240"/>
          </a:xfrm>
          <a:prstGeom prst="rect">
            <a:avLst/>
          </a:prstGeom>
          <a:noFill/>
        </p:spPr>
        <p:txBody>
          <a:bodyPr wrap="square" anchor="t" lIns="50800" rIns="50800" tIns="25400" bIns="25400">
            <a:spAutoFit/>
          </a:bodyPr>
          <a:lstStyle/>
          <a:p>
            <a:pPr algn="ctr"/>
            <a:r>
              <a:rPr sz="2000" b="0">
                <a:solidFill>
                  <a:srgbClr val="014A2F"/>
                </a:solidFill>
                <a:latin typeface="Segoe UI"/>
              </a:rPr>
              <a:t>📊</a:t>
            </a:r>
          </a:p>
          <a:p>
            <a:pPr algn="ctr"/>
            <a:r>
              <a:rPr sz="1250" b="1">
                <a:solidFill>
                  <a:srgbClr val="014A2F"/>
                </a:solidFill>
                <a:latin typeface="Segoe UI"/>
              </a:rPr>
              <a:t>scikit-learn</a:t>
            </a:r>
          </a:p>
          <a:p>
            <a:pPr algn="ctr"/>
            <a:r>
              <a:rPr sz="950" b="0">
                <a:solidFill>
                  <a:srgbClr val="5A6B60"/>
                </a:solidFill>
                <a:latin typeface="Segoe UI"/>
              </a:rPr>
              <a:t>Model Random Forest</a:t>
            </a:r>
          </a:p>
        </p:txBody>
      </p:sp>
      <p:sp>
        <p:nvSpPr>
          <p:cNvPr id="12" name="Rounded Rectangle 11"/>
          <p:cNvSpPr/>
          <p:nvPr/>
        </p:nvSpPr>
        <p:spPr>
          <a:xfrm>
            <a:off x="4297680" y="1600200"/>
            <a:ext cx="1783080" cy="914400"/>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691640"/>
            <a:ext cx="1783080" cy="777240"/>
          </a:xfrm>
          <a:prstGeom prst="rect">
            <a:avLst/>
          </a:prstGeom>
          <a:noFill/>
        </p:spPr>
        <p:txBody>
          <a:bodyPr wrap="square" anchor="t" lIns="50800" rIns="50800" tIns="25400" bIns="25400">
            <a:spAutoFit/>
          </a:bodyPr>
          <a:lstStyle/>
          <a:p>
            <a:pPr algn="ctr"/>
            <a:r>
              <a:rPr sz="2000" b="0">
                <a:solidFill>
                  <a:srgbClr val="014A2F"/>
                </a:solidFill>
                <a:latin typeface="Segoe UI"/>
              </a:rPr>
              <a:t>🐼</a:t>
            </a:r>
          </a:p>
          <a:p>
            <a:pPr algn="ctr"/>
            <a:r>
              <a:rPr sz="1250" b="1">
                <a:solidFill>
                  <a:srgbClr val="014A2F"/>
                </a:solidFill>
                <a:latin typeface="Segoe UI"/>
              </a:rPr>
              <a:t>Pandas</a:t>
            </a:r>
          </a:p>
          <a:p>
            <a:pPr algn="ctr"/>
            <a:r>
              <a:rPr sz="950" b="0">
                <a:solidFill>
                  <a:srgbClr val="5A6B60"/>
                </a:solidFill>
                <a:latin typeface="Segoe UI"/>
              </a:rPr>
              <a:t>Olah data</a:t>
            </a:r>
          </a:p>
        </p:txBody>
      </p:sp>
      <p:sp>
        <p:nvSpPr>
          <p:cNvPr id="14" name="Rounded Rectangle 13"/>
          <p:cNvSpPr/>
          <p:nvPr/>
        </p:nvSpPr>
        <p:spPr>
          <a:xfrm>
            <a:off x="6172200" y="1600200"/>
            <a:ext cx="1783080" cy="914400"/>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1691640"/>
            <a:ext cx="1783080" cy="777240"/>
          </a:xfrm>
          <a:prstGeom prst="rect">
            <a:avLst/>
          </a:prstGeom>
          <a:noFill/>
        </p:spPr>
        <p:txBody>
          <a:bodyPr wrap="square" anchor="t" lIns="50800" rIns="50800" tIns="25400" bIns="25400">
            <a:spAutoFit/>
          </a:bodyPr>
          <a:lstStyle/>
          <a:p>
            <a:pPr algn="ctr"/>
            <a:r>
              <a:rPr sz="2000" b="0">
                <a:solidFill>
                  <a:srgbClr val="014A2F"/>
                </a:solidFill>
                <a:latin typeface="Segoe UI"/>
              </a:rPr>
              <a:t>🌐</a:t>
            </a:r>
          </a:p>
          <a:p>
            <a:pPr algn="ctr"/>
            <a:r>
              <a:rPr sz="1250" b="1">
                <a:solidFill>
                  <a:srgbClr val="014A2F"/>
                </a:solidFill>
                <a:latin typeface="Segoe UI"/>
              </a:rPr>
              <a:t>Streamlit</a:t>
            </a:r>
          </a:p>
          <a:p>
            <a:pPr algn="ctr"/>
            <a:r>
              <a:rPr sz="950" b="0">
                <a:solidFill>
                  <a:srgbClr val="5A6B60"/>
                </a:solidFill>
                <a:latin typeface="Segoe UI"/>
              </a:rPr>
              <a:t>Web app</a:t>
            </a:r>
          </a:p>
        </p:txBody>
      </p:sp>
      <p:sp>
        <p:nvSpPr>
          <p:cNvPr id="16" name="Rounded Rectangle 15"/>
          <p:cNvSpPr/>
          <p:nvPr/>
        </p:nvSpPr>
        <p:spPr>
          <a:xfrm>
            <a:off x="8046720" y="1600200"/>
            <a:ext cx="1783080" cy="914400"/>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1691640"/>
            <a:ext cx="1783080" cy="777240"/>
          </a:xfrm>
          <a:prstGeom prst="rect">
            <a:avLst/>
          </a:prstGeom>
          <a:noFill/>
        </p:spPr>
        <p:txBody>
          <a:bodyPr wrap="square" anchor="t" lIns="50800" rIns="50800" tIns="25400" bIns="25400">
            <a:spAutoFit/>
          </a:bodyPr>
          <a:lstStyle/>
          <a:p>
            <a:pPr algn="ctr"/>
            <a:r>
              <a:rPr sz="2000" b="0">
                <a:solidFill>
                  <a:srgbClr val="014A2F"/>
                </a:solidFill>
                <a:latin typeface="Segoe UI"/>
              </a:rPr>
              <a:t>☁️</a:t>
            </a:r>
          </a:p>
          <a:p>
            <a:pPr algn="ctr"/>
            <a:r>
              <a:rPr sz="1250" b="1">
                <a:solidFill>
                  <a:srgbClr val="014A2F"/>
                </a:solidFill>
                <a:latin typeface="Segoe UI"/>
              </a:rPr>
              <a:t>Google Colab</a:t>
            </a:r>
          </a:p>
          <a:p>
            <a:pPr algn="ctr"/>
            <a:r>
              <a:rPr sz="950" b="0">
                <a:solidFill>
                  <a:srgbClr val="5A6B60"/>
                </a:solidFill>
                <a:latin typeface="Segoe UI"/>
              </a:rPr>
              <a:t>Training gratis</a:t>
            </a:r>
          </a:p>
        </p:txBody>
      </p:sp>
      <p:sp>
        <p:nvSpPr>
          <p:cNvPr id="18" name="Rounded Rectangle 17"/>
          <p:cNvSpPr/>
          <p:nvPr/>
        </p:nvSpPr>
        <p:spPr>
          <a:xfrm>
            <a:off x="9921240" y="1600200"/>
            <a:ext cx="1783080" cy="914400"/>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21240" y="1691640"/>
            <a:ext cx="1783080" cy="777240"/>
          </a:xfrm>
          <a:prstGeom prst="rect">
            <a:avLst/>
          </a:prstGeom>
          <a:noFill/>
        </p:spPr>
        <p:txBody>
          <a:bodyPr wrap="square" anchor="t" lIns="50800" rIns="50800" tIns="25400" bIns="25400">
            <a:spAutoFit/>
          </a:bodyPr>
          <a:lstStyle/>
          <a:p>
            <a:pPr algn="ctr"/>
            <a:r>
              <a:rPr sz="2000" b="0">
                <a:solidFill>
                  <a:srgbClr val="014A2F"/>
                </a:solidFill>
                <a:latin typeface="Segoe UI"/>
              </a:rPr>
              <a:t>💾</a:t>
            </a:r>
          </a:p>
          <a:p>
            <a:pPr algn="ctr"/>
            <a:r>
              <a:rPr sz="1250" b="1">
                <a:solidFill>
                  <a:srgbClr val="014A2F"/>
                </a:solidFill>
                <a:latin typeface="Segoe UI"/>
              </a:rPr>
              <a:t>joblib</a:t>
            </a:r>
          </a:p>
          <a:p>
            <a:pPr algn="ctr"/>
            <a:r>
              <a:rPr sz="950" b="0">
                <a:solidFill>
                  <a:srgbClr val="5A6B60"/>
                </a:solidFill>
                <a:latin typeface="Segoe UI"/>
              </a:rPr>
              <a:t>Simpan model .pkl</a:t>
            </a:r>
          </a:p>
        </p:txBody>
      </p:sp>
      <p:sp>
        <p:nvSpPr>
          <p:cNvPr id="20" name="TextBox 19"/>
          <p:cNvSpPr txBox="1"/>
          <p:nvPr/>
        </p:nvSpPr>
        <p:spPr>
          <a:xfrm>
            <a:off x="548640" y="2788920"/>
            <a:ext cx="5486400" cy="365760"/>
          </a:xfrm>
          <a:prstGeom prst="rect">
            <a:avLst/>
          </a:prstGeom>
          <a:noFill/>
        </p:spPr>
        <p:txBody>
          <a:bodyPr wrap="square" anchor="t" lIns="50800" rIns="50800" tIns="25400" bIns="25400">
            <a:spAutoFit/>
          </a:bodyPr>
          <a:lstStyle/>
          <a:p>
            <a:pPr algn="l"/>
            <a:r>
              <a:rPr sz="1500" b="1">
                <a:solidFill>
                  <a:srgbClr val="06A357"/>
                </a:solidFill>
                <a:latin typeface="Segoe UI"/>
              </a:rPr>
              <a:t>⚙️  LANGKAH PEMBUATAN (PIPELINE)</a:t>
            </a:r>
          </a:p>
        </p:txBody>
      </p:sp>
      <p:sp>
        <p:nvSpPr>
          <p:cNvPr id="21" name="Rounded Rectangle 20"/>
          <p:cNvSpPr/>
          <p:nvPr/>
        </p:nvSpPr>
        <p:spPr>
          <a:xfrm>
            <a:off x="548640" y="3246120"/>
            <a:ext cx="3611880" cy="132588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31520" y="3429000"/>
            <a:ext cx="457200" cy="45720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429000"/>
            <a:ext cx="457200" cy="457200"/>
          </a:xfrm>
          <a:prstGeom prst="rect">
            <a:avLst/>
          </a:prstGeom>
          <a:noFill/>
        </p:spPr>
        <p:txBody>
          <a:bodyPr wrap="square" anchor="ctr" lIns="50800" rIns="50800" tIns="25400" bIns="25400">
            <a:spAutoFit/>
          </a:bodyPr>
          <a:lstStyle/>
          <a:p>
            <a:pPr algn="ctr"/>
            <a:r>
              <a:rPr sz="1800" b="1">
                <a:solidFill>
                  <a:srgbClr val="FFFFFF"/>
                </a:solidFill>
                <a:latin typeface="Segoe UI"/>
              </a:rPr>
              <a:t>1</a:t>
            </a:r>
          </a:p>
        </p:txBody>
      </p:sp>
      <p:sp>
        <p:nvSpPr>
          <p:cNvPr id="24" name="TextBox 23"/>
          <p:cNvSpPr txBox="1"/>
          <p:nvPr/>
        </p:nvSpPr>
        <p:spPr>
          <a:xfrm>
            <a:off x="1325880" y="3410712"/>
            <a:ext cx="2697480" cy="1051560"/>
          </a:xfrm>
          <a:prstGeom prst="rect">
            <a:avLst/>
          </a:prstGeom>
          <a:noFill/>
        </p:spPr>
        <p:txBody>
          <a:bodyPr wrap="square" anchor="ctr" lIns="50800" rIns="50800" tIns="25400" bIns="25400">
            <a:spAutoFit/>
          </a:bodyPr>
          <a:lstStyle/>
          <a:p>
            <a:pPr algn="l"/>
            <a:r>
              <a:rPr sz="1350" b="1">
                <a:solidFill>
                  <a:srgbClr val="014A2F"/>
                </a:solidFill>
                <a:latin typeface="Segoe UI"/>
              </a:rPr>
              <a:t>Kumpulkan Data</a:t>
            </a:r>
          </a:p>
          <a:p>
            <a:pPr algn="l"/>
            <a:r>
              <a:rPr sz="1050" b="0">
                <a:solidFill>
                  <a:srgbClr val="5A6B60"/>
                </a:solidFill>
                <a:latin typeface="Segoe UI"/>
              </a:rPr>
              <a:t>25.000 sampel dibuat dari standar WHO 2006 + distribusi SSGI 2024</a:t>
            </a:r>
          </a:p>
        </p:txBody>
      </p:sp>
      <p:sp>
        <p:nvSpPr>
          <p:cNvPr id="25" name="Rounded Rectangle 24"/>
          <p:cNvSpPr/>
          <p:nvPr/>
        </p:nvSpPr>
        <p:spPr>
          <a:xfrm>
            <a:off x="4407408" y="3246120"/>
            <a:ext cx="3611880" cy="132588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90288" y="3429000"/>
            <a:ext cx="457200" cy="45720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90288" y="3429000"/>
            <a:ext cx="457200" cy="457200"/>
          </a:xfrm>
          <a:prstGeom prst="rect">
            <a:avLst/>
          </a:prstGeom>
          <a:noFill/>
        </p:spPr>
        <p:txBody>
          <a:bodyPr wrap="square" anchor="ctr" lIns="50800" rIns="50800" tIns="25400" bIns="25400">
            <a:spAutoFit/>
          </a:bodyPr>
          <a:lstStyle/>
          <a:p>
            <a:pPr algn="ctr"/>
            <a:r>
              <a:rPr sz="1800" b="1">
                <a:solidFill>
                  <a:srgbClr val="FFFFFF"/>
                </a:solidFill>
                <a:latin typeface="Segoe UI"/>
              </a:rPr>
              <a:t>2</a:t>
            </a:r>
          </a:p>
        </p:txBody>
      </p:sp>
      <p:sp>
        <p:nvSpPr>
          <p:cNvPr id="28" name="TextBox 27"/>
          <p:cNvSpPr txBox="1"/>
          <p:nvPr/>
        </p:nvSpPr>
        <p:spPr>
          <a:xfrm>
            <a:off x="5184648" y="3410712"/>
            <a:ext cx="2697480" cy="1051560"/>
          </a:xfrm>
          <a:prstGeom prst="rect">
            <a:avLst/>
          </a:prstGeom>
          <a:noFill/>
        </p:spPr>
        <p:txBody>
          <a:bodyPr wrap="square" anchor="ctr" lIns="50800" rIns="50800" tIns="25400" bIns="25400">
            <a:spAutoFit/>
          </a:bodyPr>
          <a:lstStyle/>
          <a:p>
            <a:pPr algn="l"/>
            <a:r>
              <a:rPr sz="1350" b="1">
                <a:solidFill>
                  <a:srgbClr val="014A2F"/>
                </a:solidFill>
                <a:latin typeface="Segoe UI"/>
              </a:rPr>
              <a:t>Preprocessing</a:t>
            </a:r>
          </a:p>
          <a:p>
            <a:pPr algn="l"/>
            <a:r>
              <a:rPr sz="1050" b="0">
                <a:solidFill>
                  <a:srgbClr val="5A6B60"/>
                </a:solidFill>
                <a:latin typeface="Segoe UI"/>
              </a:rPr>
              <a:t>Label Encoding: teks → angka (mis. laki-laki=0). Pilih 7 fitur</a:t>
            </a:r>
          </a:p>
        </p:txBody>
      </p:sp>
      <p:sp>
        <p:nvSpPr>
          <p:cNvPr id="29" name="Rounded Rectangle 28"/>
          <p:cNvSpPr/>
          <p:nvPr/>
        </p:nvSpPr>
        <p:spPr>
          <a:xfrm>
            <a:off x="8266176" y="3246120"/>
            <a:ext cx="3611880" cy="132588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449056" y="3429000"/>
            <a:ext cx="457200" cy="45720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49056" y="3429000"/>
            <a:ext cx="457200" cy="457200"/>
          </a:xfrm>
          <a:prstGeom prst="rect">
            <a:avLst/>
          </a:prstGeom>
          <a:noFill/>
        </p:spPr>
        <p:txBody>
          <a:bodyPr wrap="square" anchor="ctr" lIns="50800" rIns="50800" tIns="25400" bIns="25400">
            <a:spAutoFit/>
          </a:bodyPr>
          <a:lstStyle/>
          <a:p>
            <a:pPr algn="ctr"/>
            <a:r>
              <a:rPr sz="1800" b="1">
                <a:solidFill>
                  <a:srgbClr val="FFFFFF"/>
                </a:solidFill>
                <a:latin typeface="Segoe UI"/>
              </a:rPr>
              <a:t>3</a:t>
            </a:r>
          </a:p>
        </p:txBody>
      </p:sp>
      <p:sp>
        <p:nvSpPr>
          <p:cNvPr id="32" name="TextBox 31"/>
          <p:cNvSpPr txBox="1"/>
          <p:nvPr/>
        </p:nvSpPr>
        <p:spPr>
          <a:xfrm>
            <a:off x="9043416" y="3410712"/>
            <a:ext cx="2697480" cy="1051560"/>
          </a:xfrm>
          <a:prstGeom prst="rect">
            <a:avLst/>
          </a:prstGeom>
          <a:noFill/>
        </p:spPr>
        <p:txBody>
          <a:bodyPr wrap="square" anchor="ctr" lIns="50800" rIns="50800" tIns="25400" bIns="25400">
            <a:spAutoFit/>
          </a:bodyPr>
          <a:lstStyle/>
          <a:p>
            <a:pPr algn="l"/>
            <a:r>
              <a:rPr sz="1350" b="1">
                <a:solidFill>
                  <a:srgbClr val="014A2F"/>
                </a:solidFill>
                <a:latin typeface="Segoe UI"/>
              </a:rPr>
              <a:t>Split Data</a:t>
            </a:r>
          </a:p>
          <a:p>
            <a:pPr algn="l"/>
            <a:r>
              <a:rPr sz="1050" b="0">
                <a:solidFill>
                  <a:srgbClr val="5A6B60"/>
                </a:solidFill>
                <a:latin typeface="Segoe UI"/>
              </a:rPr>
              <a:t>80% latih (20.000) · 20% uji (5.000), stratified</a:t>
            </a:r>
          </a:p>
        </p:txBody>
      </p:sp>
      <p:sp>
        <p:nvSpPr>
          <p:cNvPr id="33" name="Rounded Rectangle 32"/>
          <p:cNvSpPr/>
          <p:nvPr/>
        </p:nvSpPr>
        <p:spPr>
          <a:xfrm>
            <a:off x="548640" y="4754880"/>
            <a:ext cx="3611880" cy="132588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31520" y="4937760"/>
            <a:ext cx="457200" cy="45720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937760"/>
            <a:ext cx="457200" cy="457200"/>
          </a:xfrm>
          <a:prstGeom prst="rect">
            <a:avLst/>
          </a:prstGeom>
          <a:noFill/>
        </p:spPr>
        <p:txBody>
          <a:bodyPr wrap="square" anchor="ctr" lIns="50800" rIns="50800" tIns="25400" bIns="25400">
            <a:spAutoFit/>
          </a:bodyPr>
          <a:lstStyle/>
          <a:p>
            <a:pPr algn="ctr"/>
            <a:r>
              <a:rPr sz="1800" b="1">
                <a:solidFill>
                  <a:srgbClr val="FFFFFF"/>
                </a:solidFill>
                <a:latin typeface="Segoe UI"/>
              </a:rPr>
              <a:t>4</a:t>
            </a:r>
          </a:p>
        </p:txBody>
      </p:sp>
      <p:sp>
        <p:nvSpPr>
          <p:cNvPr id="36" name="TextBox 35"/>
          <p:cNvSpPr txBox="1"/>
          <p:nvPr/>
        </p:nvSpPr>
        <p:spPr>
          <a:xfrm>
            <a:off x="1325880" y="4919472"/>
            <a:ext cx="2697480" cy="1051560"/>
          </a:xfrm>
          <a:prstGeom prst="rect">
            <a:avLst/>
          </a:prstGeom>
          <a:noFill/>
        </p:spPr>
        <p:txBody>
          <a:bodyPr wrap="square" anchor="ctr" lIns="50800" rIns="50800" tIns="25400" bIns="25400">
            <a:spAutoFit/>
          </a:bodyPr>
          <a:lstStyle/>
          <a:p>
            <a:pPr algn="l"/>
            <a:r>
              <a:rPr sz="1350" b="1">
                <a:solidFill>
                  <a:srgbClr val="014A2F"/>
                </a:solidFill>
                <a:latin typeface="Segoe UI"/>
              </a:rPr>
              <a:t>Training Model</a:t>
            </a:r>
          </a:p>
          <a:p>
            <a:pPr algn="l"/>
            <a:r>
              <a:rPr sz="1050" b="0">
                <a:solidFill>
                  <a:srgbClr val="5A6B60"/>
                </a:solidFill>
                <a:latin typeface="Segoe UI"/>
              </a:rPr>
              <a:t>Random Forest 120 pohon, class_weight='balanced'</a:t>
            </a:r>
          </a:p>
        </p:txBody>
      </p:sp>
      <p:sp>
        <p:nvSpPr>
          <p:cNvPr id="37" name="Rounded Rectangle 36"/>
          <p:cNvSpPr/>
          <p:nvPr/>
        </p:nvSpPr>
        <p:spPr>
          <a:xfrm>
            <a:off x="4407408" y="4754880"/>
            <a:ext cx="3611880" cy="132588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90288" y="4937760"/>
            <a:ext cx="457200" cy="45720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90288" y="4937760"/>
            <a:ext cx="457200" cy="457200"/>
          </a:xfrm>
          <a:prstGeom prst="rect">
            <a:avLst/>
          </a:prstGeom>
          <a:noFill/>
        </p:spPr>
        <p:txBody>
          <a:bodyPr wrap="square" anchor="ctr" lIns="50800" rIns="50800" tIns="25400" bIns="25400">
            <a:spAutoFit/>
          </a:bodyPr>
          <a:lstStyle/>
          <a:p>
            <a:pPr algn="ctr"/>
            <a:r>
              <a:rPr sz="1800" b="1">
                <a:solidFill>
                  <a:srgbClr val="FFFFFF"/>
                </a:solidFill>
                <a:latin typeface="Segoe UI"/>
              </a:rPr>
              <a:t>5</a:t>
            </a:r>
          </a:p>
        </p:txBody>
      </p:sp>
      <p:sp>
        <p:nvSpPr>
          <p:cNvPr id="40" name="TextBox 39"/>
          <p:cNvSpPr txBox="1"/>
          <p:nvPr/>
        </p:nvSpPr>
        <p:spPr>
          <a:xfrm>
            <a:off x="5184648" y="4919472"/>
            <a:ext cx="2697480" cy="1051560"/>
          </a:xfrm>
          <a:prstGeom prst="rect">
            <a:avLst/>
          </a:prstGeom>
          <a:noFill/>
        </p:spPr>
        <p:txBody>
          <a:bodyPr wrap="square" anchor="ctr" lIns="50800" rIns="50800" tIns="25400" bIns="25400">
            <a:spAutoFit/>
          </a:bodyPr>
          <a:lstStyle/>
          <a:p>
            <a:pPr algn="l"/>
            <a:r>
              <a:rPr sz="1350" b="1">
                <a:solidFill>
                  <a:srgbClr val="014A2F"/>
                </a:solidFill>
                <a:latin typeface="Segoe UI"/>
              </a:rPr>
              <a:t>Evaluasi</a:t>
            </a:r>
          </a:p>
          <a:p>
            <a:pPr algn="l"/>
            <a:r>
              <a:rPr sz="1050" b="0">
                <a:solidFill>
                  <a:srgbClr val="5A6B60"/>
                </a:solidFill>
                <a:latin typeface="Segoe UI"/>
              </a:rPr>
              <a:t>Akurasi 88,40% · 5-Fold Cross-Validation · audit fairness</a:t>
            </a:r>
          </a:p>
        </p:txBody>
      </p:sp>
      <p:sp>
        <p:nvSpPr>
          <p:cNvPr id="41" name="Rounded Rectangle 40"/>
          <p:cNvSpPr/>
          <p:nvPr/>
        </p:nvSpPr>
        <p:spPr>
          <a:xfrm>
            <a:off x="8266176" y="4754880"/>
            <a:ext cx="3611880" cy="132588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449056" y="4937760"/>
            <a:ext cx="457200" cy="45720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49056" y="4937760"/>
            <a:ext cx="457200" cy="457200"/>
          </a:xfrm>
          <a:prstGeom prst="rect">
            <a:avLst/>
          </a:prstGeom>
          <a:noFill/>
        </p:spPr>
        <p:txBody>
          <a:bodyPr wrap="square" anchor="ctr" lIns="50800" rIns="50800" tIns="25400" bIns="25400">
            <a:spAutoFit/>
          </a:bodyPr>
          <a:lstStyle/>
          <a:p>
            <a:pPr algn="ctr"/>
            <a:r>
              <a:rPr sz="1800" b="1">
                <a:solidFill>
                  <a:srgbClr val="FFFFFF"/>
                </a:solidFill>
                <a:latin typeface="Segoe UI"/>
              </a:rPr>
              <a:t>6</a:t>
            </a:r>
          </a:p>
        </p:txBody>
      </p:sp>
      <p:sp>
        <p:nvSpPr>
          <p:cNvPr id="44" name="TextBox 43"/>
          <p:cNvSpPr txBox="1"/>
          <p:nvPr/>
        </p:nvSpPr>
        <p:spPr>
          <a:xfrm>
            <a:off x="9043416" y="4919472"/>
            <a:ext cx="2697480" cy="1051560"/>
          </a:xfrm>
          <a:prstGeom prst="rect">
            <a:avLst/>
          </a:prstGeom>
          <a:noFill/>
        </p:spPr>
        <p:txBody>
          <a:bodyPr wrap="square" anchor="ctr" lIns="50800" rIns="50800" tIns="25400" bIns="25400">
            <a:spAutoFit/>
          </a:bodyPr>
          <a:lstStyle/>
          <a:p>
            <a:pPr algn="l"/>
            <a:r>
              <a:rPr sz="1350" b="1">
                <a:solidFill>
                  <a:srgbClr val="014A2F"/>
                </a:solidFill>
                <a:latin typeface="Segoe UI"/>
              </a:rPr>
              <a:t>Simpan &amp; Deploy</a:t>
            </a:r>
          </a:p>
          <a:p>
            <a:pPr algn="l"/>
            <a:r>
              <a:rPr sz="1050" b="0">
                <a:solidFill>
                  <a:srgbClr val="5A6B60"/>
                </a:solidFill>
                <a:latin typeface="Segoe UI"/>
              </a:rPr>
              <a:t>Model → .pkl → dipanggil web app Streamlit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51560"/>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46888"/>
            <a:ext cx="566928" cy="566928"/>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50800" rIns="50800" tIns="25400" bIns="25400">
            <a:spAutoFit/>
          </a:bodyPr>
          <a:lstStyle/>
          <a:p>
            <a:pPr algn="ctr"/>
            <a:r>
              <a:rPr sz="2000" b="1">
                <a:solidFill>
                  <a:srgbClr val="FFFFFF"/>
                </a:solidFill>
                <a:latin typeface="Segoe UI"/>
              </a:rPr>
              <a:t>04</a:t>
            </a:r>
          </a:p>
        </p:txBody>
      </p:sp>
      <p:sp>
        <p:nvSpPr>
          <p:cNvPr id="6" name="TextBox 5"/>
          <p:cNvSpPr txBox="1"/>
          <p:nvPr/>
        </p:nvSpPr>
        <p:spPr>
          <a:xfrm>
            <a:off x="1188720" y="164592"/>
            <a:ext cx="10515600" cy="731520"/>
          </a:xfrm>
          <a:prstGeom prst="rect">
            <a:avLst/>
          </a:prstGeom>
          <a:noFill/>
        </p:spPr>
        <p:txBody>
          <a:bodyPr wrap="square" anchor="ctr" lIns="50800" rIns="50800" tIns="25400" bIns="25400">
            <a:spAutoFit/>
          </a:bodyPr>
          <a:lstStyle/>
          <a:p>
            <a:pPr algn="l"/>
            <a:r>
              <a:rPr sz="2600" b="1">
                <a:solidFill>
                  <a:srgbClr val="FFFFFF"/>
                </a:solidFill>
                <a:latin typeface="Segoe UI"/>
              </a:rPr>
              <a:t>Random Forest — Dijelaskan Sederhana</a:t>
            </a:r>
          </a:p>
        </p:txBody>
      </p:sp>
      <p:sp>
        <p:nvSpPr>
          <p:cNvPr id="7" name="Rounded Rectangle 6"/>
          <p:cNvSpPr/>
          <p:nvPr/>
        </p:nvSpPr>
        <p:spPr>
          <a:xfrm>
            <a:off x="548640" y="1234440"/>
            <a:ext cx="11064240" cy="1051560"/>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280160"/>
            <a:ext cx="10515600" cy="960120"/>
          </a:xfrm>
          <a:prstGeom prst="rect">
            <a:avLst/>
          </a:prstGeom>
          <a:noFill/>
        </p:spPr>
        <p:txBody>
          <a:bodyPr wrap="square" anchor="ctr" lIns="50800" rIns="50800" tIns="25400" bIns="25400">
            <a:spAutoFit/>
          </a:bodyPr>
          <a:lstStyle/>
          <a:p>
            <a:pPr algn="l"/>
            <a:r>
              <a:rPr sz="1600" b="1">
                <a:solidFill>
                  <a:srgbClr val="FFC43A"/>
                </a:solidFill>
                <a:latin typeface="Segoe UI"/>
              </a:rPr>
              <a:t>🌳 Analogi: </a:t>
            </a:r>
            <a:r>
              <a:rPr sz="1500" b="0">
                <a:solidFill>
                  <a:srgbClr val="FFFFFF"/>
                </a:solidFill>
                <a:latin typeface="Segoe UI"/>
              </a:rPr>
              <a:t>Bayangkan minta pendapat ke </a:t>
            </a:r>
            <a:r>
              <a:rPr sz="1500" b="1">
                <a:solidFill>
                  <a:srgbClr val="2ECC71"/>
                </a:solidFill>
                <a:latin typeface="Segoe UI"/>
              </a:rPr>
              <a:t>banyak dokter sekaligus</a:t>
            </a:r>
            <a:r>
              <a:rPr sz="1500" b="0">
                <a:solidFill>
                  <a:srgbClr val="FFFFFF"/>
                </a:solidFill>
                <a:latin typeface="Segoe UI"/>
              </a:rPr>
              <a:t>, bukan cuma satu.</a:t>
            </a:r>
          </a:p>
          <a:p>
            <a:pPr algn="l"/>
            <a:r>
              <a:rPr sz="1300" b="0">
                <a:solidFill>
                  <a:srgbClr val="FFFFFF"/>
                </a:solidFill>
                <a:latin typeface="Segoe UI"/>
              </a:rPr>
              <a:t>Setiap dokter (pohon keputusan) memberi tebakan. Keputusan akhir = </a:t>
            </a:r>
            <a:r>
              <a:rPr sz="1300" b="1">
                <a:solidFill>
                  <a:srgbClr val="2ECC71"/>
                </a:solidFill>
                <a:latin typeface="Segoe UI"/>
              </a:rPr>
              <a:t>suara terbanyak (voting)</a:t>
            </a:r>
            <a:r>
              <a:rPr sz="1300" b="0">
                <a:solidFill>
                  <a:srgbClr val="FFFFFF"/>
                </a:solidFill>
                <a:latin typeface="Segoe UI"/>
              </a:rPr>
              <a:t>. Hasilnya lebih akurat &amp; stabil.</a:t>
            </a:r>
          </a:p>
        </p:txBody>
      </p:sp>
      <p:sp>
        <p:nvSpPr>
          <p:cNvPr id="9" name="Rounded Rectangle 8"/>
          <p:cNvSpPr/>
          <p:nvPr/>
        </p:nvSpPr>
        <p:spPr>
          <a:xfrm>
            <a:off x="548640" y="2560320"/>
            <a:ext cx="3566160" cy="1554480"/>
          </a:xfrm>
          <a:prstGeom prst="roundRect">
            <a:avLst/>
          </a:prstGeom>
          <a:solidFill>
            <a:srgbClr val="FFFFFF"/>
          </a:solidFill>
          <a:ln w="19050">
            <a:solidFill>
              <a:srgbClr val="06A3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43200"/>
            <a:ext cx="3108960" cy="1188720"/>
          </a:xfrm>
          <a:prstGeom prst="rect">
            <a:avLst/>
          </a:prstGeom>
          <a:noFill/>
        </p:spPr>
        <p:txBody>
          <a:bodyPr wrap="square" anchor="t" lIns="50800" rIns="50800" tIns="25400" bIns="25400">
            <a:spAutoFit/>
          </a:bodyPr>
          <a:lstStyle/>
          <a:p>
            <a:pPr algn="l"/>
            <a:r>
              <a:rPr sz="1500" b="1">
                <a:solidFill>
                  <a:srgbClr val="014A2F"/>
                </a:solidFill>
                <a:latin typeface="Segoe UI"/>
              </a:rPr>
              <a:t>🌲 120 Pohon Keputusan</a:t>
            </a:r>
          </a:p>
          <a:p>
            <a:pPr algn="l"/>
            <a:r>
              <a:rPr sz="600" b="0">
                <a:solidFill>
                  <a:srgbClr val="5A6B60"/>
                </a:solidFill>
                <a:latin typeface="Segoe UI"/>
              </a:rPr>
              <a:t/>
            </a:r>
          </a:p>
          <a:p>
            <a:pPr algn="l"/>
            <a:r>
              <a:rPr sz="1200" b="0">
                <a:solidFill>
                  <a:srgbClr val="5A6B60"/>
                </a:solidFill>
                <a:latin typeface="Segoe UI"/>
              </a:rPr>
              <a:t>Tiap pohon dilatih pada potongan data acak yang berbeda (teknik bagging).</a:t>
            </a:r>
          </a:p>
        </p:txBody>
      </p:sp>
      <p:sp>
        <p:nvSpPr>
          <p:cNvPr id="11" name="TextBox 10"/>
          <p:cNvSpPr txBox="1"/>
          <p:nvPr/>
        </p:nvSpPr>
        <p:spPr>
          <a:xfrm>
            <a:off x="4069080" y="2560320"/>
            <a:ext cx="274320" cy="1554480"/>
          </a:xfrm>
          <a:prstGeom prst="rect">
            <a:avLst/>
          </a:prstGeom>
          <a:noFill/>
        </p:spPr>
        <p:txBody>
          <a:bodyPr wrap="square" anchor="ctr" lIns="50800" rIns="50800" tIns="25400" bIns="25400">
            <a:spAutoFit/>
          </a:bodyPr>
          <a:lstStyle/>
          <a:p>
            <a:pPr algn="ctr"/>
            <a:r>
              <a:rPr sz="1800" b="1">
                <a:solidFill>
                  <a:srgbClr val="06A357"/>
                </a:solidFill>
                <a:latin typeface="Segoe UI"/>
              </a:rPr>
              <a:t>▶</a:t>
            </a:r>
          </a:p>
        </p:txBody>
      </p:sp>
      <p:sp>
        <p:nvSpPr>
          <p:cNvPr id="12" name="Rounded Rectangle 11"/>
          <p:cNvSpPr/>
          <p:nvPr/>
        </p:nvSpPr>
        <p:spPr>
          <a:xfrm>
            <a:off x="4297680" y="2560320"/>
            <a:ext cx="3566160" cy="1554480"/>
          </a:xfrm>
          <a:prstGeom prst="roundRect">
            <a:avLst/>
          </a:prstGeom>
          <a:solidFill>
            <a:srgbClr val="FFFFFF"/>
          </a:solidFill>
          <a:ln w="19050">
            <a:solidFill>
              <a:srgbClr val="06A3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2743200"/>
            <a:ext cx="3108960" cy="1188720"/>
          </a:xfrm>
          <a:prstGeom prst="rect">
            <a:avLst/>
          </a:prstGeom>
          <a:noFill/>
        </p:spPr>
        <p:txBody>
          <a:bodyPr wrap="square" anchor="t" lIns="50800" rIns="50800" tIns="25400" bIns="25400">
            <a:spAutoFit/>
          </a:bodyPr>
          <a:lstStyle/>
          <a:p>
            <a:pPr algn="l"/>
            <a:r>
              <a:rPr sz="1500" b="1">
                <a:solidFill>
                  <a:srgbClr val="014A2F"/>
                </a:solidFill>
                <a:latin typeface="Segoe UI"/>
              </a:rPr>
              <a:t>🗳️ Voting Mayoritas</a:t>
            </a:r>
          </a:p>
          <a:p>
            <a:pPr algn="l"/>
            <a:r>
              <a:rPr sz="600" b="0">
                <a:solidFill>
                  <a:srgbClr val="5A6B60"/>
                </a:solidFill>
                <a:latin typeface="Segoe UI"/>
              </a:rPr>
              <a:t/>
            </a:r>
          </a:p>
          <a:p>
            <a:pPr algn="l"/>
            <a:r>
              <a:rPr sz="1200" b="0">
                <a:solidFill>
                  <a:srgbClr val="5A6B60"/>
                </a:solidFill>
                <a:latin typeface="Segoe UI"/>
              </a:rPr>
              <a:t>Tiap pohon menebak kategori. Kategori dengan suara terbanyak yang dipilih.</a:t>
            </a:r>
          </a:p>
        </p:txBody>
      </p:sp>
      <p:sp>
        <p:nvSpPr>
          <p:cNvPr id="14" name="TextBox 13"/>
          <p:cNvSpPr txBox="1"/>
          <p:nvPr/>
        </p:nvSpPr>
        <p:spPr>
          <a:xfrm>
            <a:off x="7818120" y="2560320"/>
            <a:ext cx="274320" cy="1554480"/>
          </a:xfrm>
          <a:prstGeom prst="rect">
            <a:avLst/>
          </a:prstGeom>
          <a:noFill/>
        </p:spPr>
        <p:txBody>
          <a:bodyPr wrap="square" anchor="ctr" lIns="50800" rIns="50800" tIns="25400" bIns="25400">
            <a:spAutoFit/>
          </a:bodyPr>
          <a:lstStyle/>
          <a:p>
            <a:pPr algn="ctr"/>
            <a:r>
              <a:rPr sz="1800" b="1">
                <a:solidFill>
                  <a:srgbClr val="06A357"/>
                </a:solidFill>
                <a:latin typeface="Segoe UI"/>
              </a:rPr>
              <a:t>▶</a:t>
            </a:r>
          </a:p>
        </p:txBody>
      </p:sp>
      <p:sp>
        <p:nvSpPr>
          <p:cNvPr id="15" name="Rounded Rectangle 14"/>
          <p:cNvSpPr/>
          <p:nvPr/>
        </p:nvSpPr>
        <p:spPr>
          <a:xfrm>
            <a:off x="8046720" y="2560320"/>
            <a:ext cx="3566160" cy="1554480"/>
          </a:xfrm>
          <a:prstGeom prst="roundRect">
            <a:avLst/>
          </a:prstGeom>
          <a:solidFill>
            <a:srgbClr val="FFFFFF"/>
          </a:solidFill>
          <a:ln w="19050">
            <a:solidFill>
              <a:srgbClr val="06A3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2743200"/>
            <a:ext cx="3108960" cy="1188720"/>
          </a:xfrm>
          <a:prstGeom prst="rect">
            <a:avLst/>
          </a:prstGeom>
          <a:noFill/>
        </p:spPr>
        <p:txBody>
          <a:bodyPr wrap="square" anchor="t" lIns="50800" rIns="50800" tIns="25400" bIns="25400">
            <a:spAutoFit/>
          </a:bodyPr>
          <a:lstStyle/>
          <a:p>
            <a:pPr algn="l"/>
            <a:r>
              <a:rPr sz="1500" b="1">
                <a:solidFill>
                  <a:srgbClr val="014A2F"/>
                </a:solidFill>
                <a:latin typeface="Segoe UI"/>
              </a:rPr>
              <a:t>🎯 Hasil + Confidence</a:t>
            </a:r>
          </a:p>
          <a:p>
            <a:pPr algn="l"/>
            <a:r>
              <a:rPr sz="600" b="0">
                <a:solidFill>
                  <a:srgbClr val="5A6B60"/>
                </a:solidFill>
                <a:latin typeface="Segoe UI"/>
              </a:rPr>
              <a:t/>
            </a:r>
          </a:p>
          <a:p>
            <a:pPr algn="l"/>
            <a:r>
              <a:rPr sz="1200" b="0">
                <a:solidFill>
                  <a:srgbClr val="5A6B60"/>
                </a:solidFill>
                <a:latin typeface="Segoe UI"/>
              </a:rPr>
              <a:t>Output: 1 dari 4 kategori + tingkat keyakinan (probabilitas %).</a:t>
            </a:r>
          </a:p>
        </p:txBody>
      </p:sp>
      <p:sp>
        <p:nvSpPr>
          <p:cNvPr id="17" name="Rounded Rectangle 16"/>
          <p:cNvSpPr/>
          <p:nvPr/>
        </p:nvSpPr>
        <p:spPr>
          <a:xfrm>
            <a:off x="548640" y="4343400"/>
            <a:ext cx="11064240" cy="1828800"/>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480560"/>
            <a:ext cx="10607040" cy="365760"/>
          </a:xfrm>
          <a:prstGeom prst="rect">
            <a:avLst/>
          </a:prstGeom>
          <a:noFill/>
        </p:spPr>
        <p:txBody>
          <a:bodyPr wrap="square" anchor="t" lIns="50800" rIns="50800" tIns="25400" bIns="25400">
            <a:spAutoFit/>
          </a:bodyPr>
          <a:lstStyle/>
          <a:p>
            <a:pPr algn="l"/>
            <a:r>
              <a:rPr sz="1500" b="1">
                <a:solidFill>
                  <a:srgbClr val="014A2F"/>
                </a:solidFill>
                <a:latin typeface="Segoe UI"/>
              </a:rPr>
              <a:t>Mengapa memilih Random Forest? (untuk LO5)</a:t>
            </a:r>
          </a:p>
        </p:txBody>
      </p:sp>
      <p:sp>
        <p:nvSpPr>
          <p:cNvPr id="19" name="TextBox 18"/>
          <p:cNvSpPr txBox="1"/>
          <p:nvPr/>
        </p:nvSpPr>
        <p:spPr>
          <a:xfrm>
            <a:off x="822960" y="4937760"/>
            <a:ext cx="3520440" cy="548640"/>
          </a:xfrm>
          <a:prstGeom prst="rect">
            <a:avLst/>
          </a:prstGeom>
          <a:noFill/>
        </p:spPr>
        <p:txBody>
          <a:bodyPr wrap="square" anchor="t" lIns="50800" rIns="50800" tIns="25400" bIns="25400">
            <a:spAutoFit/>
          </a:bodyPr>
          <a:lstStyle/>
          <a:p>
            <a:pPr algn="l"/>
            <a:r>
              <a:rPr sz="1150" b="1">
                <a:solidFill>
                  <a:srgbClr val="014A2F"/>
                </a:solidFill>
                <a:latin typeface="Segoe UI"/>
              </a:rPr>
              <a:t>✅ Akurasi tinggi — </a:t>
            </a:r>
            <a:r>
              <a:rPr sz="1050" b="0">
                <a:solidFill>
                  <a:srgbClr val="5A6B60"/>
                </a:solidFill>
                <a:latin typeface="Segoe UI"/>
              </a:rPr>
              <a:t>88,40% — masuk Excellent (≥85%)</a:t>
            </a:r>
          </a:p>
        </p:txBody>
      </p:sp>
      <p:sp>
        <p:nvSpPr>
          <p:cNvPr id="20" name="TextBox 19"/>
          <p:cNvSpPr txBox="1"/>
          <p:nvPr/>
        </p:nvSpPr>
        <p:spPr>
          <a:xfrm>
            <a:off x="4434840" y="4937760"/>
            <a:ext cx="3520440" cy="548640"/>
          </a:xfrm>
          <a:prstGeom prst="rect">
            <a:avLst/>
          </a:prstGeom>
          <a:noFill/>
        </p:spPr>
        <p:txBody>
          <a:bodyPr wrap="square" anchor="t" lIns="50800" rIns="50800" tIns="25400" bIns="25400">
            <a:spAutoFit/>
          </a:bodyPr>
          <a:lstStyle/>
          <a:p>
            <a:pPr algn="l"/>
            <a:r>
              <a:rPr sz="1150" b="1">
                <a:solidFill>
                  <a:srgbClr val="014A2F"/>
                </a:solidFill>
                <a:latin typeface="Segoe UI"/>
              </a:rPr>
              <a:t>✅ Anti-overfitting — </a:t>
            </a:r>
            <a:r>
              <a:rPr sz="1050" b="0">
                <a:solidFill>
                  <a:srgbClr val="5A6B60"/>
                </a:solidFill>
                <a:latin typeface="Segoe UI"/>
              </a:rPr>
              <a:t>Gabungan banyak pohon → stabil, tidak menghafal</a:t>
            </a:r>
          </a:p>
        </p:txBody>
      </p:sp>
      <p:sp>
        <p:nvSpPr>
          <p:cNvPr id="21" name="TextBox 20"/>
          <p:cNvSpPr txBox="1"/>
          <p:nvPr/>
        </p:nvSpPr>
        <p:spPr>
          <a:xfrm>
            <a:off x="8046720" y="4937760"/>
            <a:ext cx="3520440" cy="548640"/>
          </a:xfrm>
          <a:prstGeom prst="rect">
            <a:avLst/>
          </a:prstGeom>
          <a:noFill/>
        </p:spPr>
        <p:txBody>
          <a:bodyPr wrap="square" anchor="t" lIns="50800" rIns="50800" tIns="25400" bIns="25400">
            <a:spAutoFit/>
          </a:bodyPr>
          <a:lstStyle/>
          <a:p>
            <a:pPr algn="l"/>
            <a:r>
              <a:rPr sz="1150" b="1">
                <a:solidFill>
                  <a:srgbClr val="014A2F"/>
                </a:solidFill>
                <a:latin typeface="Segoe UI"/>
              </a:rPr>
              <a:t>✅ Bisa dijelaskan — </a:t>
            </a:r>
            <a:r>
              <a:rPr sz="1050" b="0">
                <a:solidFill>
                  <a:srgbClr val="5A6B60"/>
                </a:solidFill>
                <a:latin typeface="Segoe UI"/>
              </a:rPr>
              <a:t>Feature importance menunjukkan faktor terpenting</a:t>
            </a:r>
          </a:p>
        </p:txBody>
      </p:sp>
      <p:sp>
        <p:nvSpPr>
          <p:cNvPr id="22" name="TextBox 21"/>
          <p:cNvSpPr txBox="1"/>
          <p:nvPr/>
        </p:nvSpPr>
        <p:spPr>
          <a:xfrm>
            <a:off x="822960" y="5504688"/>
            <a:ext cx="3520440" cy="548640"/>
          </a:xfrm>
          <a:prstGeom prst="rect">
            <a:avLst/>
          </a:prstGeom>
          <a:noFill/>
        </p:spPr>
        <p:txBody>
          <a:bodyPr wrap="square" anchor="t" lIns="50800" rIns="50800" tIns="25400" bIns="25400">
            <a:spAutoFit/>
          </a:bodyPr>
          <a:lstStyle/>
          <a:p>
            <a:pPr algn="l"/>
            <a:r>
              <a:rPr sz="1150" b="1">
                <a:solidFill>
                  <a:srgbClr val="014A2F"/>
                </a:solidFill>
                <a:latin typeface="Segoe UI"/>
              </a:rPr>
              <a:t>✅ Tanpa normalisasi — </a:t>
            </a:r>
            <a:r>
              <a:rPr sz="1050" b="0">
                <a:solidFill>
                  <a:srgbClr val="5A6B60"/>
                </a:solidFill>
                <a:latin typeface="Segoe UI"/>
              </a:rPr>
              <a:t>Tidak perlu scaling — cocok data campuran</a:t>
            </a:r>
          </a:p>
        </p:txBody>
      </p:sp>
      <p:sp>
        <p:nvSpPr>
          <p:cNvPr id="23" name="TextBox 22"/>
          <p:cNvSpPr txBox="1"/>
          <p:nvPr/>
        </p:nvSpPr>
        <p:spPr>
          <a:xfrm>
            <a:off x="4434840" y="5504688"/>
            <a:ext cx="3520440" cy="548640"/>
          </a:xfrm>
          <a:prstGeom prst="rect">
            <a:avLst/>
          </a:prstGeom>
          <a:noFill/>
        </p:spPr>
        <p:txBody>
          <a:bodyPr wrap="square" anchor="t" lIns="50800" rIns="50800" tIns="25400" bIns="25400">
            <a:spAutoFit/>
          </a:bodyPr>
          <a:lstStyle/>
          <a:p>
            <a:pPr algn="l"/>
            <a:r>
              <a:rPr sz="1150" b="1">
                <a:solidFill>
                  <a:srgbClr val="014A2F"/>
                </a:solidFill>
                <a:latin typeface="Segoe UI"/>
              </a:rPr>
              <a:t>✅ Cepat — </a:t>
            </a:r>
            <a:r>
              <a:rPr sz="1050" b="0">
                <a:solidFill>
                  <a:srgbClr val="5A6B60"/>
                </a:solidFill>
                <a:latin typeface="Segoe UI"/>
              </a:rPr>
              <a:t>Prediksi &lt; 50 ms per anak</a:t>
            </a:r>
          </a:p>
        </p:txBody>
      </p:sp>
      <p:sp>
        <p:nvSpPr>
          <p:cNvPr id="24" name="TextBox 23"/>
          <p:cNvSpPr txBox="1"/>
          <p:nvPr/>
        </p:nvSpPr>
        <p:spPr>
          <a:xfrm>
            <a:off x="8046720" y="5504688"/>
            <a:ext cx="3520440" cy="548640"/>
          </a:xfrm>
          <a:prstGeom prst="rect">
            <a:avLst/>
          </a:prstGeom>
          <a:noFill/>
        </p:spPr>
        <p:txBody>
          <a:bodyPr wrap="square" anchor="t" lIns="50800" rIns="50800" tIns="25400" bIns="25400">
            <a:spAutoFit/>
          </a:bodyPr>
          <a:lstStyle/>
          <a:p>
            <a:pPr algn="l"/>
            <a:r>
              <a:rPr sz="1150" b="1">
                <a:solidFill>
                  <a:srgbClr val="014A2F"/>
                </a:solidFill>
                <a:latin typeface="Segoe UI"/>
              </a:rPr>
              <a:t>✅ Teruji di medis — </a:t>
            </a:r>
            <a:r>
              <a:rPr sz="1050" b="0">
                <a:solidFill>
                  <a:srgbClr val="5A6B60"/>
                </a:solidFill>
                <a:latin typeface="Segoe UI"/>
              </a:rPr>
              <a:t>Banyak riset stunting memakai Random Forest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51560"/>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46888"/>
            <a:ext cx="566928" cy="566928"/>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50800" rIns="50800" tIns="25400" bIns="25400">
            <a:spAutoFit/>
          </a:bodyPr>
          <a:lstStyle/>
          <a:p>
            <a:pPr algn="ctr"/>
            <a:r>
              <a:rPr sz="2000" b="1">
                <a:solidFill>
                  <a:srgbClr val="FFFFFF"/>
                </a:solidFill>
                <a:latin typeface="Segoe UI"/>
              </a:rPr>
              <a:t>05a</a:t>
            </a:r>
          </a:p>
        </p:txBody>
      </p:sp>
      <p:sp>
        <p:nvSpPr>
          <p:cNvPr id="6" name="TextBox 5"/>
          <p:cNvSpPr txBox="1"/>
          <p:nvPr/>
        </p:nvSpPr>
        <p:spPr>
          <a:xfrm>
            <a:off x="1188720" y="164592"/>
            <a:ext cx="10515600" cy="731520"/>
          </a:xfrm>
          <a:prstGeom prst="rect">
            <a:avLst/>
          </a:prstGeom>
          <a:noFill/>
        </p:spPr>
        <p:txBody>
          <a:bodyPr wrap="square" anchor="ctr" lIns="50800" rIns="50800" tIns="25400" bIns="25400">
            <a:spAutoFit/>
          </a:bodyPr>
          <a:lstStyle/>
          <a:p>
            <a:pPr algn="l"/>
            <a:r>
              <a:rPr sz="2600" b="1">
                <a:solidFill>
                  <a:srgbClr val="FFFFFF"/>
                </a:solidFill>
                <a:latin typeface="Segoe UI"/>
              </a:rPr>
              <a:t>Live Demo Aplikasi</a:t>
            </a:r>
          </a:p>
        </p:txBody>
      </p:sp>
      <p:sp>
        <p:nvSpPr>
          <p:cNvPr id="7" name="Rounded Rectangle 6"/>
          <p:cNvSpPr/>
          <p:nvPr/>
        </p:nvSpPr>
        <p:spPr>
          <a:xfrm>
            <a:off x="548640" y="1280160"/>
            <a:ext cx="11064240" cy="109728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25880"/>
            <a:ext cx="11064240" cy="1005840"/>
          </a:xfrm>
          <a:prstGeom prst="rect">
            <a:avLst/>
          </a:prstGeom>
          <a:noFill/>
        </p:spPr>
        <p:txBody>
          <a:bodyPr wrap="square" anchor="ctr" lIns="50800" rIns="50800" tIns="25400" bIns="25400">
            <a:spAutoFit/>
          </a:bodyPr>
          <a:lstStyle/>
          <a:p>
            <a:pPr algn="ctr"/>
            <a:r>
              <a:rPr sz="2400" b="1">
                <a:solidFill>
                  <a:srgbClr val="FFFFFF"/>
                </a:solidFill>
                <a:latin typeface="Segoe UI"/>
              </a:rPr>
              <a:t>🎬  SAATNYA DEMO LANGSUNG!</a:t>
            </a:r>
          </a:p>
          <a:p>
            <a:pPr algn="ctr"/>
            <a:r>
              <a:rPr sz="1400" b="0">
                <a:solidFill>
                  <a:srgbClr val="FFFFFF"/>
                </a:solidFill>
                <a:latin typeface="Segoe UI"/>
              </a:rPr>
              <a:t>Buka terminal → ketik:  python -m streamlit run app.py</a:t>
            </a:r>
          </a:p>
        </p:txBody>
      </p:sp>
      <p:sp>
        <p:nvSpPr>
          <p:cNvPr id="9" name="TextBox 8"/>
          <p:cNvSpPr txBox="1"/>
          <p:nvPr/>
        </p:nvSpPr>
        <p:spPr>
          <a:xfrm>
            <a:off x="548640" y="2606040"/>
            <a:ext cx="10972800" cy="365760"/>
          </a:xfrm>
          <a:prstGeom prst="rect">
            <a:avLst/>
          </a:prstGeom>
          <a:noFill/>
        </p:spPr>
        <p:txBody>
          <a:bodyPr wrap="square" anchor="t" lIns="50800" rIns="50800" tIns="25400" bIns="25400">
            <a:spAutoFit/>
          </a:bodyPr>
          <a:lstStyle/>
          <a:p>
            <a:pPr algn="l"/>
            <a:r>
              <a:rPr sz="1500" b="1">
                <a:solidFill>
                  <a:srgbClr val="014A2F"/>
                </a:solidFill>
                <a:latin typeface="Segoe UI"/>
              </a:rPr>
              <a:t>Urutan demo (3 kasus berbeda):</a:t>
            </a:r>
          </a:p>
        </p:txBody>
      </p:sp>
      <p:sp>
        <p:nvSpPr>
          <p:cNvPr id="10" name="Rounded Rectangle 9"/>
          <p:cNvSpPr/>
          <p:nvPr/>
        </p:nvSpPr>
        <p:spPr>
          <a:xfrm>
            <a:off x="548640" y="3063240"/>
            <a:ext cx="11064240" cy="86868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3063240"/>
            <a:ext cx="146304" cy="86868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063240"/>
            <a:ext cx="3108960" cy="868680"/>
          </a:xfrm>
          <a:prstGeom prst="rect">
            <a:avLst/>
          </a:prstGeom>
          <a:noFill/>
        </p:spPr>
        <p:txBody>
          <a:bodyPr wrap="square" anchor="ctr" lIns="50800" rIns="50800" tIns="25400" bIns="25400">
            <a:spAutoFit/>
          </a:bodyPr>
          <a:lstStyle/>
          <a:p>
            <a:pPr algn="l"/>
            <a:r>
              <a:rPr sz="1500" b="1">
                <a:solidFill>
                  <a:srgbClr val="06A357"/>
                </a:solidFill>
                <a:latin typeface="Segoe UI"/>
              </a:rPr>
              <a:t>1️⃣ Anak NORMAL</a:t>
            </a:r>
          </a:p>
        </p:txBody>
      </p:sp>
      <p:sp>
        <p:nvSpPr>
          <p:cNvPr id="13" name="TextBox 12"/>
          <p:cNvSpPr txBox="1"/>
          <p:nvPr/>
        </p:nvSpPr>
        <p:spPr>
          <a:xfrm>
            <a:off x="3931920" y="3063240"/>
            <a:ext cx="3931920" cy="868680"/>
          </a:xfrm>
          <a:prstGeom prst="rect">
            <a:avLst/>
          </a:prstGeom>
          <a:noFill/>
        </p:spPr>
        <p:txBody>
          <a:bodyPr wrap="square" anchor="ctr" lIns="50800" rIns="50800" tIns="25400" bIns="25400">
            <a:spAutoFit/>
          </a:bodyPr>
          <a:lstStyle/>
          <a:p>
            <a:pPr algn="l"/>
            <a:r>
              <a:rPr sz="1200" b="0">
                <a:solidFill>
                  <a:srgbClr val="15241C"/>
                </a:solidFill>
                <a:latin typeface="Segoe UI"/>
              </a:rPr>
              <a:t>Umur 24 bln · Laki-laki · 87 cm · 12 kg</a:t>
            </a:r>
          </a:p>
        </p:txBody>
      </p:sp>
      <p:sp>
        <p:nvSpPr>
          <p:cNvPr id="14" name="TextBox 13"/>
          <p:cNvSpPr txBox="1"/>
          <p:nvPr/>
        </p:nvSpPr>
        <p:spPr>
          <a:xfrm>
            <a:off x="7772400" y="3063240"/>
            <a:ext cx="3749039" cy="868680"/>
          </a:xfrm>
          <a:prstGeom prst="rect">
            <a:avLst/>
          </a:prstGeom>
          <a:noFill/>
        </p:spPr>
        <p:txBody>
          <a:bodyPr wrap="square" anchor="ctr" lIns="50800" rIns="50800" tIns="25400" bIns="25400">
            <a:spAutoFit/>
          </a:bodyPr>
          <a:lstStyle/>
          <a:p>
            <a:pPr algn="l"/>
            <a:r>
              <a:rPr sz="1200" b="1">
                <a:solidFill>
                  <a:srgbClr val="014A2F"/>
                </a:solidFill>
                <a:latin typeface="Segoe UI"/>
              </a:rPr>
              <a:t>→ Hasil: NORMAL (kartu hijau), keyakinan ~80%</a:t>
            </a:r>
          </a:p>
        </p:txBody>
      </p:sp>
      <p:sp>
        <p:nvSpPr>
          <p:cNvPr id="15" name="Rounded Rectangle 14"/>
          <p:cNvSpPr/>
          <p:nvPr/>
        </p:nvSpPr>
        <p:spPr>
          <a:xfrm>
            <a:off x="548640" y="3995928"/>
            <a:ext cx="11064240" cy="86868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995928"/>
            <a:ext cx="146304" cy="868680"/>
          </a:xfrm>
          <a:prstGeom prst="roundRect">
            <a:avLst/>
          </a:prstGeom>
          <a:solidFill>
            <a:srgbClr val="FF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995928"/>
            <a:ext cx="3108960" cy="868680"/>
          </a:xfrm>
          <a:prstGeom prst="rect">
            <a:avLst/>
          </a:prstGeom>
          <a:noFill/>
        </p:spPr>
        <p:txBody>
          <a:bodyPr wrap="square" anchor="ctr" lIns="50800" rIns="50800" tIns="25400" bIns="25400">
            <a:spAutoFit/>
          </a:bodyPr>
          <a:lstStyle/>
          <a:p>
            <a:pPr algn="l"/>
            <a:r>
              <a:rPr sz="1500" b="1">
                <a:solidFill>
                  <a:srgbClr val="FF8500"/>
                </a:solidFill>
                <a:latin typeface="Segoe UI"/>
              </a:rPr>
              <a:t>2️⃣ Anak STUNTED</a:t>
            </a:r>
          </a:p>
        </p:txBody>
      </p:sp>
      <p:sp>
        <p:nvSpPr>
          <p:cNvPr id="18" name="TextBox 17"/>
          <p:cNvSpPr txBox="1"/>
          <p:nvPr/>
        </p:nvSpPr>
        <p:spPr>
          <a:xfrm>
            <a:off x="3931920" y="3995928"/>
            <a:ext cx="3931920" cy="868680"/>
          </a:xfrm>
          <a:prstGeom prst="rect">
            <a:avLst/>
          </a:prstGeom>
          <a:noFill/>
        </p:spPr>
        <p:txBody>
          <a:bodyPr wrap="square" anchor="ctr" lIns="50800" rIns="50800" tIns="25400" bIns="25400">
            <a:spAutoFit/>
          </a:bodyPr>
          <a:lstStyle/>
          <a:p>
            <a:pPr algn="l"/>
            <a:r>
              <a:rPr sz="1200" b="0">
                <a:solidFill>
                  <a:srgbClr val="15241C"/>
                </a:solidFill>
                <a:latin typeface="Segoe UI"/>
              </a:rPr>
              <a:t>Umur 24 bln · Laki-laki · 80 cm · 9 kg</a:t>
            </a:r>
          </a:p>
        </p:txBody>
      </p:sp>
      <p:sp>
        <p:nvSpPr>
          <p:cNvPr id="19" name="TextBox 18"/>
          <p:cNvSpPr txBox="1"/>
          <p:nvPr/>
        </p:nvSpPr>
        <p:spPr>
          <a:xfrm>
            <a:off x="7772400" y="3995928"/>
            <a:ext cx="3749039" cy="868680"/>
          </a:xfrm>
          <a:prstGeom prst="rect">
            <a:avLst/>
          </a:prstGeom>
          <a:noFill/>
        </p:spPr>
        <p:txBody>
          <a:bodyPr wrap="square" anchor="ctr" lIns="50800" rIns="50800" tIns="25400" bIns="25400">
            <a:spAutoFit/>
          </a:bodyPr>
          <a:lstStyle/>
          <a:p>
            <a:pPr algn="l"/>
            <a:r>
              <a:rPr sz="1200" b="1">
                <a:solidFill>
                  <a:srgbClr val="014A2F"/>
                </a:solidFill>
                <a:latin typeface="Segoe UI"/>
              </a:rPr>
              <a:t>→ Hasil: STUNTED (kartu oranye), z-score ≈ -2,5</a:t>
            </a:r>
          </a:p>
        </p:txBody>
      </p:sp>
      <p:sp>
        <p:nvSpPr>
          <p:cNvPr id="20" name="Rounded Rectangle 19"/>
          <p:cNvSpPr/>
          <p:nvPr/>
        </p:nvSpPr>
        <p:spPr>
          <a:xfrm>
            <a:off x="548640" y="4928616"/>
            <a:ext cx="11064240" cy="86868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8640" y="4928616"/>
            <a:ext cx="146304" cy="868680"/>
          </a:xfrm>
          <a:prstGeom prst="roundRect">
            <a:avLst/>
          </a:prstGeom>
          <a:solidFill>
            <a:srgbClr val="DC3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28616"/>
            <a:ext cx="3108960" cy="868680"/>
          </a:xfrm>
          <a:prstGeom prst="rect">
            <a:avLst/>
          </a:prstGeom>
          <a:noFill/>
        </p:spPr>
        <p:txBody>
          <a:bodyPr wrap="square" anchor="ctr" lIns="50800" rIns="50800" tIns="25400" bIns="25400">
            <a:spAutoFit/>
          </a:bodyPr>
          <a:lstStyle/>
          <a:p>
            <a:pPr algn="l"/>
            <a:r>
              <a:rPr sz="1500" b="1">
                <a:solidFill>
                  <a:srgbClr val="DC3545"/>
                </a:solidFill>
                <a:latin typeface="Segoe UI"/>
              </a:rPr>
              <a:t>3️⃣ STUNTING BERAT</a:t>
            </a:r>
          </a:p>
        </p:txBody>
      </p:sp>
      <p:sp>
        <p:nvSpPr>
          <p:cNvPr id="23" name="TextBox 22"/>
          <p:cNvSpPr txBox="1"/>
          <p:nvPr/>
        </p:nvSpPr>
        <p:spPr>
          <a:xfrm>
            <a:off x="3931920" y="4928616"/>
            <a:ext cx="3931920" cy="868680"/>
          </a:xfrm>
          <a:prstGeom prst="rect">
            <a:avLst/>
          </a:prstGeom>
          <a:noFill/>
        </p:spPr>
        <p:txBody>
          <a:bodyPr wrap="square" anchor="ctr" lIns="50800" rIns="50800" tIns="25400" bIns="25400">
            <a:spAutoFit/>
          </a:bodyPr>
          <a:lstStyle/>
          <a:p>
            <a:pPr algn="l"/>
            <a:r>
              <a:rPr sz="1200" b="0">
                <a:solidFill>
                  <a:srgbClr val="15241C"/>
                </a:solidFill>
                <a:latin typeface="Segoe UI"/>
              </a:rPr>
              <a:t>Umur 36 bln · Laki-laki · 83 cm · gizi ibu Buruk</a:t>
            </a:r>
          </a:p>
        </p:txBody>
      </p:sp>
      <p:sp>
        <p:nvSpPr>
          <p:cNvPr id="24" name="TextBox 23"/>
          <p:cNvSpPr txBox="1"/>
          <p:nvPr/>
        </p:nvSpPr>
        <p:spPr>
          <a:xfrm>
            <a:off x="7772400" y="4928616"/>
            <a:ext cx="3749039" cy="868680"/>
          </a:xfrm>
          <a:prstGeom prst="rect">
            <a:avLst/>
          </a:prstGeom>
          <a:noFill/>
        </p:spPr>
        <p:txBody>
          <a:bodyPr wrap="square" anchor="ctr" lIns="50800" rIns="50800" tIns="25400" bIns="25400">
            <a:spAutoFit/>
          </a:bodyPr>
          <a:lstStyle/>
          <a:p>
            <a:pPr algn="l"/>
            <a:r>
              <a:rPr sz="1200" b="1">
                <a:solidFill>
                  <a:srgbClr val="014A2F"/>
                </a:solidFill>
                <a:latin typeface="Segoe UI"/>
              </a:rPr>
              <a:t>→ Hasil: SEVERELY STUNTED (kartu merah)</a:t>
            </a:r>
          </a:p>
        </p:txBody>
      </p:sp>
      <p:sp>
        <p:nvSpPr>
          <p:cNvPr id="25" name="TextBox 24"/>
          <p:cNvSpPr txBox="1"/>
          <p:nvPr/>
        </p:nvSpPr>
        <p:spPr>
          <a:xfrm>
            <a:off x="548640" y="5943600"/>
            <a:ext cx="10972800" cy="457200"/>
          </a:xfrm>
          <a:prstGeom prst="rect">
            <a:avLst/>
          </a:prstGeom>
          <a:noFill/>
        </p:spPr>
        <p:txBody>
          <a:bodyPr wrap="square" anchor="t" lIns="50800" rIns="50800" tIns="25400" bIns="25400">
            <a:spAutoFit/>
          </a:bodyPr>
          <a:lstStyle/>
          <a:p>
            <a:pPr algn="l"/>
            <a:r>
              <a:rPr sz="1250" b="0">
                <a:solidFill>
                  <a:srgbClr val="5A6B60"/>
                </a:solidFill>
                <a:latin typeface="Segoe UI"/>
              </a:rPr>
              <a:t>Lalu tunjukkan tab 'Tentang Project', 'Cara Kerja AI', &amp; 'Etika &amp; Privasi'.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51560"/>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46888"/>
            <a:ext cx="566928" cy="566928"/>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50800" rIns="50800" tIns="25400" bIns="25400">
            <a:spAutoFit/>
          </a:bodyPr>
          <a:lstStyle/>
          <a:p>
            <a:pPr algn="ctr"/>
            <a:r>
              <a:rPr sz="2000" b="1">
                <a:solidFill>
                  <a:srgbClr val="FFFFFF"/>
                </a:solidFill>
                <a:latin typeface="Segoe UI"/>
              </a:rPr>
              <a:t>05b</a:t>
            </a:r>
          </a:p>
        </p:txBody>
      </p:sp>
      <p:sp>
        <p:nvSpPr>
          <p:cNvPr id="6" name="TextBox 5"/>
          <p:cNvSpPr txBox="1"/>
          <p:nvPr/>
        </p:nvSpPr>
        <p:spPr>
          <a:xfrm>
            <a:off x="1188720" y="164592"/>
            <a:ext cx="10515600" cy="731520"/>
          </a:xfrm>
          <a:prstGeom prst="rect">
            <a:avLst/>
          </a:prstGeom>
          <a:noFill/>
        </p:spPr>
        <p:txBody>
          <a:bodyPr wrap="square" anchor="ctr" lIns="50800" rIns="50800" tIns="25400" bIns="25400">
            <a:spAutoFit/>
          </a:bodyPr>
          <a:lstStyle/>
          <a:p>
            <a:pPr algn="l"/>
            <a:r>
              <a:rPr sz="2600" b="1">
                <a:solidFill>
                  <a:srgbClr val="FFFFFF"/>
                </a:solidFill>
                <a:latin typeface="Segoe UI"/>
              </a:rPr>
              <a:t>Hasil Model — Performa</a:t>
            </a:r>
          </a:p>
        </p:txBody>
      </p:sp>
      <p:sp>
        <p:nvSpPr>
          <p:cNvPr id="7" name="Rounded Rectangle 6"/>
          <p:cNvSpPr/>
          <p:nvPr/>
        </p:nvSpPr>
        <p:spPr>
          <a:xfrm>
            <a:off x="548640" y="1280160"/>
            <a:ext cx="2697480" cy="123444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280160"/>
            <a:ext cx="2697480" cy="109728"/>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371600"/>
            <a:ext cx="2697480" cy="1097280"/>
          </a:xfrm>
          <a:prstGeom prst="rect">
            <a:avLst/>
          </a:prstGeom>
          <a:noFill/>
        </p:spPr>
        <p:txBody>
          <a:bodyPr wrap="square" anchor="ctr" lIns="50800" rIns="50800" tIns="25400" bIns="25400">
            <a:spAutoFit/>
          </a:bodyPr>
          <a:lstStyle/>
          <a:p>
            <a:pPr algn="ctr"/>
            <a:r>
              <a:rPr sz="3000" b="1">
                <a:solidFill>
                  <a:srgbClr val="06A357"/>
                </a:solidFill>
                <a:latin typeface="Segoe UI"/>
              </a:rPr>
              <a:t>88,40%</a:t>
            </a:r>
          </a:p>
          <a:p>
            <a:pPr algn="ctr"/>
            <a:r>
              <a:rPr sz="1300" b="0">
                <a:solidFill>
                  <a:srgbClr val="5A6B60"/>
                </a:solidFill>
                <a:latin typeface="Segoe UI"/>
              </a:rPr>
              <a:t>Accuracy</a:t>
            </a:r>
          </a:p>
        </p:txBody>
      </p:sp>
      <p:sp>
        <p:nvSpPr>
          <p:cNvPr id="10" name="Rounded Rectangle 9"/>
          <p:cNvSpPr/>
          <p:nvPr/>
        </p:nvSpPr>
        <p:spPr>
          <a:xfrm>
            <a:off x="3355848" y="1280160"/>
            <a:ext cx="2697480" cy="123444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55848" y="1280160"/>
            <a:ext cx="2697480" cy="109728"/>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55848" y="1371600"/>
            <a:ext cx="2697480" cy="1097280"/>
          </a:xfrm>
          <a:prstGeom prst="rect">
            <a:avLst/>
          </a:prstGeom>
          <a:noFill/>
        </p:spPr>
        <p:txBody>
          <a:bodyPr wrap="square" anchor="ctr" lIns="50800" rIns="50800" tIns="25400" bIns="25400">
            <a:spAutoFit/>
          </a:bodyPr>
          <a:lstStyle/>
          <a:p>
            <a:pPr algn="ctr"/>
            <a:r>
              <a:rPr sz="3000" b="1">
                <a:solidFill>
                  <a:srgbClr val="06A357"/>
                </a:solidFill>
                <a:latin typeface="Segoe UI"/>
              </a:rPr>
              <a:t>83,56%</a:t>
            </a:r>
          </a:p>
          <a:p>
            <a:pPr algn="ctr"/>
            <a:r>
              <a:rPr sz="1300" b="0">
                <a:solidFill>
                  <a:srgbClr val="5A6B60"/>
                </a:solidFill>
                <a:latin typeface="Segoe UI"/>
              </a:rPr>
              <a:t>F1-Macro</a:t>
            </a:r>
          </a:p>
        </p:txBody>
      </p:sp>
      <p:sp>
        <p:nvSpPr>
          <p:cNvPr id="13" name="Rounded Rectangle 12"/>
          <p:cNvSpPr/>
          <p:nvPr/>
        </p:nvSpPr>
        <p:spPr>
          <a:xfrm>
            <a:off x="6163056" y="1280160"/>
            <a:ext cx="2697480" cy="123444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63056" y="1280160"/>
            <a:ext cx="2697480" cy="109728"/>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1371600"/>
            <a:ext cx="2697480" cy="1097280"/>
          </a:xfrm>
          <a:prstGeom prst="rect">
            <a:avLst/>
          </a:prstGeom>
          <a:noFill/>
        </p:spPr>
        <p:txBody>
          <a:bodyPr wrap="square" anchor="ctr" lIns="50800" rIns="50800" tIns="25400" bIns="25400">
            <a:spAutoFit/>
          </a:bodyPr>
          <a:lstStyle/>
          <a:p>
            <a:pPr algn="ctr"/>
            <a:r>
              <a:rPr sz="3000" b="1">
                <a:solidFill>
                  <a:srgbClr val="06A357"/>
                </a:solidFill>
                <a:latin typeface="Segoe UI"/>
              </a:rPr>
              <a:t>81,59%</a:t>
            </a:r>
          </a:p>
          <a:p>
            <a:pPr algn="ctr"/>
            <a:r>
              <a:rPr sz="1300" b="0">
                <a:solidFill>
                  <a:srgbClr val="5A6B60"/>
                </a:solidFill>
                <a:latin typeface="Segoe UI"/>
              </a:rPr>
              <a:t>Precision</a:t>
            </a:r>
          </a:p>
        </p:txBody>
      </p:sp>
      <p:sp>
        <p:nvSpPr>
          <p:cNvPr id="16" name="Rounded Rectangle 15"/>
          <p:cNvSpPr/>
          <p:nvPr/>
        </p:nvSpPr>
        <p:spPr>
          <a:xfrm>
            <a:off x="8970264" y="1280160"/>
            <a:ext cx="2697480" cy="1234440"/>
          </a:xfrm>
          <a:prstGeom prst="roundRect">
            <a:avLst/>
          </a:prstGeom>
          <a:solidFill>
            <a:srgbClr val="FFFFFF"/>
          </a:solidFill>
          <a:ln w="1651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970264" y="1280160"/>
            <a:ext cx="2697480" cy="109728"/>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70264" y="1371600"/>
            <a:ext cx="2697480" cy="1097280"/>
          </a:xfrm>
          <a:prstGeom prst="rect">
            <a:avLst/>
          </a:prstGeom>
          <a:noFill/>
        </p:spPr>
        <p:txBody>
          <a:bodyPr wrap="square" anchor="ctr" lIns="50800" rIns="50800" tIns="25400" bIns="25400">
            <a:spAutoFit/>
          </a:bodyPr>
          <a:lstStyle/>
          <a:p>
            <a:pPr algn="ctr"/>
            <a:r>
              <a:rPr sz="3000" b="1">
                <a:solidFill>
                  <a:srgbClr val="06A357"/>
                </a:solidFill>
                <a:latin typeface="Segoe UI"/>
              </a:rPr>
              <a:t>85,93%</a:t>
            </a:r>
          </a:p>
          <a:p>
            <a:pPr algn="ctr"/>
            <a:r>
              <a:rPr sz="1300" b="0">
                <a:solidFill>
                  <a:srgbClr val="5A6B60"/>
                </a:solidFill>
                <a:latin typeface="Segoe UI"/>
              </a:rPr>
              <a:t>Recall</a:t>
            </a:r>
          </a:p>
        </p:txBody>
      </p:sp>
      <p:sp>
        <p:nvSpPr>
          <p:cNvPr id="19" name="Rounded Rectangle 18"/>
          <p:cNvSpPr/>
          <p:nvPr/>
        </p:nvSpPr>
        <p:spPr>
          <a:xfrm>
            <a:off x="548640" y="2697480"/>
            <a:ext cx="5394960" cy="777240"/>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697480"/>
            <a:ext cx="5120640" cy="777240"/>
          </a:xfrm>
          <a:prstGeom prst="rect">
            <a:avLst/>
          </a:prstGeom>
          <a:noFill/>
        </p:spPr>
        <p:txBody>
          <a:bodyPr wrap="square" anchor="ctr" lIns="50800" rIns="50800" tIns="25400" bIns="25400">
            <a:spAutoFit/>
          </a:bodyPr>
          <a:lstStyle/>
          <a:p>
            <a:pPr algn="l"/>
            <a:r>
              <a:rPr sz="1400" b="1">
                <a:solidFill>
                  <a:srgbClr val="014A2F"/>
                </a:solidFill>
                <a:latin typeface="Segoe UI"/>
              </a:rPr>
              <a:t>🔄 Cross-Validation 5-Fold: 84,11% ± 0,23%</a:t>
            </a:r>
          </a:p>
          <a:p>
            <a:pPr algn="l"/>
            <a:r>
              <a:rPr sz="1100" b="0">
                <a:solidFill>
                  <a:srgbClr val="5A6B60"/>
                </a:solidFill>
                <a:latin typeface="Segoe UI"/>
              </a:rPr>
              <a:t>Standar deviasi kecil → model stabil, tidak overfitting</a:t>
            </a:r>
          </a:p>
        </p:txBody>
      </p:sp>
      <p:sp>
        <p:nvSpPr>
          <p:cNvPr id="21" name="Rounded Rectangle 20"/>
          <p:cNvSpPr/>
          <p:nvPr/>
        </p:nvSpPr>
        <p:spPr>
          <a:xfrm>
            <a:off x="6217920" y="2697480"/>
            <a:ext cx="5394960" cy="777240"/>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697480"/>
            <a:ext cx="5120640" cy="777240"/>
          </a:xfrm>
          <a:prstGeom prst="rect">
            <a:avLst/>
          </a:prstGeom>
          <a:noFill/>
        </p:spPr>
        <p:txBody>
          <a:bodyPr wrap="square" anchor="ctr" lIns="50800" rIns="50800" tIns="25400" bIns="25400">
            <a:spAutoFit/>
          </a:bodyPr>
          <a:lstStyle/>
          <a:p>
            <a:pPr algn="l"/>
            <a:r>
              <a:rPr sz="1400" b="1">
                <a:solidFill>
                  <a:srgbClr val="014A2F"/>
                </a:solidFill>
                <a:latin typeface="Segoe UI"/>
              </a:rPr>
              <a:t>📦 Dataset: 25.000 sampel · 120 trees · 9 MB</a:t>
            </a:r>
          </a:p>
          <a:p>
            <a:pPr algn="l"/>
            <a:r>
              <a:rPr sz="1100" b="0">
                <a:solidFill>
                  <a:srgbClr val="5A6B60"/>
                </a:solidFill>
                <a:latin typeface="Segoe UI"/>
              </a:rPr>
              <a:t>Random Forest · 7 fitur · max_depth 14</a:t>
            </a:r>
          </a:p>
        </p:txBody>
      </p:sp>
      <p:sp>
        <p:nvSpPr>
          <p:cNvPr id="23" name="TextBox 22"/>
          <p:cNvSpPr txBox="1"/>
          <p:nvPr/>
        </p:nvSpPr>
        <p:spPr>
          <a:xfrm>
            <a:off x="548640" y="3657600"/>
            <a:ext cx="5486400" cy="365760"/>
          </a:xfrm>
          <a:prstGeom prst="rect">
            <a:avLst/>
          </a:prstGeom>
          <a:noFill/>
        </p:spPr>
        <p:txBody>
          <a:bodyPr wrap="square" anchor="t" lIns="50800" rIns="50800" tIns="25400" bIns="25400">
            <a:spAutoFit/>
          </a:bodyPr>
          <a:lstStyle/>
          <a:p>
            <a:pPr algn="l"/>
            <a:r>
              <a:rPr sz="1400" b="1">
                <a:solidFill>
                  <a:srgbClr val="014A2F"/>
                </a:solidFill>
                <a:latin typeface="Segoe UI"/>
              </a:rPr>
              <a:t>📊  Performa per Kelas:</a:t>
            </a:r>
          </a:p>
        </p:txBody>
      </p:sp>
      <p:sp>
        <p:nvSpPr>
          <p:cNvPr id="24" name="Rounded Rectangle 23"/>
          <p:cNvSpPr/>
          <p:nvPr/>
        </p:nvSpPr>
        <p:spPr>
          <a:xfrm>
            <a:off x="548640" y="4069080"/>
            <a:ext cx="3840480" cy="438912"/>
          </a:xfrm>
          <a:prstGeom prst="roundRect">
            <a:avLst/>
          </a:prstGeom>
          <a:solidFill>
            <a:srgbClr val="014A2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069080"/>
            <a:ext cx="3840480" cy="438912"/>
          </a:xfrm>
          <a:prstGeom prst="rect">
            <a:avLst/>
          </a:prstGeom>
          <a:noFill/>
        </p:spPr>
        <p:txBody>
          <a:bodyPr wrap="square" anchor="ctr" lIns="50800" rIns="50800" tIns="25400" bIns="25400">
            <a:spAutoFit/>
          </a:bodyPr>
          <a:lstStyle/>
          <a:p>
            <a:pPr algn="l"/>
            <a:r>
              <a:rPr sz="1200" b="1">
                <a:solidFill>
                  <a:srgbClr val="FFFFFF"/>
                </a:solidFill>
                <a:latin typeface="Segoe UI"/>
              </a:rPr>
              <a:t>Kelas</a:t>
            </a:r>
          </a:p>
        </p:txBody>
      </p:sp>
      <p:sp>
        <p:nvSpPr>
          <p:cNvPr id="26" name="Rounded Rectangle 25"/>
          <p:cNvSpPr/>
          <p:nvPr/>
        </p:nvSpPr>
        <p:spPr>
          <a:xfrm>
            <a:off x="4389120" y="4069080"/>
            <a:ext cx="2468880" cy="438912"/>
          </a:xfrm>
          <a:prstGeom prst="roundRect">
            <a:avLst/>
          </a:prstGeom>
          <a:solidFill>
            <a:srgbClr val="014A2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9120" y="4069080"/>
            <a:ext cx="2468880" cy="438912"/>
          </a:xfrm>
          <a:prstGeom prst="rect">
            <a:avLst/>
          </a:prstGeom>
          <a:noFill/>
        </p:spPr>
        <p:txBody>
          <a:bodyPr wrap="square" anchor="ctr" lIns="50800" rIns="50800" tIns="25400" bIns="25400">
            <a:spAutoFit/>
          </a:bodyPr>
          <a:lstStyle/>
          <a:p>
            <a:pPr algn="ctr"/>
            <a:r>
              <a:rPr sz="1200" b="1">
                <a:solidFill>
                  <a:srgbClr val="FFFFFF"/>
                </a:solidFill>
                <a:latin typeface="Segoe UI"/>
              </a:rPr>
              <a:t>Precision</a:t>
            </a:r>
          </a:p>
        </p:txBody>
      </p:sp>
      <p:sp>
        <p:nvSpPr>
          <p:cNvPr id="28" name="Rounded Rectangle 27"/>
          <p:cNvSpPr/>
          <p:nvPr/>
        </p:nvSpPr>
        <p:spPr>
          <a:xfrm>
            <a:off x="6858000" y="4069080"/>
            <a:ext cx="2468880" cy="438912"/>
          </a:xfrm>
          <a:prstGeom prst="roundRect">
            <a:avLst/>
          </a:prstGeom>
          <a:solidFill>
            <a:srgbClr val="014A2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0" y="4069080"/>
            <a:ext cx="2468880" cy="438912"/>
          </a:xfrm>
          <a:prstGeom prst="rect">
            <a:avLst/>
          </a:prstGeom>
          <a:noFill/>
        </p:spPr>
        <p:txBody>
          <a:bodyPr wrap="square" anchor="ctr" lIns="50800" rIns="50800" tIns="25400" bIns="25400">
            <a:spAutoFit/>
          </a:bodyPr>
          <a:lstStyle/>
          <a:p>
            <a:pPr algn="ctr"/>
            <a:r>
              <a:rPr sz="1200" b="1">
                <a:solidFill>
                  <a:srgbClr val="FFFFFF"/>
                </a:solidFill>
                <a:latin typeface="Segoe UI"/>
              </a:rPr>
              <a:t>Recall</a:t>
            </a:r>
          </a:p>
        </p:txBody>
      </p:sp>
      <p:sp>
        <p:nvSpPr>
          <p:cNvPr id="30" name="Rounded Rectangle 29"/>
          <p:cNvSpPr/>
          <p:nvPr/>
        </p:nvSpPr>
        <p:spPr>
          <a:xfrm>
            <a:off x="9326880" y="4069080"/>
            <a:ext cx="2286000" cy="438912"/>
          </a:xfrm>
          <a:prstGeom prst="roundRect">
            <a:avLst/>
          </a:prstGeom>
          <a:solidFill>
            <a:srgbClr val="014A2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0" y="4069080"/>
            <a:ext cx="2286000" cy="438912"/>
          </a:xfrm>
          <a:prstGeom prst="rect">
            <a:avLst/>
          </a:prstGeom>
          <a:noFill/>
        </p:spPr>
        <p:txBody>
          <a:bodyPr wrap="square" anchor="ctr" lIns="50800" rIns="50800" tIns="25400" bIns="25400">
            <a:spAutoFit/>
          </a:bodyPr>
          <a:lstStyle/>
          <a:p>
            <a:pPr algn="ctr"/>
            <a:r>
              <a:rPr sz="1200" b="1">
                <a:solidFill>
                  <a:srgbClr val="FFFFFF"/>
                </a:solidFill>
                <a:latin typeface="Segoe UI"/>
              </a:rPr>
              <a:t>F1-Score</a:t>
            </a:r>
          </a:p>
        </p:txBody>
      </p:sp>
      <p:sp>
        <p:nvSpPr>
          <p:cNvPr id="32" name="Rounded Rectangle 31"/>
          <p:cNvSpPr/>
          <p:nvPr/>
        </p:nvSpPr>
        <p:spPr>
          <a:xfrm>
            <a:off x="548640" y="4526280"/>
            <a:ext cx="384048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4526280"/>
            <a:ext cx="3840480" cy="438912"/>
          </a:xfrm>
          <a:prstGeom prst="rect">
            <a:avLst/>
          </a:prstGeom>
          <a:noFill/>
        </p:spPr>
        <p:txBody>
          <a:bodyPr wrap="square" anchor="ctr" lIns="50800" rIns="50800" tIns="25400" bIns="25400">
            <a:spAutoFit/>
          </a:bodyPr>
          <a:lstStyle/>
          <a:p>
            <a:pPr algn="l"/>
            <a:r>
              <a:rPr sz="1200" b="1">
                <a:solidFill>
                  <a:srgbClr val="15241C"/>
                </a:solidFill>
                <a:latin typeface="Segoe UI"/>
              </a:rPr>
              <a:t>Normal</a:t>
            </a:r>
          </a:p>
        </p:txBody>
      </p:sp>
      <p:sp>
        <p:nvSpPr>
          <p:cNvPr id="34" name="Rounded Rectangle 33"/>
          <p:cNvSpPr/>
          <p:nvPr/>
        </p:nvSpPr>
        <p:spPr>
          <a:xfrm>
            <a:off x="4389120" y="4526280"/>
            <a:ext cx="246888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89120" y="4526280"/>
            <a:ext cx="2468880" cy="438912"/>
          </a:xfrm>
          <a:prstGeom prst="rect">
            <a:avLst/>
          </a:prstGeom>
          <a:noFill/>
        </p:spPr>
        <p:txBody>
          <a:bodyPr wrap="square" anchor="ctr" lIns="50800" rIns="50800" tIns="25400" bIns="25400">
            <a:spAutoFit/>
          </a:bodyPr>
          <a:lstStyle/>
          <a:p>
            <a:pPr algn="ctr"/>
            <a:r>
              <a:rPr sz="1200" b="0">
                <a:solidFill>
                  <a:srgbClr val="15241C"/>
                </a:solidFill>
                <a:latin typeface="Segoe UI"/>
              </a:rPr>
              <a:t>0,962</a:t>
            </a:r>
          </a:p>
        </p:txBody>
      </p:sp>
      <p:sp>
        <p:nvSpPr>
          <p:cNvPr id="36" name="Rounded Rectangle 35"/>
          <p:cNvSpPr/>
          <p:nvPr/>
        </p:nvSpPr>
        <p:spPr>
          <a:xfrm>
            <a:off x="6858000" y="4526280"/>
            <a:ext cx="246888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4526280"/>
            <a:ext cx="2468880" cy="438912"/>
          </a:xfrm>
          <a:prstGeom prst="rect">
            <a:avLst/>
          </a:prstGeom>
          <a:noFill/>
        </p:spPr>
        <p:txBody>
          <a:bodyPr wrap="square" anchor="ctr" lIns="50800" rIns="50800" tIns="25400" bIns="25400">
            <a:spAutoFit/>
          </a:bodyPr>
          <a:lstStyle/>
          <a:p>
            <a:pPr algn="ctr"/>
            <a:r>
              <a:rPr sz="1200" b="0">
                <a:solidFill>
                  <a:srgbClr val="15241C"/>
                </a:solidFill>
                <a:latin typeface="Segoe UI"/>
              </a:rPr>
              <a:t>0,901</a:t>
            </a:r>
          </a:p>
        </p:txBody>
      </p:sp>
      <p:sp>
        <p:nvSpPr>
          <p:cNvPr id="38" name="Rounded Rectangle 37"/>
          <p:cNvSpPr/>
          <p:nvPr/>
        </p:nvSpPr>
        <p:spPr>
          <a:xfrm>
            <a:off x="9326880" y="4526280"/>
            <a:ext cx="228600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26880" y="4526280"/>
            <a:ext cx="2286000" cy="438912"/>
          </a:xfrm>
          <a:prstGeom prst="rect">
            <a:avLst/>
          </a:prstGeom>
          <a:noFill/>
        </p:spPr>
        <p:txBody>
          <a:bodyPr wrap="square" anchor="ctr" lIns="50800" rIns="50800" tIns="25400" bIns="25400">
            <a:spAutoFit/>
          </a:bodyPr>
          <a:lstStyle/>
          <a:p>
            <a:pPr algn="ctr"/>
            <a:r>
              <a:rPr sz="1200" b="0">
                <a:solidFill>
                  <a:srgbClr val="15241C"/>
                </a:solidFill>
                <a:latin typeface="Segoe UI"/>
              </a:rPr>
              <a:t>0,931</a:t>
            </a:r>
          </a:p>
        </p:txBody>
      </p:sp>
      <p:sp>
        <p:nvSpPr>
          <p:cNvPr id="40" name="Rounded Rectangle 39"/>
          <p:cNvSpPr/>
          <p:nvPr/>
        </p:nvSpPr>
        <p:spPr>
          <a:xfrm>
            <a:off x="548640" y="4983480"/>
            <a:ext cx="3840480" cy="438912"/>
          </a:xfrm>
          <a:prstGeom prst="roundRect">
            <a:avLst/>
          </a:prstGeom>
          <a:solidFill>
            <a:srgbClr val="E3F5EA"/>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983480"/>
            <a:ext cx="3840480" cy="438912"/>
          </a:xfrm>
          <a:prstGeom prst="rect">
            <a:avLst/>
          </a:prstGeom>
          <a:noFill/>
        </p:spPr>
        <p:txBody>
          <a:bodyPr wrap="square" anchor="ctr" lIns="50800" rIns="50800" tIns="25400" bIns="25400">
            <a:spAutoFit/>
          </a:bodyPr>
          <a:lstStyle/>
          <a:p>
            <a:pPr algn="l"/>
            <a:r>
              <a:rPr sz="1200" b="1">
                <a:solidFill>
                  <a:srgbClr val="15241C"/>
                </a:solidFill>
                <a:latin typeface="Segoe UI"/>
              </a:rPr>
              <a:t>Stunted</a:t>
            </a:r>
          </a:p>
        </p:txBody>
      </p:sp>
      <p:sp>
        <p:nvSpPr>
          <p:cNvPr id="42" name="Rounded Rectangle 41"/>
          <p:cNvSpPr/>
          <p:nvPr/>
        </p:nvSpPr>
        <p:spPr>
          <a:xfrm>
            <a:off x="4389120" y="4983480"/>
            <a:ext cx="2468880" cy="438912"/>
          </a:xfrm>
          <a:prstGeom prst="roundRect">
            <a:avLst/>
          </a:prstGeom>
          <a:solidFill>
            <a:srgbClr val="E3F5EA"/>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89120" y="4983480"/>
            <a:ext cx="2468880" cy="438912"/>
          </a:xfrm>
          <a:prstGeom prst="rect">
            <a:avLst/>
          </a:prstGeom>
          <a:noFill/>
        </p:spPr>
        <p:txBody>
          <a:bodyPr wrap="square" anchor="ctr" lIns="50800" rIns="50800" tIns="25400" bIns="25400">
            <a:spAutoFit/>
          </a:bodyPr>
          <a:lstStyle/>
          <a:p>
            <a:pPr algn="ctr"/>
            <a:r>
              <a:rPr sz="1200" b="0">
                <a:solidFill>
                  <a:srgbClr val="15241C"/>
                </a:solidFill>
                <a:latin typeface="Segoe UI"/>
              </a:rPr>
              <a:t>0,627</a:t>
            </a:r>
          </a:p>
        </p:txBody>
      </p:sp>
      <p:sp>
        <p:nvSpPr>
          <p:cNvPr id="44" name="Rounded Rectangle 43"/>
          <p:cNvSpPr/>
          <p:nvPr/>
        </p:nvSpPr>
        <p:spPr>
          <a:xfrm>
            <a:off x="6858000" y="4983480"/>
            <a:ext cx="2468880" cy="438912"/>
          </a:xfrm>
          <a:prstGeom prst="roundRect">
            <a:avLst/>
          </a:prstGeom>
          <a:solidFill>
            <a:srgbClr val="E3F5EA"/>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0" y="4983480"/>
            <a:ext cx="2468880" cy="438912"/>
          </a:xfrm>
          <a:prstGeom prst="rect">
            <a:avLst/>
          </a:prstGeom>
          <a:noFill/>
        </p:spPr>
        <p:txBody>
          <a:bodyPr wrap="square" anchor="ctr" lIns="50800" rIns="50800" tIns="25400" bIns="25400">
            <a:spAutoFit/>
          </a:bodyPr>
          <a:lstStyle/>
          <a:p>
            <a:pPr algn="ctr"/>
            <a:r>
              <a:rPr sz="1200" b="0">
                <a:solidFill>
                  <a:srgbClr val="15241C"/>
                </a:solidFill>
                <a:latin typeface="Segoe UI"/>
              </a:rPr>
              <a:t>0,736</a:t>
            </a:r>
          </a:p>
        </p:txBody>
      </p:sp>
      <p:sp>
        <p:nvSpPr>
          <p:cNvPr id="46" name="Rounded Rectangle 45"/>
          <p:cNvSpPr/>
          <p:nvPr/>
        </p:nvSpPr>
        <p:spPr>
          <a:xfrm>
            <a:off x="9326880" y="4983480"/>
            <a:ext cx="2286000" cy="438912"/>
          </a:xfrm>
          <a:prstGeom prst="roundRect">
            <a:avLst/>
          </a:prstGeom>
          <a:solidFill>
            <a:srgbClr val="E3F5EA"/>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26880" y="4983480"/>
            <a:ext cx="2286000" cy="438912"/>
          </a:xfrm>
          <a:prstGeom prst="rect">
            <a:avLst/>
          </a:prstGeom>
          <a:noFill/>
        </p:spPr>
        <p:txBody>
          <a:bodyPr wrap="square" anchor="ctr" lIns="50800" rIns="50800" tIns="25400" bIns="25400">
            <a:spAutoFit/>
          </a:bodyPr>
          <a:lstStyle/>
          <a:p>
            <a:pPr algn="ctr"/>
            <a:r>
              <a:rPr sz="1200" b="0">
                <a:solidFill>
                  <a:srgbClr val="15241C"/>
                </a:solidFill>
                <a:latin typeface="Segoe UI"/>
              </a:rPr>
              <a:t>0,677</a:t>
            </a:r>
          </a:p>
        </p:txBody>
      </p:sp>
      <p:sp>
        <p:nvSpPr>
          <p:cNvPr id="48" name="Rounded Rectangle 47"/>
          <p:cNvSpPr/>
          <p:nvPr/>
        </p:nvSpPr>
        <p:spPr>
          <a:xfrm>
            <a:off x="548640" y="5440680"/>
            <a:ext cx="384048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8640" y="5440680"/>
            <a:ext cx="3840480" cy="438912"/>
          </a:xfrm>
          <a:prstGeom prst="rect">
            <a:avLst/>
          </a:prstGeom>
          <a:noFill/>
        </p:spPr>
        <p:txBody>
          <a:bodyPr wrap="square" anchor="ctr" lIns="50800" rIns="50800" tIns="25400" bIns="25400">
            <a:spAutoFit/>
          </a:bodyPr>
          <a:lstStyle/>
          <a:p>
            <a:pPr algn="l"/>
            <a:r>
              <a:rPr sz="1200" b="1">
                <a:solidFill>
                  <a:srgbClr val="15241C"/>
                </a:solidFill>
                <a:latin typeface="Segoe UI"/>
              </a:rPr>
              <a:t>Severely Stunted</a:t>
            </a:r>
          </a:p>
        </p:txBody>
      </p:sp>
      <p:sp>
        <p:nvSpPr>
          <p:cNvPr id="50" name="Rounded Rectangle 49"/>
          <p:cNvSpPr/>
          <p:nvPr/>
        </p:nvSpPr>
        <p:spPr>
          <a:xfrm>
            <a:off x="4389120" y="5440680"/>
            <a:ext cx="246888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0" y="5440680"/>
            <a:ext cx="2468880" cy="438912"/>
          </a:xfrm>
          <a:prstGeom prst="rect">
            <a:avLst/>
          </a:prstGeom>
          <a:noFill/>
        </p:spPr>
        <p:txBody>
          <a:bodyPr wrap="square" anchor="ctr" lIns="50800" rIns="50800" tIns="25400" bIns="25400">
            <a:spAutoFit/>
          </a:bodyPr>
          <a:lstStyle/>
          <a:p>
            <a:pPr algn="ctr"/>
            <a:r>
              <a:rPr sz="1200" b="0">
                <a:solidFill>
                  <a:srgbClr val="15241C"/>
                </a:solidFill>
                <a:latin typeface="Segoe UI"/>
              </a:rPr>
              <a:t>0,828</a:t>
            </a:r>
          </a:p>
        </p:txBody>
      </p:sp>
      <p:sp>
        <p:nvSpPr>
          <p:cNvPr id="52" name="Rounded Rectangle 51"/>
          <p:cNvSpPr/>
          <p:nvPr/>
        </p:nvSpPr>
        <p:spPr>
          <a:xfrm>
            <a:off x="6858000" y="5440680"/>
            <a:ext cx="246888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0" y="5440680"/>
            <a:ext cx="2468880" cy="438912"/>
          </a:xfrm>
          <a:prstGeom prst="rect">
            <a:avLst/>
          </a:prstGeom>
          <a:noFill/>
        </p:spPr>
        <p:txBody>
          <a:bodyPr wrap="square" anchor="ctr" lIns="50800" rIns="50800" tIns="25400" bIns="25400">
            <a:spAutoFit/>
          </a:bodyPr>
          <a:lstStyle/>
          <a:p>
            <a:pPr algn="ctr"/>
            <a:r>
              <a:rPr sz="1200" b="0">
                <a:solidFill>
                  <a:srgbClr val="15241C"/>
                </a:solidFill>
                <a:latin typeface="Segoe UI"/>
              </a:rPr>
              <a:t>0,866</a:t>
            </a:r>
          </a:p>
        </p:txBody>
      </p:sp>
      <p:sp>
        <p:nvSpPr>
          <p:cNvPr id="54" name="Rounded Rectangle 53"/>
          <p:cNvSpPr/>
          <p:nvPr/>
        </p:nvSpPr>
        <p:spPr>
          <a:xfrm>
            <a:off x="9326880" y="5440680"/>
            <a:ext cx="228600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326880" y="5440680"/>
            <a:ext cx="2286000" cy="438912"/>
          </a:xfrm>
          <a:prstGeom prst="rect">
            <a:avLst/>
          </a:prstGeom>
          <a:noFill/>
        </p:spPr>
        <p:txBody>
          <a:bodyPr wrap="square" anchor="ctr" lIns="50800" rIns="50800" tIns="25400" bIns="25400">
            <a:spAutoFit/>
          </a:bodyPr>
          <a:lstStyle/>
          <a:p>
            <a:pPr algn="ctr"/>
            <a:r>
              <a:rPr sz="1200" b="0">
                <a:solidFill>
                  <a:srgbClr val="15241C"/>
                </a:solidFill>
                <a:latin typeface="Segoe UI"/>
              </a:rPr>
              <a:t>0,847</a:t>
            </a:r>
          </a:p>
        </p:txBody>
      </p:sp>
      <p:sp>
        <p:nvSpPr>
          <p:cNvPr id="56" name="Rounded Rectangle 55"/>
          <p:cNvSpPr/>
          <p:nvPr/>
        </p:nvSpPr>
        <p:spPr>
          <a:xfrm>
            <a:off x="548640" y="5897880"/>
            <a:ext cx="3840480" cy="438912"/>
          </a:xfrm>
          <a:prstGeom prst="roundRect">
            <a:avLst/>
          </a:prstGeom>
          <a:solidFill>
            <a:srgbClr val="E3F5EA"/>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5897880"/>
            <a:ext cx="3840480" cy="438912"/>
          </a:xfrm>
          <a:prstGeom prst="rect">
            <a:avLst/>
          </a:prstGeom>
          <a:noFill/>
        </p:spPr>
        <p:txBody>
          <a:bodyPr wrap="square" anchor="ctr" lIns="50800" rIns="50800" tIns="25400" bIns="25400">
            <a:spAutoFit/>
          </a:bodyPr>
          <a:lstStyle/>
          <a:p>
            <a:pPr algn="l"/>
            <a:r>
              <a:rPr sz="1200" b="1">
                <a:solidFill>
                  <a:srgbClr val="15241C"/>
                </a:solidFill>
                <a:latin typeface="Segoe UI"/>
              </a:rPr>
              <a:t>Tinggi</a:t>
            </a:r>
          </a:p>
        </p:txBody>
      </p:sp>
      <p:sp>
        <p:nvSpPr>
          <p:cNvPr id="58" name="Rounded Rectangle 57"/>
          <p:cNvSpPr/>
          <p:nvPr/>
        </p:nvSpPr>
        <p:spPr>
          <a:xfrm>
            <a:off x="4389120" y="5897880"/>
            <a:ext cx="2468880" cy="438912"/>
          </a:xfrm>
          <a:prstGeom prst="roundRect">
            <a:avLst/>
          </a:prstGeom>
          <a:solidFill>
            <a:srgbClr val="E3F5EA"/>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389120" y="5897880"/>
            <a:ext cx="2468880" cy="438912"/>
          </a:xfrm>
          <a:prstGeom prst="rect">
            <a:avLst/>
          </a:prstGeom>
          <a:noFill/>
        </p:spPr>
        <p:txBody>
          <a:bodyPr wrap="square" anchor="ctr" lIns="50800" rIns="50800" tIns="25400" bIns="25400">
            <a:spAutoFit/>
          </a:bodyPr>
          <a:lstStyle/>
          <a:p>
            <a:pPr algn="ctr"/>
            <a:r>
              <a:rPr sz="1200" b="0">
                <a:solidFill>
                  <a:srgbClr val="15241C"/>
                </a:solidFill>
                <a:latin typeface="Segoe UI"/>
              </a:rPr>
              <a:t>0,846</a:t>
            </a:r>
          </a:p>
        </p:txBody>
      </p:sp>
      <p:sp>
        <p:nvSpPr>
          <p:cNvPr id="60" name="Rounded Rectangle 59"/>
          <p:cNvSpPr/>
          <p:nvPr/>
        </p:nvSpPr>
        <p:spPr>
          <a:xfrm>
            <a:off x="6858000" y="5897880"/>
            <a:ext cx="2468880" cy="438912"/>
          </a:xfrm>
          <a:prstGeom prst="roundRect">
            <a:avLst/>
          </a:prstGeom>
          <a:solidFill>
            <a:srgbClr val="E3F5EA"/>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58000" y="5897880"/>
            <a:ext cx="2468880" cy="438912"/>
          </a:xfrm>
          <a:prstGeom prst="rect">
            <a:avLst/>
          </a:prstGeom>
          <a:noFill/>
        </p:spPr>
        <p:txBody>
          <a:bodyPr wrap="square" anchor="ctr" lIns="50800" rIns="50800" tIns="25400" bIns="25400">
            <a:spAutoFit/>
          </a:bodyPr>
          <a:lstStyle/>
          <a:p>
            <a:pPr algn="ctr"/>
            <a:r>
              <a:rPr sz="1200" b="0">
                <a:solidFill>
                  <a:srgbClr val="15241C"/>
                </a:solidFill>
                <a:latin typeface="Segoe UI"/>
              </a:rPr>
              <a:t>0,934</a:t>
            </a:r>
          </a:p>
        </p:txBody>
      </p:sp>
      <p:sp>
        <p:nvSpPr>
          <p:cNvPr id="62" name="Rounded Rectangle 61"/>
          <p:cNvSpPr/>
          <p:nvPr/>
        </p:nvSpPr>
        <p:spPr>
          <a:xfrm>
            <a:off x="9326880" y="5897880"/>
            <a:ext cx="2286000" cy="438912"/>
          </a:xfrm>
          <a:prstGeom prst="roundRect">
            <a:avLst/>
          </a:prstGeom>
          <a:solidFill>
            <a:srgbClr val="E3F5EA"/>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326880" y="5897880"/>
            <a:ext cx="2286000" cy="438912"/>
          </a:xfrm>
          <a:prstGeom prst="rect">
            <a:avLst/>
          </a:prstGeom>
          <a:noFill/>
        </p:spPr>
        <p:txBody>
          <a:bodyPr wrap="square" anchor="ctr" lIns="50800" rIns="50800" tIns="25400" bIns="25400">
            <a:spAutoFit/>
          </a:bodyPr>
          <a:lstStyle/>
          <a:p>
            <a:pPr algn="ctr"/>
            <a:r>
              <a:rPr sz="1200" b="0">
                <a:solidFill>
                  <a:srgbClr val="15241C"/>
                </a:solidFill>
                <a:latin typeface="Segoe UI"/>
              </a:rPr>
              <a:t>0,888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51560"/>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46888"/>
            <a:ext cx="566928" cy="566928"/>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50800" rIns="50800" tIns="25400" bIns="25400">
            <a:spAutoFit/>
          </a:bodyPr>
          <a:lstStyle/>
          <a:p>
            <a:pPr algn="ctr"/>
            <a:r>
              <a:rPr sz="2000" b="1">
                <a:solidFill>
                  <a:srgbClr val="FFFFFF"/>
                </a:solidFill>
                <a:latin typeface="Segoe UI"/>
              </a:rPr>
              <a:t>06</a:t>
            </a:r>
          </a:p>
        </p:txBody>
      </p:sp>
      <p:sp>
        <p:nvSpPr>
          <p:cNvPr id="6" name="TextBox 5"/>
          <p:cNvSpPr txBox="1"/>
          <p:nvPr/>
        </p:nvSpPr>
        <p:spPr>
          <a:xfrm>
            <a:off x="1188720" y="164592"/>
            <a:ext cx="10515600" cy="731520"/>
          </a:xfrm>
          <a:prstGeom prst="rect">
            <a:avLst/>
          </a:prstGeom>
          <a:noFill/>
        </p:spPr>
        <p:txBody>
          <a:bodyPr wrap="square" anchor="ctr" lIns="50800" rIns="50800" tIns="25400" bIns="25400">
            <a:spAutoFit/>
          </a:bodyPr>
          <a:lstStyle/>
          <a:p>
            <a:pPr algn="l"/>
            <a:r>
              <a:rPr sz="2600" b="1">
                <a:solidFill>
                  <a:srgbClr val="FFFFFF"/>
                </a:solidFill>
                <a:latin typeface="Segoe UI"/>
              </a:rPr>
              <a:t>Etika &amp; Fairness (LO6)</a:t>
            </a:r>
          </a:p>
        </p:txBody>
      </p:sp>
      <p:sp>
        <p:nvSpPr>
          <p:cNvPr id="7" name="TextBox 6"/>
          <p:cNvSpPr txBox="1"/>
          <p:nvPr/>
        </p:nvSpPr>
        <p:spPr>
          <a:xfrm>
            <a:off x="548640" y="1188720"/>
            <a:ext cx="10972800" cy="365760"/>
          </a:xfrm>
          <a:prstGeom prst="rect">
            <a:avLst/>
          </a:prstGeom>
          <a:noFill/>
        </p:spPr>
        <p:txBody>
          <a:bodyPr wrap="square" anchor="t" lIns="50800" rIns="50800" tIns="25400" bIns="25400">
            <a:spAutoFit/>
          </a:bodyPr>
          <a:lstStyle/>
          <a:p>
            <a:pPr algn="l"/>
            <a:r>
              <a:rPr sz="1500" b="1">
                <a:solidFill>
                  <a:srgbClr val="014A2F"/>
                </a:solidFill>
                <a:latin typeface="Segoe UI"/>
              </a:rPr>
              <a:t>⚖️  Audit Fairness — apakah model adil antar gender?</a:t>
            </a:r>
          </a:p>
        </p:txBody>
      </p:sp>
      <p:sp>
        <p:nvSpPr>
          <p:cNvPr id="8" name="Rounded Rectangle 7"/>
          <p:cNvSpPr/>
          <p:nvPr/>
        </p:nvSpPr>
        <p:spPr>
          <a:xfrm>
            <a:off x="548640" y="1645920"/>
            <a:ext cx="2743200" cy="438912"/>
          </a:xfrm>
          <a:prstGeom prst="roundRect">
            <a:avLst/>
          </a:prstGeom>
          <a:solidFill>
            <a:srgbClr val="014A2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645920"/>
            <a:ext cx="2743200" cy="438912"/>
          </a:xfrm>
          <a:prstGeom prst="rect">
            <a:avLst/>
          </a:prstGeom>
          <a:noFill/>
        </p:spPr>
        <p:txBody>
          <a:bodyPr wrap="square" anchor="ctr" lIns="50800" rIns="50800" tIns="25400" bIns="25400">
            <a:spAutoFit/>
          </a:bodyPr>
          <a:lstStyle/>
          <a:p>
            <a:pPr algn="l"/>
            <a:r>
              <a:rPr sz="1250" b="1">
                <a:solidFill>
                  <a:srgbClr val="FFFFFF"/>
                </a:solidFill>
                <a:latin typeface="Segoe UI"/>
              </a:rPr>
              <a:t>Kelompok</a:t>
            </a:r>
          </a:p>
        </p:txBody>
      </p:sp>
      <p:sp>
        <p:nvSpPr>
          <p:cNvPr id="10" name="Rounded Rectangle 9"/>
          <p:cNvSpPr/>
          <p:nvPr/>
        </p:nvSpPr>
        <p:spPr>
          <a:xfrm>
            <a:off x="3291840" y="1645920"/>
            <a:ext cx="2377440" cy="438912"/>
          </a:xfrm>
          <a:prstGeom prst="roundRect">
            <a:avLst/>
          </a:prstGeom>
          <a:solidFill>
            <a:srgbClr val="014A2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91840" y="1645920"/>
            <a:ext cx="2377440" cy="438912"/>
          </a:xfrm>
          <a:prstGeom prst="rect">
            <a:avLst/>
          </a:prstGeom>
          <a:noFill/>
        </p:spPr>
        <p:txBody>
          <a:bodyPr wrap="square" anchor="ctr" lIns="50800" rIns="50800" tIns="25400" bIns="25400">
            <a:spAutoFit/>
          </a:bodyPr>
          <a:lstStyle/>
          <a:p>
            <a:pPr algn="ctr"/>
            <a:r>
              <a:rPr sz="1250" b="1">
                <a:solidFill>
                  <a:srgbClr val="FFFFFF"/>
                </a:solidFill>
                <a:latin typeface="Segoe UI"/>
              </a:rPr>
              <a:t>Accuracy</a:t>
            </a:r>
          </a:p>
        </p:txBody>
      </p:sp>
      <p:sp>
        <p:nvSpPr>
          <p:cNvPr id="12" name="Rounded Rectangle 11"/>
          <p:cNvSpPr/>
          <p:nvPr/>
        </p:nvSpPr>
        <p:spPr>
          <a:xfrm>
            <a:off x="5669280" y="1645920"/>
            <a:ext cx="2377440" cy="438912"/>
          </a:xfrm>
          <a:prstGeom prst="roundRect">
            <a:avLst/>
          </a:prstGeom>
          <a:solidFill>
            <a:srgbClr val="014A2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0" y="1645920"/>
            <a:ext cx="2377440" cy="438912"/>
          </a:xfrm>
          <a:prstGeom prst="rect">
            <a:avLst/>
          </a:prstGeom>
          <a:noFill/>
        </p:spPr>
        <p:txBody>
          <a:bodyPr wrap="square" anchor="ctr" lIns="50800" rIns="50800" tIns="25400" bIns="25400">
            <a:spAutoFit/>
          </a:bodyPr>
          <a:lstStyle/>
          <a:p>
            <a:pPr algn="ctr"/>
            <a:r>
              <a:rPr sz="1250" b="1">
                <a:solidFill>
                  <a:srgbClr val="FFFFFF"/>
                </a:solidFill>
                <a:latin typeface="Segoe UI"/>
              </a:rPr>
              <a:t>F1-Score</a:t>
            </a:r>
          </a:p>
        </p:txBody>
      </p:sp>
      <p:sp>
        <p:nvSpPr>
          <p:cNvPr id="14" name="Rounded Rectangle 13"/>
          <p:cNvSpPr/>
          <p:nvPr/>
        </p:nvSpPr>
        <p:spPr>
          <a:xfrm>
            <a:off x="8046720" y="1645920"/>
            <a:ext cx="2286000" cy="438912"/>
          </a:xfrm>
          <a:prstGeom prst="roundRect">
            <a:avLst/>
          </a:prstGeom>
          <a:solidFill>
            <a:srgbClr val="014A2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0" y="1645920"/>
            <a:ext cx="2286000" cy="438912"/>
          </a:xfrm>
          <a:prstGeom prst="rect">
            <a:avLst/>
          </a:prstGeom>
          <a:noFill/>
        </p:spPr>
        <p:txBody>
          <a:bodyPr wrap="square" anchor="ctr" lIns="50800" rIns="50800" tIns="25400" bIns="25400">
            <a:spAutoFit/>
          </a:bodyPr>
          <a:lstStyle/>
          <a:p>
            <a:pPr algn="ctr"/>
            <a:r>
              <a:rPr sz="1250" b="1">
                <a:solidFill>
                  <a:srgbClr val="FFFFFF"/>
                </a:solidFill>
                <a:latin typeface="Segoe UI"/>
              </a:rPr>
              <a:t>Status</a:t>
            </a:r>
          </a:p>
        </p:txBody>
      </p:sp>
      <p:sp>
        <p:nvSpPr>
          <p:cNvPr id="16" name="Rounded Rectangle 15"/>
          <p:cNvSpPr/>
          <p:nvPr/>
        </p:nvSpPr>
        <p:spPr>
          <a:xfrm>
            <a:off x="548640" y="2103120"/>
            <a:ext cx="274320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103120"/>
            <a:ext cx="2743200" cy="438912"/>
          </a:xfrm>
          <a:prstGeom prst="rect">
            <a:avLst/>
          </a:prstGeom>
          <a:noFill/>
        </p:spPr>
        <p:txBody>
          <a:bodyPr wrap="square" anchor="ctr" lIns="50800" rIns="50800" tIns="25400" bIns="25400">
            <a:spAutoFit/>
          </a:bodyPr>
          <a:lstStyle/>
          <a:p>
            <a:pPr algn="l"/>
            <a:r>
              <a:rPr sz="1250" b="1">
                <a:solidFill>
                  <a:srgbClr val="15241C"/>
                </a:solidFill>
                <a:latin typeface="Segoe UI"/>
              </a:rPr>
              <a:t>Laki-laki</a:t>
            </a:r>
          </a:p>
        </p:txBody>
      </p:sp>
      <p:sp>
        <p:nvSpPr>
          <p:cNvPr id="18" name="Rounded Rectangle 17"/>
          <p:cNvSpPr/>
          <p:nvPr/>
        </p:nvSpPr>
        <p:spPr>
          <a:xfrm>
            <a:off x="3291840" y="2103120"/>
            <a:ext cx="237744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91840" y="2103120"/>
            <a:ext cx="2377440" cy="438912"/>
          </a:xfrm>
          <a:prstGeom prst="rect">
            <a:avLst/>
          </a:prstGeom>
          <a:noFill/>
        </p:spPr>
        <p:txBody>
          <a:bodyPr wrap="square" anchor="ctr" lIns="50800" rIns="50800" tIns="25400" bIns="25400">
            <a:spAutoFit/>
          </a:bodyPr>
          <a:lstStyle/>
          <a:p>
            <a:pPr algn="ctr"/>
            <a:r>
              <a:rPr sz="1250" b="0">
                <a:solidFill>
                  <a:srgbClr val="15241C"/>
                </a:solidFill>
                <a:latin typeface="Segoe UI"/>
              </a:rPr>
              <a:t>89,30%</a:t>
            </a:r>
          </a:p>
        </p:txBody>
      </p:sp>
      <p:sp>
        <p:nvSpPr>
          <p:cNvPr id="20" name="Rounded Rectangle 19"/>
          <p:cNvSpPr/>
          <p:nvPr/>
        </p:nvSpPr>
        <p:spPr>
          <a:xfrm>
            <a:off x="5669280" y="2103120"/>
            <a:ext cx="237744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0" y="2103120"/>
            <a:ext cx="2377440" cy="438912"/>
          </a:xfrm>
          <a:prstGeom prst="rect">
            <a:avLst/>
          </a:prstGeom>
          <a:noFill/>
        </p:spPr>
        <p:txBody>
          <a:bodyPr wrap="square" anchor="ctr" lIns="50800" rIns="50800" tIns="25400" bIns="25400">
            <a:spAutoFit/>
          </a:bodyPr>
          <a:lstStyle/>
          <a:p>
            <a:pPr algn="ctr"/>
            <a:r>
              <a:rPr sz="1250" b="0">
                <a:solidFill>
                  <a:srgbClr val="15241C"/>
                </a:solidFill>
                <a:latin typeface="Segoe UI"/>
              </a:rPr>
              <a:t>85,13%</a:t>
            </a:r>
          </a:p>
        </p:txBody>
      </p:sp>
      <p:sp>
        <p:nvSpPr>
          <p:cNvPr id="22" name="Rounded Rectangle 21"/>
          <p:cNvSpPr/>
          <p:nvPr/>
        </p:nvSpPr>
        <p:spPr>
          <a:xfrm>
            <a:off x="8046720" y="2103120"/>
            <a:ext cx="228600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0" y="2103120"/>
            <a:ext cx="2286000" cy="438912"/>
          </a:xfrm>
          <a:prstGeom prst="rect">
            <a:avLst/>
          </a:prstGeom>
          <a:noFill/>
        </p:spPr>
        <p:txBody>
          <a:bodyPr wrap="square" anchor="ctr" lIns="50800" rIns="50800" tIns="25400" bIns="25400">
            <a:spAutoFit/>
          </a:bodyPr>
          <a:lstStyle/>
          <a:p>
            <a:pPr algn="ctr"/>
            <a:r>
              <a:rPr sz="1250" b="0">
                <a:solidFill>
                  <a:srgbClr val="15241C"/>
                </a:solidFill>
                <a:latin typeface="Segoe UI"/>
              </a:rPr>
              <a:t>✅ Fair</a:t>
            </a:r>
          </a:p>
        </p:txBody>
      </p:sp>
      <p:sp>
        <p:nvSpPr>
          <p:cNvPr id="24" name="Rounded Rectangle 23"/>
          <p:cNvSpPr/>
          <p:nvPr/>
        </p:nvSpPr>
        <p:spPr>
          <a:xfrm>
            <a:off x="548640" y="2560320"/>
            <a:ext cx="2743200" cy="438912"/>
          </a:xfrm>
          <a:prstGeom prst="roundRect">
            <a:avLst/>
          </a:prstGeom>
          <a:solidFill>
            <a:srgbClr val="E3F5EA"/>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560320"/>
            <a:ext cx="2743200" cy="438912"/>
          </a:xfrm>
          <a:prstGeom prst="rect">
            <a:avLst/>
          </a:prstGeom>
          <a:noFill/>
        </p:spPr>
        <p:txBody>
          <a:bodyPr wrap="square" anchor="ctr" lIns="50800" rIns="50800" tIns="25400" bIns="25400">
            <a:spAutoFit/>
          </a:bodyPr>
          <a:lstStyle/>
          <a:p>
            <a:pPr algn="l"/>
            <a:r>
              <a:rPr sz="1250" b="1">
                <a:solidFill>
                  <a:srgbClr val="15241C"/>
                </a:solidFill>
                <a:latin typeface="Segoe UI"/>
              </a:rPr>
              <a:t>Perempuan</a:t>
            </a:r>
          </a:p>
        </p:txBody>
      </p:sp>
      <p:sp>
        <p:nvSpPr>
          <p:cNvPr id="26" name="Rounded Rectangle 25"/>
          <p:cNvSpPr/>
          <p:nvPr/>
        </p:nvSpPr>
        <p:spPr>
          <a:xfrm>
            <a:off x="3291840" y="2560320"/>
            <a:ext cx="2377440" cy="438912"/>
          </a:xfrm>
          <a:prstGeom prst="roundRect">
            <a:avLst/>
          </a:prstGeom>
          <a:solidFill>
            <a:srgbClr val="E3F5EA"/>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2560320"/>
            <a:ext cx="2377440" cy="438912"/>
          </a:xfrm>
          <a:prstGeom prst="rect">
            <a:avLst/>
          </a:prstGeom>
          <a:noFill/>
        </p:spPr>
        <p:txBody>
          <a:bodyPr wrap="square" anchor="ctr" lIns="50800" rIns="50800" tIns="25400" bIns="25400">
            <a:spAutoFit/>
          </a:bodyPr>
          <a:lstStyle/>
          <a:p>
            <a:pPr algn="ctr"/>
            <a:r>
              <a:rPr sz="1250" b="0">
                <a:solidFill>
                  <a:srgbClr val="15241C"/>
                </a:solidFill>
                <a:latin typeface="Segoe UI"/>
              </a:rPr>
              <a:t>87,46%</a:t>
            </a:r>
          </a:p>
        </p:txBody>
      </p:sp>
      <p:sp>
        <p:nvSpPr>
          <p:cNvPr id="28" name="Rounded Rectangle 27"/>
          <p:cNvSpPr/>
          <p:nvPr/>
        </p:nvSpPr>
        <p:spPr>
          <a:xfrm>
            <a:off x="5669280" y="2560320"/>
            <a:ext cx="2377440" cy="438912"/>
          </a:xfrm>
          <a:prstGeom prst="roundRect">
            <a:avLst/>
          </a:prstGeom>
          <a:solidFill>
            <a:srgbClr val="E3F5EA"/>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0" y="2560320"/>
            <a:ext cx="2377440" cy="438912"/>
          </a:xfrm>
          <a:prstGeom prst="rect">
            <a:avLst/>
          </a:prstGeom>
          <a:noFill/>
        </p:spPr>
        <p:txBody>
          <a:bodyPr wrap="square" anchor="ctr" lIns="50800" rIns="50800" tIns="25400" bIns="25400">
            <a:spAutoFit/>
          </a:bodyPr>
          <a:lstStyle/>
          <a:p>
            <a:pPr algn="ctr"/>
            <a:r>
              <a:rPr sz="1250" b="0">
                <a:solidFill>
                  <a:srgbClr val="15241C"/>
                </a:solidFill>
                <a:latin typeface="Segoe UI"/>
              </a:rPr>
              <a:t>81,92%</a:t>
            </a:r>
          </a:p>
        </p:txBody>
      </p:sp>
      <p:sp>
        <p:nvSpPr>
          <p:cNvPr id="30" name="Rounded Rectangle 29"/>
          <p:cNvSpPr/>
          <p:nvPr/>
        </p:nvSpPr>
        <p:spPr>
          <a:xfrm>
            <a:off x="8046720" y="2560320"/>
            <a:ext cx="2286000" cy="438912"/>
          </a:xfrm>
          <a:prstGeom prst="roundRect">
            <a:avLst/>
          </a:prstGeom>
          <a:solidFill>
            <a:srgbClr val="E3F5EA"/>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0" y="2560320"/>
            <a:ext cx="2286000" cy="438912"/>
          </a:xfrm>
          <a:prstGeom prst="rect">
            <a:avLst/>
          </a:prstGeom>
          <a:noFill/>
        </p:spPr>
        <p:txBody>
          <a:bodyPr wrap="square" anchor="ctr" lIns="50800" rIns="50800" tIns="25400" bIns="25400">
            <a:spAutoFit/>
          </a:bodyPr>
          <a:lstStyle/>
          <a:p>
            <a:pPr algn="ctr"/>
            <a:r>
              <a:rPr sz="1250" b="0">
                <a:solidFill>
                  <a:srgbClr val="15241C"/>
                </a:solidFill>
                <a:latin typeface="Segoe UI"/>
              </a:rPr>
              <a:t>✅ Fair</a:t>
            </a:r>
          </a:p>
        </p:txBody>
      </p:sp>
      <p:sp>
        <p:nvSpPr>
          <p:cNvPr id="32" name="Rounded Rectangle 31"/>
          <p:cNvSpPr/>
          <p:nvPr/>
        </p:nvSpPr>
        <p:spPr>
          <a:xfrm>
            <a:off x="548640" y="3017520"/>
            <a:ext cx="274320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017520"/>
            <a:ext cx="2743200" cy="438912"/>
          </a:xfrm>
          <a:prstGeom prst="rect">
            <a:avLst/>
          </a:prstGeom>
          <a:noFill/>
        </p:spPr>
        <p:txBody>
          <a:bodyPr wrap="square" anchor="ctr" lIns="50800" rIns="50800" tIns="25400" bIns="25400">
            <a:spAutoFit/>
          </a:bodyPr>
          <a:lstStyle/>
          <a:p>
            <a:pPr algn="l"/>
            <a:r>
              <a:rPr sz="1250" b="1">
                <a:solidFill>
                  <a:srgbClr val="15241C"/>
                </a:solidFill>
                <a:latin typeface="Segoe UI"/>
              </a:rPr>
              <a:t>Disparitas</a:t>
            </a:r>
          </a:p>
        </p:txBody>
      </p:sp>
      <p:sp>
        <p:nvSpPr>
          <p:cNvPr id="34" name="Rounded Rectangle 33"/>
          <p:cNvSpPr/>
          <p:nvPr/>
        </p:nvSpPr>
        <p:spPr>
          <a:xfrm>
            <a:off x="3291840" y="3017520"/>
            <a:ext cx="237744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91840" y="3017520"/>
            <a:ext cx="2377440" cy="438912"/>
          </a:xfrm>
          <a:prstGeom prst="rect">
            <a:avLst/>
          </a:prstGeom>
          <a:noFill/>
        </p:spPr>
        <p:txBody>
          <a:bodyPr wrap="square" anchor="ctr" lIns="50800" rIns="50800" tIns="25400" bIns="25400">
            <a:spAutoFit/>
          </a:bodyPr>
          <a:lstStyle/>
          <a:p>
            <a:pPr algn="ctr"/>
            <a:r>
              <a:rPr sz="1250" b="0">
                <a:solidFill>
                  <a:srgbClr val="15241C"/>
                </a:solidFill>
                <a:latin typeface="Segoe UI"/>
              </a:rPr>
              <a:t>1,84%</a:t>
            </a:r>
          </a:p>
        </p:txBody>
      </p:sp>
      <p:sp>
        <p:nvSpPr>
          <p:cNvPr id="36" name="Rounded Rectangle 35"/>
          <p:cNvSpPr/>
          <p:nvPr/>
        </p:nvSpPr>
        <p:spPr>
          <a:xfrm>
            <a:off x="5669280" y="3017520"/>
            <a:ext cx="237744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0" y="3017520"/>
            <a:ext cx="2377440" cy="438912"/>
          </a:xfrm>
          <a:prstGeom prst="rect">
            <a:avLst/>
          </a:prstGeom>
          <a:noFill/>
        </p:spPr>
        <p:txBody>
          <a:bodyPr wrap="square" anchor="ctr" lIns="50800" rIns="50800" tIns="25400" bIns="25400">
            <a:spAutoFit/>
          </a:bodyPr>
          <a:lstStyle/>
          <a:p>
            <a:pPr algn="ctr"/>
            <a:r>
              <a:rPr sz="1250" b="0">
                <a:solidFill>
                  <a:srgbClr val="15241C"/>
                </a:solidFill>
                <a:latin typeface="Segoe UI"/>
              </a:rPr>
              <a:t>3,21%</a:t>
            </a:r>
          </a:p>
        </p:txBody>
      </p:sp>
      <p:sp>
        <p:nvSpPr>
          <p:cNvPr id="38" name="Rounded Rectangle 37"/>
          <p:cNvSpPr/>
          <p:nvPr/>
        </p:nvSpPr>
        <p:spPr>
          <a:xfrm>
            <a:off x="8046720" y="3017520"/>
            <a:ext cx="2286000" cy="438912"/>
          </a:xfrm>
          <a:prstGeom prst="roundRect">
            <a:avLst/>
          </a:prstGeom>
          <a:solidFill>
            <a:srgbClr val="FFFFFF"/>
          </a:solidFill>
          <a:ln w="6350">
            <a:solidFill>
              <a:srgbClr val="EEF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0" y="3017520"/>
            <a:ext cx="2286000" cy="438912"/>
          </a:xfrm>
          <a:prstGeom prst="rect">
            <a:avLst/>
          </a:prstGeom>
          <a:noFill/>
        </p:spPr>
        <p:txBody>
          <a:bodyPr wrap="square" anchor="ctr" lIns="50800" rIns="50800" tIns="25400" bIns="25400">
            <a:spAutoFit/>
          </a:bodyPr>
          <a:lstStyle/>
          <a:p>
            <a:pPr algn="ctr"/>
            <a:r>
              <a:rPr sz="1250" b="0">
                <a:solidFill>
                  <a:srgbClr val="15241C"/>
                </a:solidFill>
                <a:latin typeface="Segoe UI"/>
              </a:rPr>
              <a:t>✅ &lt; 5%</a:t>
            </a:r>
          </a:p>
        </p:txBody>
      </p:sp>
      <p:sp>
        <p:nvSpPr>
          <p:cNvPr id="40" name="TextBox 39"/>
          <p:cNvSpPr txBox="1"/>
          <p:nvPr/>
        </p:nvSpPr>
        <p:spPr>
          <a:xfrm>
            <a:off x="548640" y="3657600"/>
            <a:ext cx="10972800" cy="365760"/>
          </a:xfrm>
          <a:prstGeom prst="rect">
            <a:avLst/>
          </a:prstGeom>
          <a:noFill/>
        </p:spPr>
        <p:txBody>
          <a:bodyPr wrap="square" anchor="t" lIns="50800" rIns="50800" tIns="25400" bIns="25400">
            <a:spAutoFit/>
          </a:bodyPr>
          <a:lstStyle/>
          <a:p>
            <a:pPr algn="l"/>
            <a:r>
              <a:rPr sz="1500" b="1">
                <a:solidFill>
                  <a:srgbClr val="014A2F"/>
                </a:solidFill>
                <a:latin typeface="Segoe UI"/>
              </a:rPr>
              <a:t>🛡️  6 Prinsip Etika yang Diimplementasikan:</a:t>
            </a:r>
          </a:p>
        </p:txBody>
      </p:sp>
      <p:sp>
        <p:nvSpPr>
          <p:cNvPr id="41" name="Rounded Rectangle 40"/>
          <p:cNvSpPr/>
          <p:nvPr/>
        </p:nvSpPr>
        <p:spPr>
          <a:xfrm>
            <a:off x="548640" y="4114800"/>
            <a:ext cx="3611880" cy="841248"/>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4224528"/>
            <a:ext cx="3337560" cy="658368"/>
          </a:xfrm>
          <a:prstGeom prst="rect">
            <a:avLst/>
          </a:prstGeom>
          <a:noFill/>
        </p:spPr>
        <p:txBody>
          <a:bodyPr wrap="square" anchor="ctr" lIns="50800" rIns="50800" tIns="25400" bIns="25400">
            <a:spAutoFit/>
          </a:bodyPr>
          <a:lstStyle/>
          <a:p>
            <a:pPr algn="l"/>
            <a:r>
              <a:rPr sz="1300" b="1">
                <a:solidFill>
                  <a:srgbClr val="014A2F"/>
                </a:solidFill>
                <a:latin typeface="Segoe UI"/>
              </a:rPr>
              <a:t>🔒 Privacy</a:t>
            </a:r>
          </a:p>
          <a:p>
            <a:pPr algn="l"/>
            <a:r>
              <a:rPr sz="1100" b="0">
                <a:solidFill>
                  <a:srgbClr val="5A6B60"/>
                </a:solidFill>
                <a:latin typeface="Segoe UI"/>
              </a:rPr>
              <a:t>Data user tidak disimpan</a:t>
            </a:r>
          </a:p>
        </p:txBody>
      </p:sp>
      <p:sp>
        <p:nvSpPr>
          <p:cNvPr id="43" name="Rounded Rectangle 42"/>
          <p:cNvSpPr/>
          <p:nvPr/>
        </p:nvSpPr>
        <p:spPr>
          <a:xfrm>
            <a:off x="4279392" y="4114800"/>
            <a:ext cx="3611880" cy="841248"/>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62272" y="4224528"/>
            <a:ext cx="3337560" cy="658368"/>
          </a:xfrm>
          <a:prstGeom prst="rect">
            <a:avLst/>
          </a:prstGeom>
          <a:noFill/>
        </p:spPr>
        <p:txBody>
          <a:bodyPr wrap="square" anchor="ctr" lIns="50800" rIns="50800" tIns="25400" bIns="25400">
            <a:spAutoFit/>
          </a:bodyPr>
          <a:lstStyle/>
          <a:p>
            <a:pPr algn="l"/>
            <a:r>
              <a:rPr sz="1300" b="1">
                <a:solidFill>
                  <a:srgbClr val="014A2F"/>
                </a:solidFill>
                <a:latin typeface="Segoe UI"/>
              </a:rPr>
              <a:t>⚖️ Fairness</a:t>
            </a:r>
          </a:p>
          <a:p>
            <a:pPr algn="l"/>
            <a:r>
              <a:rPr sz="1100" b="0">
                <a:solidFill>
                  <a:srgbClr val="5A6B60"/>
                </a:solidFill>
                <a:latin typeface="Segoe UI"/>
              </a:rPr>
              <a:t>Disparitas &lt;5% antar gender</a:t>
            </a:r>
          </a:p>
        </p:txBody>
      </p:sp>
      <p:sp>
        <p:nvSpPr>
          <p:cNvPr id="45" name="Rounded Rectangle 44"/>
          <p:cNvSpPr/>
          <p:nvPr/>
        </p:nvSpPr>
        <p:spPr>
          <a:xfrm>
            <a:off x="8010144" y="4114800"/>
            <a:ext cx="3611880" cy="841248"/>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93024" y="4224528"/>
            <a:ext cx="3337560" cy="658368"/>
          </a:xfrm>
          <a:prstGeom prst="rect">
            <a:avLst/>
          </a:prstGeom>
          <a:noFill/>
        </p:spPr>
        <p:txBody>
          <a:bodyPr wrap="square" anchor="ctr" lIns="50800" rIns="50800" tIns="25400" bIns="25400">
            <a:spAutoFit/>
          </a:bodyPr>
          <a:lstStyle/>
          <a:p>
            <a:pPr algn="l"/>
            <a:r>
              <a:rPr sz="1300" b="1">
                <a:solidFill>
                  <a:srgbClr val="014A2F"/>
                </a:solidFill>
                <a:latin typeface="Segoe UI"/>
              </a:rPr>
              <a:t>🔍 Transparency</a:t>
            </a:r>
          </a:p>
          <a:p>
            <a:pPr algn="l"/>
            <a:r>
              <a:rPr sz="1100" b="0">
                <a:solidFill>
                  <a:srgbClr val="5A6B60"/>
                </a:solidFill>
                <a:latin typeface="Segoe UI"/>
              </a:rPr>
              <a:t>Confidence score selalu tampil</a:t>
            </a:r>
          </a:p>
        </p:txBody>
      </p:sp>
      <p:sp>
        <p:nvSpPr>
          <p:cNvPr id="47" name="Rounded Rectangle 46"/>
          <p:cNvSpPr/>
          <p:nvPr/>
        </p:nvSpPr>
        <p:spPr>
          <a:xfrm>
            <a:off x="548640" y="5093208"/>
            <a:ext cx="3611880" cy="841248"/>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5202936"/>
            <a:ext cx="3337560" cy="658368"/>
          </a:xfrm>
          <a:prstGeom prst="rect">
            <a:avLst/>
          </a:prstGeom>
          <a:noFill/>
        </p:spPr>
        <p:txBody>
          <a:bodyPr wrap="square" anchor="ctr" lIns="50800" rIns="50800" tIns="25400" bIns="25400">
            <a:spAutoFit/>
          </a:bodyPr>
          <a:lstStyle/>
          <a:p>
            <a:pPr algn="l"/>
            <a:r>
              <a:rPr sz="1300" b="1">
                <a:solidFill>
                  <a:srgbClr val="014A2F"/>
                </a:solidFill>
                <a:latin typeface="Segoe UI"/>
              </a:rPr>
              <a:t>🛡️ Safety</a:t>
            </a:r>
          </a:p>
          <a:p>
            <a:pPr algn="l"/>
            <a:r>
              <a:rPr sz="1100" b="0">
                <a:solidFill>
                  <a:srgbClr val="5A6B60"/>
                </a:solidFill>
                <a:latin typeface="Segoe UI"/>
              </a:rPr>
              <a:t>Disclaimer: bukan diagnosis medis</a:t>
            </a:r>
          </a:p>
        </p:txBody>
      </p:sp>
      <p:sp>
        <p:nvSpPr>
          <p:cNvPr id="49" name="Rounded Rectangle 48"/>
          <p:cNvSpPr/>
          <p:nvPr/>
        </p:nvSpPr>
        <p:spPr>
          <a:xfrm>
            <a:off x="4279392" y="5093208"/>
            <a:ext cx="3611880" cy="841248"/>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62272" y="5202936"/>
            <a:ext cx="3337560" cy="658368"/>
          </a:xfrm>
          <a:prstGeom prst="rect">
            <a:avLst/>
          </a:prstGeom>
          <a:noFill/>
        </p:spPr>
        <p:txBody>
          <a:bodyPr wrap="square" anchor="ctr" lIns="50800" rIns="50800" tIns="25400" bIns="25400">
            <a:spAutoFit/>
          </a:bodyPr>
          <a:lstStyle/>
          <a:p>
            <a:pPr algn="l"/>
            <a:r>
              <a:rPr sz="1300" b="1">
                <a:solidFill>
                  <a:srgbClr val="014A2F"/>
                </a:solidFill>
                <a:latin typeface="Segoe UI"/>
              </a:rPr>
              <a:t>🌐 Accessibility</a:t>
            </a:r>
          </a:p>
          <a:p>
            <a:pPr algn="l"/>
            <a:r>
              <a:rPr sz="1100" b="0">
                <a:solidFill>
                  <a:srgbClr val="5A6B60"/>
                </a:solidFill>
                <a:latin typeface="Segoe UI"/>
              </a:rPr>
              <a:t>Gratis &amp; mobile-friendly</a:t>
            </a:r>
          </a:p>
        </p:txBody>
      </p:sp>
      <p:sp>
        <p:nvSpPr>
          <p:cNvPr id="51" name="Rounded Rectangle 50"/>
          <p:cNvSpPr/>
          <p:nvPr/>
        </p:nvSpPr>
        <p:spPr>
          <a:xfrm>
            <a:off x="8010144" y="5093208"/>
            <a:ext cx="3611880" cy="841248"/>
          </a:xfrm>
          <a:prstGeom prst="roundRect">
            <a:avLst/>
          </a:prstGeom>
          <a:solidFill>
            <a:srgbClr val="FFFFFF"/>
          </a:solidFill>
          <a:ln w="15240">
            <a:solidFill>
              <a:srgbClr val="E3F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93024" y="5202936"/>
            <a:ext cx="3337560" cy="658368"/>
          </a:xfrm>
          <a:prstGeom prst="rect">
            <a:avLst/>
          </a:prstGeom>
          <a:noFill/>
        </p:spPr>
        <p:txBody>
          <a:bodyPr wrap="square" anchor="ctr" lIns="50800" rIns="50800" tIns="25400" bIns="25400">
            <a:spAutoFit/>
          </a:bodyPr>
          <a:lstStyle/>
          <a:p>
            <a:pPr algn="l"/>
            <a:r>
              <a:rPr sz="1300" b="1">
                <a:solidFill>
                  <a:srgbClr val="014A2F"/>
                </a:solidFill>
                <a:latin typeface="Segoe UI"/>
              </a:rPr>
              <a:t>📚 Education</a:t>
            </a:r>
          </a:p>
          <a:p>
            <a:pPr algn="l"/>
            <a:r>
              <a:rPr sz="1100" b="0">
                <a:solidFill>
                  <a:srgbClr val="5A6B60"/>
                </a:solidFill>
                <a:latin typeface="Segoe UI"/>
              </a:rPr>
              <a:t>Z-Score WHO ditampilkan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1051560"/>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46888"/>
            <a:ext cx="566928" cy="566928"/>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6888"/>
            <a:ext cx="566928" cy="566928"/>
          </a:xfrm>
          <a:prstGeom prst="rect">
            <a:avLst/>
          </a:prstGeom>
          <a:noFill/>
        </p:spPr>
        <p:txBody>
          <a:bodyPr wrap="square" anchor="ctr" lIns="50800" rIns="50800" tIns="25400" bIns="25400">
            <a:spAutoFit/>
          </a:bodyPr>
          <a:lstStyle/>
          <a:p>
            <a:pPr algn="ctr"/>
            <a:r>
              <a:rPr sz="2000" b="1">
                <a:solidFill>
                  <a:srgbClr val="FFFFFF"/>
                </a:solidFill>
                <a:latin typeface="Segoe UI"/>
              </a:rPr>
              <a:t>✓</a:t>
            </a:r>
          </a:p>
        </p:txBody>
      </p:sp>
      <p:sp>
        <p:nvSpPr>
          <p:cNvPr id="6" name="TextBox 5"/>
          <p:cNvSpPr txBox="1"/>
          <p:nvPr/>
        </p:nvSpPr>
        <p:spPr>
          <a:xfrm>
            <a:off x="1188720" y="164592"/>
            <a:ext cx="10515600" cy="731520"/>
          </a:xfrm>
          <a:prstGeom prst="rect">
            <a:avLst/>
          </a:prstGeom>
          <a:noFill/>
        </p:spPr>
        <p:txBody>
          <a:bodyPr wrap="square" anchor="ctr" lIns="50800" rIns="50800" tIns="25400" bIns="25400">
            <a:spAutoFit/>
          </a:bodyPr>
          <a:lstStyle/>
          <a:p>
            <a:pPr algn="l"/>
            <a:r>
              <a:rPr sz="2600" b="1">
                <a:solidFill>
                  <a:srgbClr val="FFFFFF"/>
                </a:solidFill>
                <a:latin typeface="Segoe UI"/>
              </a:rPr>
              <a:t>Kaitan Learning Outcomes &amp; Kesimpulan</a:t>
            </a:r>
          </a:p>
        </p:txBody>
      </p:sp>
      <p:sp>
        <p:nvSpPr>
          <p:cNvPr id="7" name="TextBox 6"/>
          <p:cNvSpPr txBox="1"/>
          <p:nvPr/>
        </p:nvSpPr>
        <p:spPr>
          <a:xfrm>
            <a:off x="548640" y="1188720"/>
            <a:ext cx="5486400" cy="365760"/>
          </a:xfrm>
          <a:prstGeom prst="rect">
            <a:avLst/>
          </a:prstGeom>
          <a:noFill/>
        </p:spPr>
        <p:txBody>
          <a:bodyPr wrap="square" anchor="t" lIns="50800" rIns="50800" tIns="25400" bIns="25400">
            <a:spAutoFit/>
          </a:bodyPr>
          <a:lstStyle/>
          <a:p>
            <a:pPr algn="l"/>
            <a:r>
              <a:rPr sz="1500" b="1">
                <a:solidFill>
                  <a:srgbClr val="06A357"/>
                </a:solidFill>
                <a:latin typeface="Segoe UI"/>
              </a:rPr>
              <a:t>🎓  Learning Outcomes yang Dinilai</a:t>
            </a:r>
          </a:p>
        </p:txBody>
      </p:sp>
      <p:sp>
        <p:nvSpPr>
          <p:cNvPr id="8" name="Rounded Rectangle 7"/>
          <p:cNvSpPr/>
          <p:nvPr/>
        </p:nvSpPr>
        <p:spPr>
          <a:xfrm>
            <a:off x="548640" y="1645920"/>
            <a:ext cx="5486400" cy="1234440"/>
          </a:xfrm>
          <a:prstGeom prst="roundRect">
            <a:avLst/>
          </a:prstGeom>
          <a:solidFill>
            <a:srgbClr val="FFFFFF"/>
          </a:solidFill>
          <a:ln w="19050">
            <a:solidFill>
              <a:srgbClr val="06A3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645920"/>
            <a:ext cx="1097280" cy="123444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45920"/>
            <a:ext cx="1097280" cy="1234440"/>
          </a:xfrm>
          <a:prstGeom prst="rect">
            <a:avLst/>
          </a:prstGeom>
          <a:noFill/>
        </p:spPr>
        <p:txBody>
          <a:bodyPr wrap="square" anchor="ctr" lIns="50800" rIns="50800" tIns="25400" bIns="25400">
            <a:spAutoFit/>
          </a:bodyPr>
          <a:lstStyle/>
          <a:p>
            <a:pPr algn="ctr"/>
            <a:r>
              <a:rPr sz="2200" b="1">
                <a:solidFill>
                  <a:srgbClr val="FFFFFF"/>
                </a:solidFill>
                <a:latin typeface="Segoe UI"/>
              </a:rPr>
              <a:t>LO5</a:t>
            </a:r>
          </a:p>
        </p:txBody>
      </p:sp>
      <p:sp>
        <p:nvSpPr>
          <p:cNvPr id="11" name="TextBox 10"/>
          <p:cNvSpPr txBox="1"/>
          <p:nvPr/>
        </p:nvSpPr>
        <p:spPr>
          <a:xfrm>
            <a:off x="1783080" y="1783080"/>
            <a:ext cx="4114800" cy="1005840"/>
          </a:xfrm>
          <a:prstGeom prst="rect">
            <a:avLst/>
          </a:prstGeom>
          <a:noFill/>
        </p:spPr>
        <p:txBody>
          <a:bodyPr wrap="square" anchor="ctr" lIns="50800" rIns="50800" tIns="25400" bIns="25400">
            <a:spAutoFit/>
          </a:bodyPr>
          <a:lstStyle/>
          <a:p>
            <a:pPr algn="l"/>
            <a:r>
              <a:rPr sz="1400" b="1">
                <a:solidFill>
                  <a:srgbClr val="014A2F"/>
                </a:solidFill>
                <a:latin typeface="Segoe UI"/>
              </a:rPr>
              <a:t>Apply learning algorithms</a:t>
            </a:r>
          </a:p>
          <a:p>
            <a:pPr algn="l"/>
            <a:r>
              <a:rPr sz="1150" b="0">
                <a:solidFill>
                  <a:srgbClr val="5A6B60"/>
                </a:solidFill>
                <a:latin typeface="Segoe UI"/>
              </a:rPr>
              <a:t>Implementasi Random Forest (120 trees) pada 7 faktor — akurasi 88,40%</a:t>
            </a:r>
          </a:p>
        </p:txBody>
      </p:sp>
      <p:sp>
        <p:nvSpPr>
          <p:cNvPr id="12" name="Rounded Rectangle 11"/>
          <p:cNvSpPr/>
          <p:nvPr/>
        </p:nvSpPr>
        <p:spPr>
          <a:xfrm>
            <a:off x="548640" y="3017520"/>
            <a:ext cx="5486400" cy="1234440"/>
          </a:xfrm>
          <a:prstGeom prst="roundRect">
            <a:avLst/>
          </a:prstGeom>
          <a:solidFill>
            <a:srgbClr val="FFFFFF"/>
          </a:solidFill>
          <a:ln w="19050">
            <a:solidFill>
              <a:srgbClr val="06A3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3017520"/>
            <a:ext cx="1097280" cy="123444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017520"/>
            <a:ext cx="1097280" cy="1234440"/>
          </a:xfrm>
          <a:prstGeom prst="rect">
            <a:avLst/>
          </a:prstGeom>
          <a:noFill/>
        </p:spPr>
        <p:txBody>
          <a:bodyPr wrap="square" anchor="ctr" lIns="50800" rIns="50800" tIns="25400" bIns="25400">
            <a:spAutoFit/>
          </a:bodyPr>
          <a:lstStyle/>
          <a:p>
            <a:pPr algn="ctr"/>
            <a:r>
              <a:rPr sz="2200" b="1">
                <a:solidFill>
                  <a:srgbClr val="FFFFFF"/>
                </a:solidFill>
                <a:latin typeface="Segoe UI"/>
              </a:rPr>
              <a:t>LO6</a:t>
            </a:r>
          </a:p>
        </p:txBody>
      </p:sp>
      <p:sp>
        <p:nvSpPr>
          <p:cNvPr id="15" name="TextBox 14"/>
          <p:cNvSpPr txBox="1"/>
          <p:nvPr/>
        </p:nvSpPr>
        <p:spPr>
          <a:xfrm>
            <a:off x="1783080" y="3154680"/>
            <a:ext cx="4114800" cy="1005840"/>
          </a:xfrm>
          <a:prstGeom prst="rect">
            <a:avLst/>
          </a:prstGeom>
          <a:noFill/>
        </p:spPr>
        <p:txBody>
          <a:bodyPr wrap="square" anchor="ctr" lIns="50800" rIns="50800" tIns="25400" bIns="25400">
            <a:spAutoFit/>
          </a:bodyPr>
          <a:lstStyle/>
          <a:p>
            <a:pPr algn="l"/>
            <a:r>
              <a:rPr sz="1400" b="1">
                <a:solidFill>
                  <a:srgbClr val="014A2F"/>
                </a:solidFill>
                <a:latin typeface="Segoe UI"/>
              </a:rPr>
              <a:t>Analyze Ethics in AI</a:t>
            </a:r>
          </a:p>
          <a:p>
            <a:pPr algn="l"/>
            <a:r>
              <a:rPr sz="1150" b="0">
                <a:solidFill>
                  <a:srgbClr val="5A6B60"/>
                </a:solidFill>
                <a:latin typeface="Segoe UI"/>
              </a:rPr>
              <a:t>Audit fairness (disparitas 1,84%) + privacy + safety + transparency</a:t>
            </a:r>
          </a:p>
        </p:txBody>
      </p:sp>
      <p:sp>
        <p:nvSpPr>
          <p:cNvPr id="16" name="TextBox 15"/>
          <p:cNvSpPr txBox="1"/>
          <p:nvPr/>
        </p:nvSpPr>
        <p:spPr>
          <a:xfrm>
            <a:off x="6355080" y="1188720"/>
            <a:ext cx="5486400" cy="365760"/>
          </a:xfrm>
          <a:prstGeom prst="rect">
            <a:avLst/>
          </a:prstGeom>
          <a:noFill/>
        </p:spPr>
        <p:txBody>
          <a:bodyPr wrap="square" anchor="t" lIns="50800" rIns="50800" tIns="25400" bIns="25400">
            <a:spAutoFit/>
          </a:bodyPr>
          <a:lstStyle/>
          <a:p>
            <a:pPr algn="l"/>
            <a:r>
              <a:rPr sz="1500" b="1">
                <a:solidFill>
                  <a:srgbClr val="06A357"/>
                </a:solidFill>
                <a:latin typeface="Segoe UI"/>
              </a:rPr>
              <a:t>🎯  Pencapaian Project</a:t>
            </a:r>
          </a:p>
        </p:txBody>
      </p:sp>
      <p:sp>
        <p:nvSpPr>
          <p:cNvPr id="17" name="Rounded Rectangle 16"/>
          <p:cNvSpPr/>
          <p:nvPr/>
        </p:nvSpPr>
        <p:spPr>
          <a:xfrm>
            <a:off x="6355080" y="1645920"/>
            <a:ext cx="5303520" cy="749808"/>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1645920"/>
            <a:ext cx="4937760" cy="749808"/>
          </a:xfrm>
          <a:prstGeom prst="rect">
            <a:avLst/>
          </a:prstGeom>
          <a:noFill/>
        </p:spPr>
        <p:txBody>
          <a:bodyPr wrap="square" anchor="ctr" lIns="50800" rIns="50800" tIns="25400" bIns="25400">
            <a:spAutoFit/>
          </a:bodyPr>
          <a:lstStyle/>
          <a:p>
            <a:pPr algn="l"/>
            <a:r>
              <a:rPr sz="1300" b="1">
                <a:solidFill>
                  <a:srgbClr val="014A2F"/>
                </a:solidFill>
                <a:latin typeface="Segoe UI"/>
              </a:rPr>
              <a:t>✅ Masalah nyata  —  </a:t>
            </a:r>
            <a:r>
              <a:rPr sz="1150" b="0">
                <a:solidFill>
                  <a:srgbClr val="5A6B60"/>
                </a:solidFill>
                <a:latin typeface="Segoe UI"/>
              </a:rPr>
              <a:t>Stunting 19,8% (SSGI 2024)</a:t>
            </a:r>
          </a:p>
        </p:txBody>
      </p:sp>
      <p:sp>
        <p:nvSpPr>
          <p:cNvPr id="19" name="Rounded Rectangle 18"/>
          <p:cNvSpPr/>
          <p:nvPr/>
        </p:nvSpPr>
        <p:spPr>
          <a:xfrm>
            <a:off x="6355080" y="2487168"/>
            <a:ext cx="5303520" cy="749808"/>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2487168"/>
            <a:ext cx="4937760" cy="749808"/>
          </a:xfrm>
          <a:prstGeom prst="rect">
            <a:avLst/>
          </a:prstGeom>
          <a:noFill/>
        </p:spPr>
        <p:txBody>
          <a:bodyPr wrap="square" anchor="ctr" lIns="50800" rIns="50800" tIns="25400" bIns="25400">
            <a:spAutoFit/>
          </a:bodyPr>
          <a:lstStyle/>
          <a:p>
            <a:pPr algn="l"/>
            <a:r>
              <a:rPr sz="1300" b="1">
                <a:solidFill>
                  <a:srgbClr val="014A2F"/>
                </a:solidFill>
                <a:latin typeface="Segoe UI"/>
              </a:rPr>
              <a:t>✅ Solusi konkret  —  </a:t>
            </a:r>
            <a:r>
              <a:rPr sz="1150" b="0">
                <a:solidFill>
                  <a:srgbClr val="5A6B60"/>
                </a:solidFill>
                <a:latin typeface="Segoe UI"/>
              </a:rPr>
              <a:t>Web app jalan &amp; bisa didemokan</a:t>
            </a:r>
          </a:p>
        </p:txBody>
      </p:sp>
      <p:sp>
        <p:nvSpPr>
          <p:cNvPr id="21" name="Rounded Rectangle 20"/>
          <p:cNvSpPr/>
          <p:nvPr/>
        </p:nvSpPr>
        <p:spPr>
          <a:xfrm>
            <a:off x="6355080" y="3328416"/>
            <a:ext cx="5303520" cy="749808"/>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3328416"/>
            <a:ext cx="4937760" cy="749808"/>
          </a:xfrm>
          <a:prstGeom prst="rect">
            <a:avLst/>
          </a:prstGeom>
          <a:noFill/>
        </p:spPr>
        <p:txBody>
          <a:bodyPr wrap="square" anchor="ctr" lIns="50800" rIns="50800" tIns="25400" bIns="25400">
            <a:spAutoFit/>
          </a:bodyPr>
          <a:lstStyle/>
          <a:p>
            <a:pPr algn="l"/>
            <a:r>
              <a:rPr sz="1300" b="1">
                <a:solidFill>
                  <a:srgbClr val="014A2F"/>
                </a:solidFill>
                <a:latin typeface="Segoe UI"/>
              </a:rPr>
              <a:t>✅ Akurasi Excellent  —  </a:t>
            </a:r>
            <a:r>
              <a:rPr sz="1150" b="0">
                <a:solidFill>
                  <a:srgbClr val="5A6B60"/>
                </a:solidFill>
                <a:latin typeface="Segoe UI"/>
              </a:rPr>
              <a:t>88,40% (≥85% = Excellent)</a:t>
            </a:r>
          </a:p>
        </p:txBody>
      </p:sp>
      <p:sp>
        <p:nvSpPr>
          <p:cNvPr id="23" name="Rounded Rectangle 22"/>
          <p:cNvSpPr/>
          <p:nvPr/>
        </p:nvSpPr>
        <p:spPr>
          <a:xfrm>
            <a:off x="6355080" y="4169664"/>
            <a:ext cx="5303520" cy="749808"/>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4169664"/>
            <a:ext cx="4937760" cy="749808"/>
          </a:xfrm>
          <a:prstGeom prst="rect">
            <a:avLst/>
          </a:prstGeom>
          <a:noFill/>
        </p:spPr>
        <p:txBody>
          <a:bodyPr wrap="square" anchor="ctr" lIns="50800" rIns="50800" tIns="25400" bIns="25400">
            <a:spAutoFit/>
          </a:bodyPr>
          <a:lstStyle/>
          <a:p>
            <a:pPr algn="l"/>
            <a:r>
              <a:rPr sz="1300" b="1">
                <a:solidFill>
                  <a:srgbClr val="014A2F"/>
                </a:solidFill>
                <a:latin typeface="Segoe UI"/>
              </a:rPr>
              <a:t>✅ 7 faktor penyebab  —  </a:t>
            </a:r>
            <a:r>
              <a:rPr sz="1150" b="0">
                <a:solidFill>
                  <a:srgbClr val="5A6B60"/>
                </a:solidFill>
                <a:latin typeface="Segoe UI"/>
              </a:rPr>
              <a:t>Lebih lengkap dari tinggi badan saja</a:t>
            </a:r>
          </a:p>
        </p:txBody>
      </p:sp>
      <p:sp>
        <p:nvSpPr>
          <p:cNvPr id="25" name="Rounded Rectangle 24"/>
          <p:cNvSpPr/>
          <p:nvPr/>
        </p:nvSpPr>
        <p:spPr>
          <a:xfrm>
            <a:off x="6355080" y="5010912"/>
            <a:ext cx="5303520" cy="749808"/>
          </a:xfrm>
          <a:prstGeom prst="roundRect">
            <a:avLst/>
          </a:prstGeom>
          <a:solidFill>
            <a:srgbClr val="E3F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0" y="5010912"/>
            <a:ext cx="4937760" cy="749808"/>
          </a:xfrm>
          <a:prstGeom prst="rect">
            <a:avLst/>
          </a:prstGeom>
          <a:noFill/>
        </p:spPr>
        <p:txBody>
          <a:bodyPr wrap="square" anchor="ctr" lIns="50800" rIns="50800" tIns="25400" bIns="25400">
            <a:spAutoFit/>
          </a:bodyPr>
          <a:lstStyle/>
          <a:p>
            <a:pPr algn="l"/>
            <a:r>
              <a:rPr sz="1300" b="1">
                <a:solidFill>
                  <a:srgbClr val="014A2F"/>
                </a:solidFill>
                <a:latin typeface="Segoe UI"/>
              </a:rPr>
              <a:t>✅ Etis &amp; Fair  —  </a:t>
            </a:r>
            <a:r>
              <a:rPr sz="1150" b="0">
                <a:solidFill>
                  <a:srgbClr val="5A6B60"/>
                </a:solidFill>
                <a:latin typeface="Segoe UI"/>
              </a:rPr>
              <a:t>Privacy, fairness, safety terpenuhi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0" y="0"/>
            <a:ext cx="12191695" cy="6858000"/>
          </a:xfrm>
          <a:prstGeom prst="roundRect">
            <a:avLst/>
          </a:prstGeom>
          <a:solidFill>
            <a:srgbClr val="014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0" y="0"/>
            <a:ext cx="12191695" cy="164592"/>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0" y="6693408"/>
            <a:ext cx="12191695" cy="164592"/>
          </a:xfrm>
          <a:prstGeom prst="roundRect">
            <a:avLst/>
          </a:prstGeom>
          <a:solidFill>
            <a:srgbClr val="FF8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371600"/>
            <a:ext cx="10515600" cy="1371600"/>
          </a:xfrm>
          <a:prstGeom prst="rect">
            <a:avLst/>
          </a:prstGeom>
          <a:noFill/>
        </p:spPr>
        <p:txBody>
          <a:bodyPr wrap="square" anchor="t" lIns="50800" rIns="50800" tIns="25400" bIns="25400">
            <a:spAutoFit/>
          </a:bodyPr>
          <a:lstStyle/>
          <a:p>
            <a:pPr algn="l"/>
            <a:r>
              <a:rPr sz="4800" b="1">
                <a:solidFill>
                  <a:srgbClr val="FFFFFF"/>
                </a:solidFill>
                <a:latin typeface="Segoe UI"/>
              </a:rPr>
              <a:t>Terima Kasih 🌱</a:t>
            </a:r>
          </a:p>
          <a:p>
            <a:pPr algn="l"/>
            <a:r>
              <a:rPr sz="2200" b="0">
                <a:solidFill>
                  <a:srgbClr val="2ECC71"/>
                </a:solidFill>
                <a:latin typeface="Segoe UI"/>
              </a:rPr>
              <a:t>Pertanyaan &amp; Diskusi</a:t>
            </a:r>
          </a:p>
        </p:txBody>
      </p:sp>
      <p:sp>
        <p:nvSpPr>
          <p:cNvPr id="7" name="Rounded Rectangle 6"/>
          <p:cNvSpPr/>
          <p:nvPr/>
        </p:nvSpPr>
        <p:spPr>
          <a:xfrm>
            <a:off x="822960" y="3200400"/>
            <a:ext cx="10515600" cy="1828800"/>
          </a:xfrm>
          <a:prstGeom prst="roundRect">
            <a:avLst/>
          </a:prstGeom>
          <a:solidFill>
            <a:srgbClr val="06A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3337560"/>
            <a:ext cx="10058400" cy="1645920"/>
          </a:xfrm>
          <a:prstGeom prst="rect">
            <a:avLst/>
          </a:prstGeom>
          <a:noFill/>
        </p:spPr>
        <p:txBody>
          <a:bodyPr wrap="square" anchor="ctr" lIns="50800" rIns="50800" tIns="25400" bIns="25400">
            <a:spAutoFit/>
          </a:bodyPr>
          <a:lstStyle/>
          <a:p>
            <a:pPr algn="l"/>
            <a:r>
              <a:rPr sz="1500" b="1">
                <a:solidFill>
                  <a:srgbClr val="FFFFFF"/>
                </a:solidFill>
                <a:latin typeface="Segoe UI"/>
              </a:rPr>
              <a:t>Ringkasan Pencapaian:</a:t>
            </a:r>
          </a:p>
          <a:p>
            <a:pPr algn="l"/>
            <a:r>
              <a:rPr sz="1300" b="0">
                <a:solidFill>
                  <a:srgbClr val="FFFFFF"/>
                </a:solidFill>
                <a:latin typeface="Segoe UI"/>
              </a:rPr>
              <a:t>✅  Masalah riil: prevalensi stunting Indonesia 19,8% (SSGI 2024)</a:t>
            </a:r>
          </a:p>
          <a:p>
            <a:pPr algn="l"/>
            <a:r>
              <a:rPr sz="1300" b="0">
                <a:solidFill>
                  <a:srgbClr val="FFFFFF"/>
                </a:solidFill>
                <a:latin typeface="Segoe UI"/>
              </a:rPr>
              <a:t>✅  Solusi nyata: web app real-time, 7 faktor, akurasi 88,40% (Excellent)</a:t>
            </a:r>
          </a:p>
          <a:p>
            <a:pPr algn="l"/>
            <a:r>
              <a:rPr sz="1300" b="0">
                <a:solidFill>
                  <a:srgbClr val="FFFFFF"/>
                </a:solidFill>
                <a:latin typeface="Segoe UI"/>
              </a:rPr>
              <a:t>✅  LO5 (Random Forest) &amp; LO6 (AI Ethics) tercakup dengan implementasi konkret</a:t>
            </a:r>
          </a:p>
          <a:p>
            <a:pPr algn="l"/>
            <a:r>
              <a:rPr sz="1300" b="0">
                <a:solidFill>
                  <a:srgbClr val="FFFFFF"/>
                </a:solidFill>
                <a:latin typeface="Segoe UI"/>
              </a:rPr>
              <a:t>✅  Etis: fair, private, safe, accessible — sesuai pedoman WHO AI Ethics</a:t>
            </a:r>
          </a:p>
        </p:txBody>
      </p:sp>
      <p:sp>
        <p:nvSpPr>
          <p:cNvPr id="9" name="TextBox 8"/>
          <p:cNvSpPr txBox="1"/>
          <p:nvPr/>
        </p:nvSpPr>
        <p:spPr>
          <a:xfrm>
            <a:off x="822960" y="5440680"/>
            <a:ext cx="10515600" cy="914400"/>
          </a:xfrm>
          <a:prstGeom prst="rect">
            <a:avLst/>
          </a:prstGeom>
          <a:noFill/>
        </p:spPr>
        <p:txBody>
          <a:bodyPr wrap="square" anchor="t" lIns="50800" rIns="50800" tIns="25400" bIns="25400">
            <a:spAutoFit/>
          </a:bodyPr>
          <a:lstStyle/>
          <a:p>
            <a:pPr algn="l"/>
            <a:r>
              <a:rPr sz="1700" b="1">
                <a:solidFill>
                  <a:srgbClr val="FFFFFF"/>
                </a:solidFill>
                <a:latin typeface="Segoe UI"/>
              </a:rPr>
              <a:t>👨‍🎓  Daniel Steffen K  ·  NIM 2602071171</a:t>
            </a:r>
          </a:p>
          <a:p>
            <a:pPr algn="l"/>
            <a:r>
              <a:rPr sz="1300" b="0">
                <a:solidFill>
                  <a:srgbClr val="2ECC71"/>
                </a:solidFill>
                <a:latin typeface="Segoe UI"/>
              </a:rPr>
              <a:t>COMP6065001 Artificial Intelligence  ·  LA05-LEC  ·  BINUS University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