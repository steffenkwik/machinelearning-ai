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-1371600"/>
            <a:ext cx="4572000" cy="4572000"/>
          </a:xfrm>
          <a:prstGeom prst="rect">
            <a:avLst/>
          </a:prstGeom>
          <a:solidFill>
            <a:srgbClr val="026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640080"/>
            <a:ext cx="3017520" cy="475488"/>
          </a:xfrm>
          <a:prstGeom prst="roundRect">
            <a:avLst>
              <a:gd name="adj" fmla="val 50000"/>
            </a:avLst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676656"/>
            <a:ext cx="29260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🎯 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9144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Aplikasi Deteksi Dini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9144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800" b="1" i="0">
                <a:solidFill>
                  <a:srgbClr val="28A745"/>
                </a:solidFill>
                <a:latin typeface="Calibri"/>
              </a:rPr>
              <a:t>Risiko Stunting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73152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pada Balita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60"/>
            <a:ext cx="5029200" cy="548640"/>
          </a:xfrm>
          <a:prstGeom prst="roundRect">
            <a:avLst>
              <a:gd name="adj" fmla="val 3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78224"/>
            <a:ext cx="49377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✅  Akurasi Model: 98.88%  ·  F1-Score: 97.96%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i="0">
                <a:solidFill>
                  <a:srgbClr val="B2DFBE"/>
                </a:solidFill>
                <a:latin typeface="Calibri"/>
              </a:rPr>
              <a:t>Random Forest Classifier · Streamlit Web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49240"/>
            <a:ext cx="5029200" cy="36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9144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CCE8D4"/>
                </a:solidFill>
                <a:latin typeface="Calibri"/>
              </a:rPr>
              <a:t>Daniel Steffen K  ·  NIM: 2602071171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99CCAA"/>
                </a:solidFill>
                <a:latin typeface="Calibri"/>
              </a:rPr>
              <a:t>COMP6065016 Artificial Intelligence  ·  LA05-LEC  ·  BINUS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 Presentasi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553212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685800" cy="137160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28800"/>
            <a:ext cx="65836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27632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Problem &amp; Solution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4617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Pengingat singkat masalah dan solusi yang dibangun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063240"/>
            <a:ext cx="553212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3063240"/>
            <a:ext cx="685800" cy="137160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429000"/>
            <a:ext cx="65836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27832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Live Demo Aplikasi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03320"/>
            <a:ext cx="4617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Demonstrasi langsung web app berjalan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663440"/>
            <a:ext cx="553212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4663440"/>
            <a:ext cx="685800" cy="137160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5029200"/>
            <a:ext cx="65836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828031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Model &amp; Hasil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03520"/>
            <a:ext cx="4617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Performa model, akurasi, dan analisis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63040"/>
            <a:ext cx="553212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1463040"/>
            <a:ext cx="685800" cy="137160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7" y="1828800"/>
            <a:ext cx="65836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1627632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Kaitan dengan LO1–LO6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79" y="2103120"/>
            <a:ext cx="4617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Bagaimana project memenuhi semua learning outcomes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063240"/>
            <a:ext cx="553212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3063240"/>
            <a:ext cx="685800" cy="137160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7" y="3429000"/>
            <a:ext cx="65836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3227832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Etika &amp; Fairness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3703320"/>
            <a:ext cx="4617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Analisis dampak AI sesuai LO6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663440"/>
            <a:ext cx="553212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4663440"/>
            <a:ext cx="685800" cy="137160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7" y="5029200"/>
            <a:ext cx="658368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4828031"/>
            <a:ext cx="4617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Kesimpulan &amp; 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5303520"/>
            <a:ext cx="4617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Ringkasan dan diskusi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&amp; Solution — Recap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5577840" cy="5029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57784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303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 MASALAH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5120640" cy="91440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1371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DC3545"/>
                </a:solidFill>
                <a:latin typeface="Calibri"/>
              </a:rPr>
              <a:t>19.8%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40280"/>
            <a:ext cx="3520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Prevalensi stunting Indonesia (SSGI 2024)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90672"/>
            <a:ext cx="5120640" cy="91440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1371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DC3545"/>
                </a:solidFill>
                <a:latin typeface="Calibri"/>
              </a:rPr>
              <a:t>4.4 Juta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319272"/>
            <a:ext cx="3520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Balita masih mengalami stunting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9664"/>
            <a:ext cx="5120640" cy="91440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61104"/>
            <a:ext cx="1371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DC3545"/>
                </a:solidFill>
                <a:latin typeface="Calibri"/>
              </a:rPr>
              <a:t>14.2%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98264"/>
            <a:ext cx="3520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Target RPJMN 2029 - masih perlu turun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48656"/>
            <a:ext cx="5120640" cy="91440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40096"/>
            <a:ext cx="1371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 i="0">
                <a:solidFill>
                  <a:srgbClr val="DC3545"/>
                </a:solidFill>
                <a:latin typeface="Calibri"/>
              </a:rPr>
              <a:t>Akses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477256"/>
            <a:ext cx="3520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Deteksi memerlukan kunjungan faskes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417320"/>
            <a:ext cx="5577840" cy="5029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417320"/>
            <a:ext cx="55778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463040"/>
            <a:ext cx="5303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 SOLUSI YANG DIBANGUN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011680"/>
            <a:ext cx="5120640" cy="91440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194560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148840"/>
            <a:ext cx="4114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Web App 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514600"/>
            <a:ext cx="4114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Real-time, mobile-friendly, gratis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090672"/>
            <a:ext cx="5120640" cy="91440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73552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227832"/>
            <a:ext cx="4114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Random Forest 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593591"/>
            <a:ext cx="4114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98.88% akurasi pada test 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169664"/>
            <a:ext cx="5120640" cy="91440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352544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306824"/>
            <a:ext cx="4114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WHO-based Dataset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672584"/>
            <a:ext cx="4114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Sesuai standar internasional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248656"/>
            <a:ext cx="5120640" cy="914400"/>
          </a:xfrm>
          <a:prstGeom prst="roundRect">
            <a:avLst>
              <a:gd name="adj" fmla="val 15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431536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🛡️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385816"/>
            <a:ext cx="4114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Etis &amp; Privacy-First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751576"/>
            <a:ext cx="4114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4A5A5A"/>
                </a:solidFill>
                <a:latin typeface="Calibri"/>
              </a:rPr>
              <a:t>Tidak menyimpan data user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Demo Aplikasi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74552" cy="146304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74552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🎬  LIVE DEMO TIME!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127455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B2DFBE"/>
                </a:solidFill>
                <a:latin typeface="Calibri"/>
              </a:rPr>
              <a:t>Mari kita lihat aplikasi berjalan langsung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015C3A"/>
                </a:solidFill>
                <a:latin typeface="Calibri"/>
              </a:rPr>
              <a:t>Yang akan didemonstrasikan: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11880"/>
            <a:ext cx="1118311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11880"/>
            <a:ext cx="73152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015C3A"/>
                </a:solidFill>
                <a:latin typeface="Calibri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Membuka aplikasi via URL Streamlit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04488"/>
            <a:ext cx="6858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https://stunting-daniel.streamlit.app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749040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28A745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25112"/>
            <a:ext cx="1118311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325112"/>
            <a:ext cx="73152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16552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015C3A"/>
                </a:solidFill>
                <a:latin typeface="Calibri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70832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Input data anak (3 contoh kasus berbeda)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17720"/>
            <a:ext cx="6858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Normal · Stunted · Severely Stunted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462272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28A745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38344"/>
            <a:ext cx="1118311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038344"/>
            <a:ext cx="73152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29783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015C3A"/>
                </a:solidFill>
                <a:latin typeface="Calibri"/>
              </a:rPr>
              <a:t>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084064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Melihat prediksi + confidence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30952"/>
            <a:ext cx="6858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Real-time inference &lt; 50ms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5175504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28A745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751576"/>
            <a:ext cx="1118311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751576"/>
            <a:ext cx="73152" cy="5943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43016"/>
            <a:ext cx="457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015C3A"/>
                </a:solidFill>
                <a:latin typeface="Calibri"/>
              </a:rPr>
              <a:t>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797296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Eksplorasi tab Tentang Project &amp; Etika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6044184"/>
            <a:ext cx="6858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Penjelasan lengkap untuk dosen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5888736"/>
            <a:ext cx="457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>
                <a:solidFill>
                  <a:srgbClr val="28A745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Hasil Model — Performa Tinggi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743200" cy="1463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743200" cy="2743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651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015C3A"/>
                </a:solidFill>
                <a:latin typeface="Calibri"/>
              </a:rPr>
              <a:t>98.88%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743200" cy="1463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743200" cy="274320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651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028A4F"/>
                </a:solidFill>
                <a:latin typeface="Calibri"/>
              </a:rPr>
              <a:t>97.96%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14600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F1-Score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743200" cy="1463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2743200" cy="2743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2651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28A745"/>
                </a:solidFill>
                <a:latin typeface="Calibri"/>
              </a:rPr>
              <a:t>98.10%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514600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Precision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17320"/>
            <a:ext cx="2743200" cy="1463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417320"/>
            <a:ext cx="2743200" cy="27432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783080"/>
            <a:ext cx="2651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FF8500"/>
                </a:solidFill>
                <a:latin typeface="Calibri"/>
              </a:rPr>
              <a:t>97.84%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514600"/>
            <a:ext cx="26517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063240"/>
            <a:ext cx="11384280" cy="82296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063240"/>
            <a:ext cx="109728" cy="8229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🔄  Cross-Validation 5-Fold: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182112"/>
            <a:ext cx="2743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i="0">
                <a:solidFill>
                  <a:srgbClr val="015C3A"/>
                </a:solidFill>
                <a:latin typeface="Calibri"/>
              </a:rPr>
              <a:t>98.46% ± 0.18%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2004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4A5A5A"/>
                </a:solidFill>
                <a:latin typeface="Calibri"/>
              </a:rPr>
              <a:t>→ Model stabil, tidak overfitting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0690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📊  Performa per Kelas: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572000"/>
            <a:ext cx="11384280" cy="41148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26864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626864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626864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626864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029200"/>
            <a:ext cx="11384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029200"/>
            <a:ext cx="109728" cy="41148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093208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Normal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09320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0.995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09320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09320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015C3A"/>
                </a:solidFill>
                <a:latin typeface="Calibri"/>
              </a:rPr>
              <a:t>0.995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440680"/>
            <a:ext cx="11384280" cy="41148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5440680"/>
            <a:ext cx="109728" cy="4114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504688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Stunted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50468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50468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50468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8500"/>
                </a:solidFill>
                <a:latin typeface="Calibri"/>
              </a:rPr>
              <a:t>0.968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852160"/>
            <a:ext cx="11384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5852160"/>
            <a:ext cx="109728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916168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Severely Stunted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91616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591616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591616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DC3545"/>
                </a:solidFill>
                <a:latin typeface="Calibri"/>
              </a:rPr>
              <a:t>0.972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6263640"/>
            <a:ext cx="11384280" cy="41148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6263640"/>
            <a:ext cx="109728" cy="411480"/>
          </a:xfrm>
          <a:prstGeom prst="rect">
            <a:avLst/>
          </a:prstGeom>
          <a:solidFill>
            <a:srgbClr val="29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327648"/>
            <a:ext cx="4114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Tinggi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632764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0.987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632764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0.979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632764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296EB4"/>
                </a:solidFill>
                <a:latin typeface="Calibri"/>
              </a:rPr>
              <a:t>0.983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Kaitan dengan Learning Outcomes (LO1–LO6)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5577840" cy="1554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1005840" cy="1554480"/>
          </a:xfrm>
          <a:prstGeom prst="roundRect">
            <a:avLst>
              <a:gd name="adj" fmla="val 20000"/>
            </a:avLst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600200"/>
            <a:ext cx="960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377440"/>
            <a:ext cx="960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46304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015C3A"/>
                </a:solidFill>
                <a:latin typeface="Calibri"/>
              </a:rPr>
              <a:t>Comprehension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2880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Intelligent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40280"/>
            <a:ext cx="4389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Sistem prediksi sebagai goal-based agent: input → process →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577840" cy="1554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1005840" cy="1554480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7" y="1600200"/>
            <a:ext cx="960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7" y="2377440"/>
            <a:ext cx="960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146304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028A4F"/>
                </a:solidFill>
                <a:latin typeface="Calibri"/>
              </a:rPr>
              <a:t>Search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182880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Decision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240280"/>
            <a:ext cx="4389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Gini Impurity / Information Gain untuk split optimal di setiap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08960"/>
            <a:ext cx="5577840" cy="1554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" y="3108960"/>
            <a:ext cx="1005840" cy="1554480"/>
          </a:xfrm>
          <a:prstGeom prst="roundRect">
            <a:avLst>
              <a:gd name="adj" fmla="val 2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337560"/>
            <a:ext cx="960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114800"/>
            <a:ext cx="960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20040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  <a:latin typeface="Calibri"/>
              </a:rPr>
              <a:t>Knowledge Repr.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56616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Structured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977639"/>
            <a:ext cx="4389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Data WHO direpresentasikan sebagai vektor numerik terstruktur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108960"/>
            <a:ext cx="5577840" cy="1554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3108960"/>
            <a:ext cx="1005840" cy="1554480"/>
          </a:xfrm>
          <a:prstGeom prst="roundRect">
            <a:avLst>
              <a:gd name="adj" fmla="val 20000"/>
            </a:avLst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7" y="3337560"/>
            <a:ext cx="960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7" y="4114800"/>
            <a:ext cx="960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19" y="320040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F8500"/>
                </a:solidFill>
                <a:latin typeface="Calibri"/>
              </a:rPr>
              <a:t>Uncertainty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19" y="356616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Probabilistic Pred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9" y="3977639"/>
            <a:ext cx="4389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Confidence score 0-100% untuk menangani uncertainty medis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846320"/>
            <a:ext cx="5577840" cy="1554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1480" y="4846320"/>
            <a:ext cx="1005840" cy="1554480"/>
          </a:xfrm>
          <a:prstGeom prst="roundRect">
            <a:avLst>
              <a:gd name="adj" fmla="val 20000"/>
            </a:avLst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5074920"/>
            <a:ext cx="960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" y="5852160"/>
            <a:ext cx="960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937759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028A4F"/>
                </a:solidFill>
                <a:latin typeface="Calibri"/>
              </a:rPr>
              <a:t>Learning Algo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30352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Random Forest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5715000"/>
            <a:ext cx="4389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Ensemble supervised learning, 150 trees, 98.88% akurasi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846320"/>
            <a:ext cx="5577840" cy="1554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63640" y="4846320"/>
            <a:ext cx="1005840" cy="155448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7" y="5074920"/>
            <a:ext cx="960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1927" y="5852160"/>
            <a:ext cx="960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19" y="4937759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DC3545"/>
                </a:solidFill>
                <a:latin typeface="Calibri"/>
              </a:rPr>
              <a:t>AI Ethics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19" y="5303520"/>
            <a:ext cx="4389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Fairness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19" y="5715000"/>
            <a:ext cx="4389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Disparitas &lt;0.5% antar gender + privacy + safety disclaimer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Etika &amp; Fairness Analysis (LO6)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015C3A"/>
                </a:solidFill>
                <a:latin typeface="Calibri"/>
              </a:rPr>
              <a:t>⚖️  Audit Fairness — Akurasi per Jenis Kelamin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11384280" cy="45720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Kelompok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01952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Sampel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01952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01952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901952"/>
            <a:ext cx="1188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31720"/>
            <a:ext cx="11384280" cy="43891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231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Laki-laki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~2,516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98.97%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98.17%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423160"/>
            <a:ext cx="1188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28A745"/>
                </a:solidFill>
                <a:latin typeface="Calibri"/>
              </a:rPr>
              <a:t>✅ Fair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788920"/>
            <a:ext cx="11384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80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Perempuan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~2,307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98.79%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97.71%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880360"/>
            <a:ext cx="1188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28A745"/>
                </a:solidFill>
                <a:latin typeface="Calibri"/>
              </a:rPr>
              <a:t>✅ Fair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246120"/>
            <a:ext cx="11384280" cy="43891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3375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Disparitas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375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3375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3375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0.46%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337560"/>
            <a:ext cx="1188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i="0">
                <a:solidFill>
                  <a:srgbClr val="28A745"/>
                </a:solidFill>
                <a:latin typeface="Calibri"/>
              </a:rPr>
              <a:t>&lt; 5% 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015C3A"/>
                </a:solidFill>
                <a:latin typeface="Calibri"/>
              </a:rPr>
              <a:t>🛡️  6 Prinsip Etika yang Diimplementasikan: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526280"/>
            <a:ext cx="36118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663440"/>
            <a:ext cx="7315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63600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Privacy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00176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Data tidak disimpan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15384" y="4526280"/>
            <a:ext cx="36118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06824" y="4663440"/>
            <a:ext cx="7315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⚖️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38344" y="463600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Fairness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38344" y="500176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Disparitas &lt;0.5%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9288" y="4526280"/>
            <a:ext cx="36118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0727" y="4663440"/>
            <a:ext cx="7315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2248" y="463600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Transparency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2248" y="500176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Confidence score visible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5486400"/>
            <a:ext cx="36118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623560"/>
            <a:ext cx="7315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🛡️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559612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Safety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596188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Disclaimer jelas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15384" y="5486400"/>
            <a:ext cx="36118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06824" y="5623560"/>
            <a:ext cx="7315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38344" y="559612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Accessibility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38344" y="596188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Mobile-friendly, gratis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19288" y="5486400"/>
            <a:ext cx="36118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0727" y="5623560"/>
            <a:ext cx="7315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 i="0">
                <a:latin typeface="Calibri"/>
              </a:rPr>
              <a:t>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42248" y="559612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015C3A"/>
                </a:solidFill>
                <a:latin typeface="Calibri"/>
              </a:rPr>
              <a:t>Education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2248" y="5961888"/>
            <a:ext cx="2651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4A5A5A"/>
                </a:solidFill>
                <a:latin typeface="Calibri"/>
              </a:rPr>
              <a:t>Z-Score WHO ditampilkan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7772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28A745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Kesimpulan &amp; Pencapaian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11384280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137160" cy="114300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9144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 i="0"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Akurasi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29968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015C3A"/>
                </a:solidFill>
                <a:latin typeface="Calibri"/>
              </a:rPr>
              <a:t>98.88%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A5A5A"/>
                </a:solidFill>
                <a:latin typeface="Calibri"/>
              </a:rPr>
              <a:t>F1-Macro 97.96%, CV stable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743200"/>
            <a:ext cx="11384280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743200"/>
            <a:ext cx="137160" cy="1143000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9144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 i="0">
                <a:latin typeface="Calibri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907792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Web App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10128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028A4F"/>
                </a:solidFill>
                <a:latin typeface="Calibri"/>
              </a:rPr>
              <a:t>Deployed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0896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A5A5A"/>
                </a:solidFill>
                <a:latin typeface="Calibri"/>
              </a:rPr>
              <a:t>Streamlit Cloud, real-time inference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23360"/>
            <a:ext cx="11384280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023360"/>
            <a:ext cx="137160" cy="11430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97680"/>
            <a:ext cx="9144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 i="0"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87952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Semua LO Tercakup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90288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28A745"/>
                </a:solidFill>
                <a:latin typeface="Calibri"/>
              </a:rPr>
              <a:t>LO1-LO6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38912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A5A5A"/>
                </a:solidFill>
                <a:latin typeface="Calibri"/>
              </a:rPr>
              <a:t>Implementasi sesuai standar AI course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303519"/>
            <a:ext cx="11384280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303519"/>
            <a:ext cx="137160" cy="1143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77839"/>
            <a:ext cx="9144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 i="0">
                <a:latin typeface="Calibri"/>
              </a:rP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468111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015C3A"/>
                </a:solidFill>
                <a:latin typeface="Calibri"/>
              </a:rPr>
              <a:t>Etis &amp; Fair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870447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i="0">
                <a:solidFill>
                  <a:srgbClr val="FF8500"/>
                </a:solidFill>
                <a:latin typeface="Calibri"/>
              </a:rPr>
              <a:t>Disparity &lt;0.5%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669279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0">
                <a:solidFill>
                  <a:srgbClr val="4A5A5A"/>
                </a:solidFill>
                <a:latin typeface="Calibri"/>
              </a:rPr>
              <a:t>Compliant dengan WHO AI Ethics Guidelines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28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-45720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026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0584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 i="0">
                <a:solidFill>
                  <a:srgbClr val="B2DFBE"/>
                </a:solidFill>
                <a:latin typeface="Calibri"/>
              </a:rPr>
              <a:t>Pertanyaan &amp; Diskusi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40"/>
            <a:ext cx="5486400" cy="36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7315200" cy="64008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🌐  Live App URL: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11880"/>
            <a:ext cx="4572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https://stunting-daniel.streamlit.app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CCE8D4"/>
                </a:solidFill>
                <a:latin typeface="Calibri"/>
              </a:rPr>
              <a:t>💻  Source Code:  github.com/danielsteffen/stunting-detection-app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Ringkasan Pencapaian: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CCE8D4"/>
                </a:solidFill>
                <a:latin typeface="Calibri"/>
              </a:rPr>
              <a:t>✅  Masalah riil: 19.8% prevalensi stunting Indonesia (SSGI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04688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CCE8D4"/>
                </a:solidFill>
                <a:latin typeface="Calibri"/>
              </a:rPr>
              <a:t>✅  Solusi nyata: Web app real-time dengan akurasi 98.88%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97296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CCE8D4"/>
                </a:solidFill>
                <a:latin typeface="Calibri"/>
              </a:rPr>
              <a:t>✅  LO1-LO6 tercakup penuh dengan implementasi konkret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89904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CCE8D4"/>
                </a:solidFill>
                <a:latin typeface="Calibri"/>
              </a:rPr>
              <a:t>✅  Etis: Fair, private, safe, accessible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6446520"/>
            <a:ext cx="5486400" cy="3657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537960"/>
            <a:ext cx="9144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88BB99"/>
                </a:solidFill>
                <a:latin typeface="Calibri"/>
              </a:rPr>
              <a:t>Daniel Steffen K  ·  NIM: 2602071171  ·  COMP6065016 LA05-LEC  ·  BINUS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